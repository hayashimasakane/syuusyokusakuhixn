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287" r:id="rId3"/>
    <p:sldId id="288" r:id="rId4"/>
    <p:sldId id="289" r:id="rId5"/>
    <p:sldId id="333" r:id="rId6"/>
    <p:sldId id="334" r:id="rId7"/>
    <p:sldId id="335" r:id="rId8"/>
    <p:sldId id="290" r:id="rId9"/>
    <p:sldId id="291" r:id="rId10"/>
    <p:sldId id="292" r:id="rId11"/>
    <p:sldId id="293" r:id="rId12"/>
    <p:sldId id="294" r:id="rId13"/>
    <p:sldId id="286" r:id="rId14"/>
    <p:sldId id="261" r:id="rId15"/>
    <p:sldId id="284" r:id="rId16"/>
    <p:sldId id="285" r:id="rId17"/>
    <p:sldId id="276" r:id="rId18"/>
    <p:sldId id="295" r:id="rId19"/>
    <p:sldId id="262" r:id="rId20"/>
    <p:sldId id="263" r:id="rId21"/>
    <p:sldId id="264" r:id="rId22"/>
    <p:sldId id="265" r:id="rId23"/>
    <p:sldId id="266" r:id="rId24"/>
    <p:sldId id="267" r:id="rId25"/>
    <p:sldId id="268" r:id="rId26"/>
    <p:sldId id="269" r:id="rId27"/>
    <p:sldId id="270" r:id="rId28"/>
    <p:sldId id="272" r:id="rId29"/>
    <p:sldId id="271" r:id="rId30"/>
    <p:sldId id="273" r:id="rId31"/>
    <p:sldId id="275" r:id="rId32"/>
    <p:sldId id="281" r:id="rId33"/>
    <p:sldId id="282" r:id="rId34"/>
    <p:sldId id="283" r:id="rId35"/>
    <p:sldId id="299" r:id="rId36"/>
    <p:sldId id="338" r:id="rId37"/>
    <p:sldId id="339" r:id="rId38"/>
    <p:sldId id="300" r:id="rId39"/>
    <p:sldId id="337" r:id="rId40"/>
    <p:sldId id="336" r:id="rId41"/>
    <p:sldId id="303" r:id="rId42"/>
    <p:sldId id="340" r:id="rId43"/>
    <p:sldId id="341"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1" autoAdjust="0"/>
    <p:restoredTop sz="94660"/>
  </p:normalViewPr>
  <p:slideViewPr>
    <p:cSldViewPr snapToGrid="0">
      <p:cViewPr varScale="1">
        <p:scale>
          <a:sx n="96" d="100"/>
          <a:sy n="96" d="100"/>
        </p:scale>
        <p:origin x="35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8FEC72-0749-4E1B-8F4E-BCDEFF7350CA}" type="datetimeFigureOut">
              <a:rPr kumimoji="1" lang="ja-JP" altLang="en-US" smtClean="0"/>
              <a:t>2024/9/10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E1770A-24EC-46CE-B78C-FFA24494556C}" type="slidenum">
              <a:rPr kumimoji="1" lang="ja-JP" altLang="en-US" smtClean="0"/>
              <a:t>‹#›</a:t>
            </a:fld>
            <a:endParaRPr kumimoji="1" lang="ja-JP" altLang="en-US"/>
          </a:p>
        </p:txBody>
      </p:sp>
    </p:spTree>
    <p:extLst>
      <p:ext uri="{BB962C8B-B14F-4D97-AF65-F5344CB8AC3E}">
        <p14:creationId xmlns:p14="http://schemas.microsoft.com/office/powerpoint/2010/main" val="235156072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effectLst/>
              </a:rPr>
              <a:t>入射光(incident light)と、光沢面からの拡散反射(diffuse reflection)と鏡面反射(specular reflection)。</a:t>
            </a:r>
            <a:endParaRPr lang="en-US" altLang="ja-JP" baseline="30000">
              <a:effectLst/>
            </a:endParaRPr>
          </a:p>
          <a:p>
            <a:r>
              <a:rPr lang="ja-JP" altLang="ja-JP">
                <a:effectLst/>
              </a:rPr>
              <a:t> 矢印の長さは光度を表し、ラン</a:t>
            </a:r>
            <a:r>
              <a:rPr lang="ja-JP" altLang="en-US">
                <a:effectLst/>
              </a:rPr>
              <a:t>バーと</a:t>
            </a:r>
            <a:r>
              <a:rPr lang="ja-JP" altLang="ja-JP">
                <a:effectLst/>
              </a:rPr>
              <a:t>の余弦則に従う。</a:t>
            </a:r>
            <a:endParaRPr kumimoji="1" lang="en-US" altLang="ja-JP" dirty="0"/>
          </a:p>
          <a:p>
            <a:endParaRPr kumimoji="1" lang="en-US" altLang="ja-JP" dirty="0"/>
          </a:p>
          <a:p>
            <a:r>
              <a:rPr kumimoji="1" lang="ja-JP" altLang="en-US" dirty="0"/>
              <a:t>＊科目担当コメント</a:t>
            </a:r>
            <a:r>
              <a:rPr kumimoji="1" lang="en-US" altLang="ja-JP" dirty="0"/>
              <a:t>-----------------------------------------------------------------------------------</a:t>
            </a:r>
            <a:r>
              <a:rPr kumimoji="1" lang="ja-JP" altLang="en-US" dirty="0"/>
              <a:t>＊</a:t>
            </a:r>
            <a:endParaRPr kumimoji="1" lang="en-US" altLang="ja-JP" dirty="0"/>
          </a:p>
          <a:p>
            <a:r>
              <a:rPr kumimoji="1" lang="en-US" altLang="ja-JP" dirty="0"/>
              <a:t>99/99/99</a:t>
            </a:r>
            <a:r>
              <a:rPr kumimoji="1" lang="ja-JP" altLang="en-US" dirty="0"/>
              <a:t>　ＸＨ：氏名</a:t>
            </a:r>
            <a:endParaRPr kumimoji="1" lang="en-US" altLang="ja-JP" dirty="0"/>
          </a:p>
          <a:p>
            <a:r>
              <a:rPr kumimoji="1" lang="ja-JP" altLang="en-US" dirty="0"/>
              <a:t>ＸＸＸＸＸＸＸＸＸＸＸＸＸＸＸＸＸＸＸＸＸＸＸＸＸＸＸＸＸＸＸＸＸＸＸＸＸＸＸＸＸＸＸＸＸ</a:t>
            </a:r>
            <a:endParaRPr kumimoji="1" lang="en-US" altLang="ja-JP" dirty="0"/>
          </a:p>
          <a:p>
            <a:r>
              <a:rPr kumimoji="1" lang="ja-JP" altLang="en-US" dirty="0"/>
              <a:t>ＸＸＸＸＸＸＸＸＸＸＸＸＸＸＸＸＸＸＸＸＸＸＸ</a:t>
            </a:r>
            <a:endParaRPr kumimoji="1" lang="en-US" altLang="ja-JP" dirty="0"/>
          </a:p>
          <a:p>
            <a:r>
              <a:rPr kumimoji="1" lang="ja-JP" altLang="en-US" dirty="0"/>
              <a:t>ＸＸＸＸＸＸＸＸＸＸＸＸＸＸＸＸＸＸＸＸＸＸＸＸＸＸＸＸＸＸＸＸＸＸＸＸＸＸＸＸＸＸＸＸＸＸ</a:t>
            </a:r>
            <a:endParaRPr kumimoji="1" lang="en-US" altLang="ja-JP" dirty="0"/>
          </a:p>
          <a:p>
            <a:endParaRPr kumimoji="1" lang="en-US" altLang="ja-JP" dirty="0"/>
          </a:p>
          <a:p>
            <a:r>
              <a:rPr kumimoji="1" lang="ja-JP" altLang="en-US" dirty="0"/>
              <a:t>＊</a:t>
            </a:r>
            <a:r>
              <a:rPr kumimoji="1" lang="en-US" altLang="ja-JP" dirty="0"/>
              <a:t>------------------------------------------------------------------------------------------------</a:t>
            </a:r>
            <a:r>
              <a:rPr kumimoji="1" lang="ja-JP" altLang="en-US" dirty="0"/>
              <a:t>＊</a:t>
            </a:r>
          </a:p>
        </p:txBody>
      </p:sp>
      <p:sp>
        <p:nvSpPr>
          <p:cNvPr id="4" name="スライド番号プレースホルダー 3"/>
          <p:cNvSpPr>
            <a:spLocks noGrp="1"/>
          </p:cNvSpPr>
          <p:nvPr>
            <p:ph type="sldNum" sz="quarter" idx="10"/>
          </p:nvPr>
        </p:nvSpPr>
        <p:spPr/>
        <p:txBody>
          <a:bodyPr/>
          <a:lstStyle/>
          <a:p>
            <a:fld id="{D1390BE1-11B6-4F42-A906-F6C8EED0EE61}" type="slidenum">
              <a:rPr kumimoji="1" lang="ja-JP" altLang="en-US" smtClean="0"/>
              <a:t>69</a:t>
            </a:fld>
            <a:endParaRPr kumimoji="1" lang="ja-JP" altLang="en-US"/>
          </a:p>
        </p:txBody>
      </p:sp>
    </p:spTree>
    <p:extLst>
      <p:ext uri="{BB962C8B-B14F-4D97-AF65-F5344CB8AC3E}">
        <p14:creationId xmlns:p14="http://schemas.microsoft.com/office/powerpoint/2010/main" val="4242443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拡散反射を実装することで、陰影をつけることができる</a:t>
            </a:r>
            <a:endParaRPr kumimoji="1" lang="en-US" altLang="ja-JP"/>
          </a:p>
          <a:p>
            <a:endParaRPr kumimoji="1" lang="en-US" altLang="ja-JP"/>
          </a:p>
          <a:p>
            <a:endParaRPr kumimoji="1" lang="en-US" altLang="ja-JP"/>
          </a:p>
          <a:p>
            <a:endParaRPr kumimoji="1" lang="en-US" altLang="ja-JP" dirty="0"/>
          </a:p>
          <a:p>
            <a:r>
              <a:rPr kumimoji="1" lang="ja-JP" altLang="en-US" dirty="0"/>
              <a:t>＊科目担当コメント</a:t>
            </a:r>
            <a:r>
              <a:rPr kumimoji="1" lang="en-US" altLang="ja-JP" dirty="0"/>
              <a:t>-----------------------------------------------------------------------------------</a:t>
            </a:r>
            <a:r>
              <a:rPr kumimoji="1" lang="ja-JP" altLang="en-US" dirty="0"/>
              <a:t>＊</a:t>
            </a:r>
            <a:endParaRPr kumimoji="1" lang="en-US" altLang="ja-JP" dirty="0"/>
          </a:p>
          <a:p>
            <a:r>
              <a:rPr kumimoji="1" lang="en-US" altLang="ja-JP" dirty="0"/>
              <a:t>99/99/99</a:t>
            </a:r>
            <a:r>
              <a:rPr kumimoji="1" lang="ja-JP" altLang="en-US" dirty="0"/>
              <a:t>　ＸＨ：氏名</a:t>
            </a:r>
            <a:endParaRPr kumimoji="1" lang="en-US" altLang="ja-JP" dirty="0"/>
          </a:p>
          <a:p>
            <a:r>
              <a:rPr kumimoji="1" lang="ja-JP" altLang="en-US" dirty="0"/>
              <a:t>ＸＸＸＸＸＸＸＸＸＸＸＸＸＸＸＸＸＸＸＸＸＸＸＸＸＸＸＸＸＸＸＸＸＸＸＸＸＸＸＸＸＸＸＸＸ</a:t>
            </a:r>
            <a:endParaRPr kumimoji="1" lang="en-US" altLang="ja-JP" dirty="0"/>
          </a:p>
          <a:p>
            <a:r>
              <a:rPr kumimoji="1" lang="ja-JP" altLang="en-US" dirty="0"/>
              <a:t>ＸＸＸＸＸＸＸＸＸＸＸＸＸＸＸＸＸＸＸＸＸＸＸ</a:t>
            </a:r>
            <a:endParaRPr kumimoji="1" lang="en-US" altLang="ja-JP" dirty="0"/>
          </a:p>
          <a:p>
            <a:r>
              <a:rPr kumimoji="1" lang="ja-JP" altLang="en-US" dirty="0"/>
              <a:t>ＸＸＸＸＸＸＸＸＸＸＸＸＸＸＸＸＸＸＸＸＸＸＸＸＸＸＸＸＸＸＸＸＸＸＸＸＸＸＸＸＸＸＸＸＸＸ</a:t>
            </a:r>
            <a:endParaRPr kumimoji="1" lang="en-US" altLang="ja-JP" dirty="0"/>
          </a:p>
          <a:p>
            <a:endParaRPr kumimoji="1" lang="en-US" altLang="ja-JP" dirty="0"/>
          </a:p>
          <a:p>
            <a:r>
              <a:rPr kumimoji="1" lang="ja-JP" altLang="en-US" dirty="0"/>
              <a:t>＊</a:t>
            </a:r>
            <a:r>
              <a:rPr kumimoji="1" lang="en-US" altLang="ja-JP" dirty="0"/>
              <a:t>------------------------------------------------------------------------------------------------</a:t>
            </a:r>
            <a:r>
              <a:rPr kumimoji="1" lang="ja-JP" altLang="en-US" dirty="0"/>
              <a:t>＊</a:t>
            </a:r>
          </a:p>
        </p:txBody>
      </p:sp>
      <p:sp>
        <p:nvSpPr>
          <p:cNvPr id="4" name="スライド番号プレースホルダー 3"/>
          <p:cNvSpPr>
            <a:spLocks noGrp="1"/>
          </p:cNvSpPr>
          <p:nvPr>
            <p:ph type="sldNum" sz="quarter" idx="10"/>
          </p:nvPr>
        </p:nvSpPr>
        <p:spPr/>
        <p:txBody>
          <a:bodyPr/>
          <a:lstStyle/>
          <a:p>
            <a:fld id="{D1390BE1-11B6-4F42-A906-F6C8EED0EE61}" type="slidenum">
              <a:rPr kumimoji="1" lang="ja-JP" altLang="en-US" smtClean="0"/>
              <a:t>70</a:t>
            </a:fld>
            <a:endParaRPr kumimoji="1" lang="ja-JP" altLang="en-US"/>
          </a:p>
        </p:txBody>
      </p:sp>
    </p:spTree>
    <p:extLst>
      <p:ext uri="{BB962C8B-B14F-4D97-AF65-F5344CB8AC3E}">
        <p14:creationId xmlns:p14="http://schemas.microsoft.com/office/powerpoint/2010/main" val="363221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Ｒ　光源の正反射方向</a:t>
            </a:r>
            <a:endParaRPr kumimoji="1" lang="en-US" altLang="ja-JP"/>
          </a:p>
          <a:p>
            <a:r>
              <a:rPr kumimoji="1" lang="ja-JP" altLang="en-US"/>
              <a:t>Ｖ　視線ベクトル</a:t>
            </a:r>
            <a:endParaRPr kumimoji="1" lang="en-US" altLang="ja-JP"/>
          </a:p>
          <a:p>
            <a:r>
              <a:rPr kumimoji="1" lang="ja-JP" altLang="en-US"/>
              <a:t>ＲとＶの為す角度　</a:t>
            </a:r>
            <a:r>
              <a:rPr kumimoji="1" lang="en-US" altLang="ja-JP"/>
              <a:t>θ</a:t>
            </a:r>
          </a:p>
          <a:p>
            <a:r>
              <a:rPr kumimoji="1" lang="ja-JP" altLang="en-US"/>
              <a:t>Ｎ　法線ベクトル</a:t>
            </a:r>
            <a:endParaRPr kumimoji="1" lang="en-US" altLang="ja-JP"/>
          </a:p>
          <a:p>
            <a:r>
              <a:rPr kumimoji="1" lang="ja-JP" altLang="en-US"/>
              <a:t>Ｈ　ハーフベクトル（視線ベクトルと光源方向とのハーフベクトル）</a:t>
            </a:r>
            <a:endParaRPr kumimoji="1" lang="en-US" altLang="ja-JP"/>
          </a:p>
          <a:p>
            <a:r>
              <a:rPr kumimoji="1" lang="ja-JP" altLang="en-US"/>
              <a:t>Ｉ　光源の方向ベクトル</a:t>
            </a:r>
            <a:endParaRPr kumimoji="1" lang="en-US" altLang="ja-JP"/>
          </a:p>
          <a:p>
            <a:endParaRPr kumimoji="1" lang="en-US" altLang="ja-JP"/>
          </a:p>
          <a:p>
            <a:endParaRPr kumimoji="1" lang="en-US" altLang="ja-JP" dirty="0"/>
          </a:p>
          <a:p>
            <a:r>
              <a:rPr kumimoji="1" lang="ja-JP" altLang="en-US" dirty="0"/>
              <a:t>＊科目担当コメント</a:t>
            </a:r>
            <a:r>
              <a:rPr kumimoji="1" lang="en-US" altLang="ja-JP" dirty="0"/>
              <a:t>-----------------------------------------------------------------------------------</a:t>
            </a:r>
            <a:r>
              <a:rPr kumimoji="1" lang="ja-JP" altLang="en-US" dirty="0"/>
              <a:t>＊</a:t>
            </a:r>
            <a:endParaRPr kumimoji="1" lang="en-US" altLang="ja-JP" dirty="0"/>
          </a:p>
          <a:p>
            <a:r>
              <a:rPr kumimoji="1" lang="en-US" altLang="ja-JP" dirty="0"/>
              <a:t>99/99/99</a:t>
            </a:r>
            <a:r>
              <a:rPr kumimoji="1" lang="ja-JP" altLang="en-US" dirty="0"/>
              <a:t>　ＸＨ：氏名</a:t>
            </a:r>
            <a:endParaRPr kumimoji="1" lang="en-US" altLang="ja-JP" dirty="0"/>
          </a:p>
          <a:p>
            <a:r>
              <a:rPr kumimoji="1" lang="ja-JP" altLang="en-US" dirty="0"/>
              <a:t>ＸＸＸＸＸＸＸＸＸＸＸＸＸＸＸＸＸＸＸＸＸＸＸＸＸＸＸＸＸＸＸＸＸＸＸＸＸＸＸＸＸＸＸＸＸ</a:t>
            </a:r>
            <a:endParaRPr kumimoji="1" lang="en-US" altLang="ja-JP" dirty="0"/>
          </a:p>
          <a:p>
            <a:r>
              <a:rPr kumimoji="1" lang="ja-JP" altLang="en-US" dirty="0"/>
              <a:t>ＸＸＸＸＸＸＸＸＸＸＸＸＸＸＸＸＸＸＸＸＸＸＸ</a:t>
            </a:r>
            <a:endParaRPr kumimoji="1" lang="en-US" altLang="ja-JP" dirty="0"/>
          </a:p>
          <a:p>
            <a:r>
              <a:rPr kumimoji="1" lang="ja-JP" altLang="en-US" dirty="0"/>
              <a:t>ＸＸＸＸＸＸＸＸＸＸＸＸＸＸＸＸＸＸＸＸＸＸＸＸＸＸＸＸＸＸＸＸＸＸＸＸＸＸＸＸＸＸＸＸＸＸ</a:t>
            </a:r>
            <a:endParaRPr kumimoji="1" lang="en-US" altLang="ja-JP" dirty="0"/>
          </a:p>
          <a:p>
            <a:endParaRPr kumimoji="1" lang="en-US" altLang="ja-JP" dirty="0"/>
          </a:p>
          <a:p>
            <a:r>
              <a:rPr kumimoji="1" lang="ja-JP" altLang="en-US" dirty="0"/>
              <a:t>＊</a:t>
            </a:r>
            <a:r>
              <a:rPr kumimoji="1" lang="en-US" altLang="ja-JP" dirty="0"/>
              <a:t>------------------------------------------------------------------------------------------------</a:t>
            </a:r>
            <a:r>
              <a:rPr kumimoji="1" lang="ja-JP" altLang="en-US" dirty="0"/>
              <a:t>＊</a:t>
            </a:r>
          </a:p>
        </p:txBody>
      </p:sp>
      <p:sp>
        <p:nvSpPr>
          <p:cNvPr id="4" name="スライド番号プレースホルダー 3"/>
          <p:cNvSpPr>
            <a:spLocks noGrp="1"/>
          </p:cNvSpPr>
          <p:nvPr>
            <p:ph type="sldNum" sz="quarter" idx="10"/>
          </p:nvPr>
        </p:nvSpPr>
        <p:spPr/>
        <p:txBody>
          <a:bodyPr/>
          <a:lstStyle/>
          <a:p>
            <a:fld id="{D1390BE1-11B6-4F42-A906-F6C8EED0EE61}" type="slidenum">
              <a:rPr kumimoji="1" lang="ja-JP" altLang="en-US" smtClean="0"/>
              <a:t>71</a:t>
            </a:fld>
            <a:endParaRPr kumimoji="1" lang="ja-JP" altLang="en-US"/>
          </a:p>
        </p:txBody>
      </p:sp>
    </p:spTree>
    <p:extLst>
      <p:ext uri="{BB962C8B-B14F-4D97-AF65-F5344CB8AC3E}">
        <p14:creationId xmlns:p14="http://schemas.microsoft.com/office/powerpoint/2010/main" val="28806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kern="1200">
                <a:solidFill>
                  <a:schemeClr val="tx1"/>
                </a:solidFill>
                <a:effectLst/>
                <a:latin typeface="+mn-lt"/>
                <a:ea typeface="+mn-ea"/>
                <a:cs typeface="+mn-cs"/>
              </a:rPr>
              <a:t>　</a:t>
            </a:r>
            <a:r>
              <a:rPr kumimoji="1" lang="en-US" altLang="ja-JP" sz="1200" kern="1200">
                <a:solidFill>
                  <a:schemeClr val="tx1"/>
                </a:solidFill>
                <a:effectLst/>
                <a:latin typeface="+mn-lt"/>
                <a:ea typeface="+mn-ea"/>
                <a:cs typeface="+mn-cs"/>
              </a:rPr>
              <a:t>θ</a:t>
            </a:r>
            <a:r>
              <a:rPr kumimoji="1" lang="ja-JP" altLang="en-US" sz="1200" kern="1200">
                <a:solidFill>
                  <a:schemeClr val="tx1"/>
                </a:solidFill>
                <a:effectLst/>
                <a:latin typeface="+mn-lt"/>
                <a:ea typeface="+mn-ea"/>
                <a:cs typeface="+mn-cs"/>
              </a:rPr>
              <a:t>は、ＲとＶの為す角度</a:t>
            </a:r>
            <a:endParaRPr kumimoji="1" lang="en-US" altLang="ja-JP" sz="1200" kern="1200">
              <a:solidFill>
                <a:schemeClr val="tx1"/>
              </a:solidFill>
              <a:effectLst/>
              <a:latin typeface="+mn-lt"/>
              <a:ea typeface="+mn-ea"/>
              <a:cs typeface="+mn-cs"/>
            </a:endParaRPr>
          </a:p>
          <a:p>
            <a:endParaRPr kumimoji="1" lang="en-US" altLang="ja-JP"/>
          </a:p>
          <a:p>
            <a:endParaRPr kumimoji="1" lang="en-US" altLang="ja-JP" dirty="0"/>
          </a:p>
          <a:p>
            <a:r>
              <a:rPr kumimoji="1" lang="ja-JP" altLang="en-US" dirty="0"/>
              <a:t>＊科目担当コメント</a:t>
            </a:r>
            <a:r>
              <a:rPr kumimoji="1" lang="en-US" altLang="ja-JP" dirty="0"/>
              <a:t>-----------------------------------------------------------------------------------</a:t>
            </a:r>
            <a:r>
              <a:rPr kumimoji="1" lang="ja-JP" altLang="en-US" dirty="0"/>
              <a:t>＊</a:t>
            </a:r>
            <a:endParaRPr kumimoji="1" lang="en-US" altLang="ja-JP" dirty="0"/>
          </a:p>
          <a:p>
            <a:r>
              <a:rPr kumimoji="1" lang="en-US" altLang="ja-JP" dirty="0"/>
              <a:t>99/99/99</a:t>
            </a:r>
            <a:r>
              <a:rPr kumimoji="1" lang="ja-JP" altLang="en-US" dirty="0"/>
              <a:t>　ＸＨ：氏名</a:t>
            </a:r>
            <a:endParaRPr kumimoji="1" lang="en-US" altLang="ja-JP" dirty="0"/>
          </a:p>
          <a:p>
            <a:r>
              <a:rPr kumimoji="1" lang="ja-JP" altLang="en-US" dirty="0"/>
              <a:t>ＸＸＸＸＸＸＸＸＸＸＸＸＸＸＸＸＸＸＸＸＸＸＸＸＸＸＸＸＸＸＸＸＸＸＸＸＸＸＸＸＸＸＸＸＸ</a:t>
            </a:r>
            <a:endParaRPr kumimoji="1" lang="en-US" altLang="ja-JP" dirty="0"/>
          </a:p>
          <a:p>
            <a:r>
              <a:rPr kumimoji="1" lang="ja-JP" altLang="en-US" dirty="0"/>
              <a:t>ＸＸＸＸＸＸＸＸＸＸＸＸＸＸＸＸＸＸＸＸＸＸＸ</a:t>
            </a:r>
            <a:endParaRPr kumimoji="1" lang="en-US" altLang="ja-JP" dirty="0"/>
          </a:p>
          <a:p>
            <a:r>
              <a:rPr kumimoji="1" lang="ja-JP" altLang="en-US" dirty="0"/>
              <a:t>ＸＸＸＸＸＸＸＸＸＸＸＸＸＸＸＸＸＸＸＸＸＸＸＸＸＸＸＸＸＸＸＸＸＸＸＸＸＸＸＸＸＸＸＸＸＸ</a:t>
            </a:r>
            <a:endParaRPr kumimoji="1" lang="en-US" altLang="ja-JP" dirty="0"/>
          </a:p>
          <a:p>
            <a:endParaRPr kumimoji="1" lang="en-US" altLang="ja-JP" dirty="0"/>
          </a:p>
          <a:p>
            <a:r>
              <a:rPr kumimoji="1" lang="ja-JP" altLang="en-US" dirty="0"/>
              <a:t>＊</a:t>
            </a:r>
            <a:r>
              <a:rPr kumimoji="1" lang="en-US" altLang="ja-JP" dirty="0"/>
              <a:t>------------------------------------------------------------------------------------------------</a:t>
            </a:r>
            <a:r>
              <a:rPr kumimoji="1" lang="ja-JP" altLang="en-US" dirty="0"/>
              <a:t>＊</a:t>
            </a:r>
          </a:p>
        </p:txBody>
      </p:sp>
      <p:sp>
        <p:nvSpPr>
          <p:cNvPr id="4" name="スライド番号プレースホルダー 3"/>
          <p:cNvSpPr>
            <a:spLocks noGrp="1"/>
          </p:cNvSpPr>
          <p:nvPr>
            <p:ph type="sldNum" sz="quarter" idx="10"/>
          </p:nvPr>
        </p:nvSpPr>
        <p:spPr/>
        <p:txBody>
          <a:bodyPr/>
          <a:lstStyle/>
          <a:p>
            <a:fld id="{D1390BE1-11B6-4F42-A906-F6C8EED0EE61}" type="slidenum">
              <a:rPr kumimoji="1" lang="ja-JP" altLang="en-US" smtClean="0"/>
              <a:t>72</a:t>
            </a:fld>
            <a:endParaRPr kumimoji="1" lang="ja-JP" altLang="en-US"/>
          </a:p>
        </p:txBody>
      </p:sp>
    </p:spTree>
    <p:extLst>
      <p:ext uri="{BB962C8B-B14F-4D97-AF65-F5344CB8AC3E}">
        <p14:creationId xmlns:p14="http://schemas.microsoft.com/office/powerpoint/2010/main" val="3047424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3664267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1201770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247132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2273723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1009756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4182533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2854838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2702179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2291528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2162964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64D202F3-A83C-4A59-A28B-F4AB30EBB1F3}" type="datetimeFigureOut">
              <a:rPr kumimoji="1" lang="ja-JP" altLang="en-US" smtClean="0"/>
              <a:t>2024/9/10</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1068753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D202F3-A83C-4A59-A28B-F4AB30EBB1F3}" type="datetimeFigureOut">
              <a:rPr kumimoji="1" lang="ja-JP" altLang="en-US" smtClean="0"/>
              <a:t>2024/9/10</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43C1F0-3510-4059-9A8A-BBE6E9691A7A}" type="slidenum">
              <a:rPr kumimoji="1" lang="ja-JP" altLang="en-US" smtClean="0"/>
              <a:t>‹#›</a:t>
            </a:fld>
            <a:endParaRPr kumimoji="1" lang="ja-JP" altLang="en-US"/>
          </a:p>
        </p:txBody>
      </p:sp>
    </p:spTree>
    <p:extLst>
      <p:ext uri="{BB962C8B-B14F-4D97-AF65-F5344CB8AC3E}">
        <p14:creationId xmlns:p14="http://schemas.microsoft.com/office/powerpoint/2010/main" val="2423654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hyperlink" Target="https://en.wikipedia.org/wiki/AutoCAD_DXF" TargetMode="External"/><Relationship Id="rId13" Type="http://schemas.openxmlformats.org/officeDocument/2006/relationships/hyperlink" Target="https://en.wikipedia.org/wiki/Wavefront_.obj_file" TargetMode="External"/><Relationship Id="rId18" Type="http://schemas.openxmlformats.org/officeDocument/2006/relationships/hyperlink" Target="https://en.wikipedia.org/wiki/STL_(file_format)" TargetMode="External"/><Relationship Id="rId3" Type="http://schemas.openxmlformats.org/officeDocument/2006/relationships/hyperlink" Target="https://en.wikipedia.org/wiki/3D_Manufacturing_Format" TargetMode="External"/><Relationship Id="rId7" Type="http://schemas.openxmlformats.org/officeDocument/2006/relationships/hyperlink" Target="https://en.wikipedia.org/wiki/COLLADA" TargetMode="External"/><Relationship Id="rId12" Type="http://schemas.openxmlformats.org/officeDocument/2006/relationships/hyperlink" Target="https://en.wikipedia.org/wiki/LightWave_3D" TargetMode="External"/><Relationship Id="rId17" Type="http://schemas.openxmlformats.org/officeDocument/2006/relationships/hyperlink" Target="https://en.wikipedia.org/wiki/ISO_10303-21" TargetMode="External"/><Relationship Id="rId2" Type="http://schemas.openxmlformats.org/officeDocument/2006/relationships/hyperlink" Target="https://en.wikipedia.org/wiki/.3ds" TargetMode="External"/><Relationship Id="rId16" Type="http://schemas.openxmlformats.org/officeDocument/2006/relationships/hyperlink" Target="https://en.wikipedia.org/wiki/PLY_(file_format)" TargetMode="External"/><Relationship Id="rId1" Type="http://schemas.openxmlformats.org/officeDocument/2006/relationships/slideLayout" Target="../slideLayouts/slideLayout1.xml"/><Relationship Id="rId6" Type="http://schemas.openxmlformats.org/officeDocument/2006/relationships/hyperlink" Target="https://en.wikipedia.org/wiki/Biovision_Hierarchy" TargetMode="External"/><Relationship Id="rId11" Type="http://schemas.openxmlformats.org/officeDocument/2006/relationships/hyperlink" Target="https://en.wikipedia.org/wiki/GlTF#glTF_2.0" TargetMode="External"/><Relationship Id="rId5" Type="http://schemas.openxmlformats.org/officeDocument/2006/relationships/hyperlink" Target="https://en.wikipedia.org/wiki/.blend_(file_format)" TargetMode="External"/><Relationship Id="rId15" Type="http://schemas.openxmlformats.org/officeDocument/2006/relationships/hyperlink" Target="https://en.wikipedia.org/wiki/Open_Game_Engine_Exchange" TargetMode="External"/><Relationship Id="rId10" Type="http://schemas.openxmlformats.org/officeDocument/2006/relationships/hyperlink" Target="https://en.wikipedia.org/wiki/GlTF#glTF_1.0" TargetMode="External"/><Relationship Id="rId19" Type="http://schemas.openxmlformats.org/officeDocument/2006/relationships/hyperlink" Target="https://en.wikipedia.org/wiki/X3D" TargetMode="External"/><Relationship Id="rId4" Type="http://schemas.openxmlformats.org/officeDocument/2006/relationships/hyperlink" Target="https://en.wikipedia.org/wiki/AC3D" TargetMode="External"/><Relationship Id="rId9" Type="http://schemas.openxmlformats.org/officeDocument/2006/relationships/hyperlink" Target="https://en.wikipedia.org/wiki/FBX" TargetMode="External"/><Relationship Id="rId14" Type="http://schemas.openxmlformats.org/officeDocument/2006/relationships/hyperlink" Target="https://en.wikipedia.org/wiki/OFF_(file_forma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hyperlink" Target="http://assimp.sourceforge.net/lib_html/postprocess_8h.html#acd2361a766665ce2dbfb3eae201b784d" TargetMode="Externa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hyperlink" Target="http://assimp.sourceforge.net/lib_html/namespace_assimp.html" TargetMode="Externa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hyperlink" Target="http://www.cs.princeton.edu/gfx/pubs/Sander_2007_%3eTR/tipsy.pdf" TargetMode="Externa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85177" y="2688446"/>
            <a:ext cx="9144000" cy="1286882"/>
          </a:xfrm>
        </p:spPr>
        <p:txBody>
          <a:bodyPr>
            <a:normAutofit fontScale="90000"/>
          </a:bodyPr>
          <a:lstStyle/>
          <a:p>
            <a:r>
              <a:rPr lang="en-US" altLang="ja-JP" dirty="0" err="1"/>
              <a:t>assimp</a:t>
            </a:r>
            <a:r>
              <a:rPr lang="ja-JP" altLang="en-US" dirty="0"/>
              <a:t>でモデルを読み込む</a:t>
            </a:r>
            <a:endParaRPr kumimoji="1" lang="ja-JP" altLang="en-US" dirty="0"/>
          </a:p>
        </p:txBody>
      </p:sp>
    </p:spTree>
    <p:extLst>
      <p:ext uri="{BB962C8B-B14F-4D97-AF65-F5344CB8AC3E}">
        <p14:creationId xmlns:p14="http://schemas.microsoft.com/office/powerpoint/2010/main" val="170353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87046" y="2677885"/>
            <a:ext cx="10074031" cy="1161979"/>
          </a:xfrm>
        </p:spPr>
        <p:txBody>
          <a:bodyPr>
            <a:normAutofit/>
          </a:bodyPr>
          <a:lstStyle/>
          <a:p>
            <a:r>
              <a:rPr lang="en-US" altLang="ja-JP" dirty="0" err="1"/>
              <a:t>assimp</a:t>
            </a:r>
            <a:r>
              <a:rPr lang="ja-JP" altLang="en-US" dirty="0"/>
              <a:t>とは</a:t>
            </a:r>
            <a:endParaRPr kumimoji="1" lang="ja-JP" altLang="en-US" dirty="0"/>
          </a:p>
        </p:txBody>
      </p:sp>
    </p:spTree>
    <p:extLst>
      <p:ext uri="{BB962C8B-B14F-4D97-AF65-F5344CB8AC3E}">
        <p14:creationId xmlns:p14="http://schemas.microsoft.com/office/powerpoint/2010/main" val="4124299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194319" y="1651718"/>
            <a:ext cx="9414588" cy="3477875"/>
          </a:xfrm>
          <a:prstGeom prst="rect">
            <a:avLst/>
          </a:prstGeom>
        </p:spPr>
        <p:txBody>
          <a:bodyPr wrap="square">
            <a:spAutoFit/>
          </a:bodyPr>
          <a:lstStyle/>
          <a:p>
            <a:r>
              <a:rPr lang="en-US" altLang="ja-JP" sz="4400" dirty="0">
                <a:latin typeface="Roboto"/>
              </a:rPr>
              <a:t>Open Asset Import Library</a:t>
            </a:r>
            <a:r>
              <a:rPr lang="ja-JP" altLang="en-US" sz="4400" dirty="0">
                <a:latin typeface="Roboto"/>
              </a:rPr>
              <a:t>（略称：</a:t>
            </a:r>
            <a:r>
              <a:rPr lang="en-US" altLang="ja-JP" sz="4400" dirty="0" err="1">
                <a:latin typeface="Roboto"/>
              </a:rPr>
              <a:t>Assimp</a:t>
            </a:r>
            <a:r>
              <a:rPr lang="ja-JP" altLang="en-US" sz="4400" dirty="0">
                <a:latin typeface="Roboto"/>
              </a:rPr>
              <a:t>）は、さまざまな有名な</a:t>
            </a:r>
            <a:r>
              <a:rPr lang="en-US" altLang="ja-JP" sz="4400" dirty="0">
                <a:latin typeface="Roboto"/>
              </a:rPr>
              <a:t>3D</a:t>
            </a:r>
            <a:r>
              <a:rPr lang="ja-JP" altLang="en-US" sz="4400" dirty="0">
                <a:latin typeface="Roboto"/>
              </a:rPr>
              <a:t>モデル形式を統一された方法でインポートするためのポータブルなオープンソースライブラリです。</a:t>
            </a:r>
            <a:endParaRPr lang="ja-JP" altLang="en-US" sz="4400" dirty="0"/>
          </a:p>
        </p:txBody>
      </p:sp>
    </p:spTree>
    <p:extLst>
      <p:ext uri="{BB962C8B-B14F-4D97-AF65-F5344CB8AC3E}">
        <p14:creationId xmlns:p14="http://schemas.microsoft.com/office/powerpoint/2010/main" val="4033378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35904" y="233465"/>
            <a:ext cx="9414588" cy="769441"/>
          </a:xfrm>
          <a:prstGeom prst="rect">
            <a:avLst/>
          </a:prstGeom>
        </p:spPr>
        <p:txBody>
          <a:bodyPr wrap="square">
            <a:spAutoFit/>
          </a:bodyPr>
          <a:lstStyle/>
          <a:p>
            <a:r>
              <a:rPr lang="ja-JP" altLang="en-US" sz="4400" dirty="0"/>
              <a:t>サポートするフォーマット</a:t>
            </a:r>
          </a:p>
        </p:txBody>
      </p:sp>
      <p:sp>
        <p:nvSpPr>
          <p:cNvPr id="2" name="正方形/長方形 1"/>
          <p:cNvSpPr/>
          <p:nvPr/>
        </p:nvSpPr>
        <p:spPr>
          <a:xfrm>
            <a:off x="884855" y="1002906"/>
            <a:ext cx="6047790" cy="5632311"/>
          </a:xfrm>
          <a:prstGeom prst="rect">
            <a:avLst/>
          </a:prstGeom>
        </p:spPr>
        <p:txBody>
          <a:bodyPr wrap="square">
            <a:spAutoFit/>
          </a:bodyPr>
          <a:lstStyle/>
          <a:p>
            <a:pPr>
              <a:buFont typeface="Arial" panose="020B0604020202020204" pitchFamily="34" charset="0"/>
              <a:buChar char="•"/>
            </a:pPr>
            <a:r>
              <a:rPr lang="en-US" altLang="ja-JP" dirty="0">
                <a:solidFill>
                  <a:srgbClr val="24292E"/>
                </a:solidFill>
                <a:latin typeface="-apple-system"/>
              </a:rPr>
              <a:t>3D						</a:t>
            </a:r>
          </a:p>
          <a:p>
            <a:pPr>
              <a:buFont typeface="Arial" panose="020B0604020202020204" pitchFamily="34" charset="0"/>
              <a:buChar char="•"/>
            </a:pPr>
            <a:r>
              <a:rPr lang="en-US" altLang="ja-JP" dirty="0">
                <a:solidFill>
                  <a:srgbClr val="0366D6"/>
                </a:solidFill>
                <a:latin typeface="-apple-system"/>
                <a:hlinkClick r:id="rId2"/>
              </a:rPr>
              <a:t>3DS</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0366D6"/>
                </a:solidFill>
                <a:latin typeface="-apple-system"/>
                <a:hlinkClick r:id="rId3"/>
              </a:rPr>
              <a:t>3MF</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24292E"/>
                </a:solidFill>
                <a:latin typeface="-apple-system"/>
              </a:rPr>
              <a:t>AC</a:t>
            </a:r>
          </a:p>
          <a:p>
            <a:pPr>
              <a:buFont typeface="Arial" panose="020B0604020202020204" pitchFamily="34" charset="0"/>
              <a:buChar char="•"/>
            </a:pPr>
            <a:r>
              <a:rPr lang="en-US" altLang="ja-JP" dirty="0">
                <a:solidFill>
                  <a:srgbClr val="0366D6"/>
                </a:solidFill>
                <a:latin typeface="-apple-system"/>
                <a:hlinkClick r:id="rId4"/>
              </a:rPr>
              <a:t>AC3D</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24292E"/>
                </a:solidFill>
                <a:latin typeface="-apple-system"/>
              </a:rPr>
              <a:t>ACC</a:t>
            </a:r>
          </a:p>
          <a:p>
            <a:pPr>
              <a:buFont typeface="Arial" panose="020B0604020202020204" pitchFamily="34" charset="0"/>
              <a:buChar char="•"/>
            </a:pPr>
            <a:r>
              <a:rPr lang="en-US" altLang="ja-JP" dirty="0">
                <a:solidFill>
                  <a:srgbClr val="24292E"/>
                </a:solidFill>
                <a:latin typeface="-apple-system"/>
              </a:rPr>
              <a:t>AMJ</a:t>
            </a:r>
          </a:p>
          <a:p>
            <a:pPr>
              <a:buFont typeface="Arial" panose="020B0604020202020204" pitchFamily="34" charset="0"/>
              <a:buChar char="•"/>
            </a:pPr>
            <a:r>
              <a:rPr lang="en-US" altLang="ja-JP" dirty="0">
                <a:solidFill>
                  <a:srgbClr val="24292E"/>
                </a:solidFill>
                <a:latin typeface="-apple-system"/>
              </a:rPr>
              <a:t>ASE</a:t>
            </a:r>
          </a:p>
          <a:p>
            <a:pPr>
              <a:buFont typeface="Arial" panose="020B0604020202020204" pitchFamily="34" charset="0"/>
              <a:buChar char="•"/>
            </a:pPr>
            <a:r>
              <a:rPr lang="en-US" altLang="ja-JP" dirty="0">
                <a:solidFill>
                  <a:srgbClr val="24292E"/>
                </a:solidFill>
                <a:latin typeface="-apple-system"/>
              </a:rPr>
              <a:t>ASK</a:t>
            </a:r>
          </a:p>
          <a:p>
            <a:pPr>
              <a:buFont typeface="Arial" panose="020B0604020202020204" pitchFamily="34" charset="0"/>
              <a:buChar char="•"/>
            </a:pPr>
            <a:r>
              <a:rPr lang="en-US" altLang="ja-JP" dirty="0">
                <a:solidFill>
                  <a:srgbClr val="24292E"/>
                </a:solidFill>
                <a:latin typeface="-apple-system"/>
              </a:rPr>
              <a:t>B3D</a:t>
            </a:r>
          </a:p>
          <a:p>
            <a:pPr>
              <a:buFont typeface="Arial" panose="020B0604020202020204" pitchFamily="34" charset="0"/>
              <a:buChar char="•"/>
            </a:pPr>
            <a:r>
              <a:rPr lang="en-US" altLang="ja-JP" dirty="0">
                <a:solidFill>
                  <a:srgbClr val="0366D6"/>
                </a:solidFill>
                <a:latin typeface="-apple-system"/>
                <a:hlinkClick r:id="rId5"/>
              </a:rPr>
              <a:t>BLEND</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0366D6"/>
                </a:solidFill>
                <a:latin typeface="-apple-system"/>
                <a:hlinkClick r:id="rId6"/>
              </a:rPr>
              <a:t>BVH</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24292E"/>
                </a:solidFill>
                <a:latin typeface="-apple-system"/>
              </a:rPr>
              <a:t>CMS</a:t>
            </a:r>
          </a:p>
          <a:p>
            <a:pPr>
              <a:buFont typeface="Arial" panose="020B0604020202020204" pitchFamily="34" charset="0"/>
              <a:buChar char="•"/>
            </a:pPr>
            <a:r>
              <a:rPr lang="en-US" altLang="ja-JP" dirty="0">
                <a:solidFill>
                  <a:srgbClr val="24292E"/>
                </a:solidFill>
                <a:latin typeface="-apple-system"/>
              </a:rPr>
              <a:t>COB</a:t>
            </a:r>
          </a:p>
          <a:p>
            <a:pPr>
              <a:buFont typeface="Arial" panose="020B0604020202020204" pitchFamily="34" charset="0"/>
              <a:buChar char="•"/>
            </a:pPr>
            <a:r>
              <a:rPr lang="en-US" altLang="ja-JP" dirty="0">
                <a:solidFill>
                  <a:srgbClr val="0366D6"/>
                </a:solidFill>
                <a:latin typeface="-apple-system"/>
                <a:hlinkClick r:id="rId7"/>
              </a:rPr>
              <a:t>DAE/</a:t>
            </a:r>
            <a:r>
              <a:rPr lang="en-US" altLang="ja-JP" dirty="0" err="1">
                <a:solidFill>
                  <a:srgbClr val="0366D6"/>
                </a:solidFill>
                <a:latin typeface="-apple-system"/>
                <a:hlinkClick r:id="rId7"/>
              </a:rPr>
              <a:t>Collada</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0366D6"/>
                </a:solidFill>
                <a:latin typeface="-apple-system"/>
                <a:hlinkClick r:id="rId8"/>
              </a:rPr>
              <a:t>DXF</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24292E"/>
                </a:solidFill>
                <a:latin typeface="-apple-system"/>
              </a:rPr>
              <a:t>ENFF</a:t>
            </a:r>
          </a:p>
          <a:p>
            <a:pPr>
              <a:buFont typeface="Arial" panose="020B0604020202020204" pitchFamily="34" charset="0"/>
              <a:buChar char="•"/>
            </a:pPr>
            <a:r>
              <a:rPr lang="en-US" altLang="ja-JP" dirty="0">
                <a:solidFill>
                  <a:srgbClr val="0366D6"/>
                </a:solidFill>
                <a:latin typeface="-apple-system"/>
                <a:hlinkClick r:id="rId9"/>
              </a:rPr>
              <a:t>FBX</a:t>
            </a:r>
            <a:endParaRPr lang="en-US" altLang="ja-JP" dirty="0">
              <a:solidFill>
                <a:srgbClr val="24292E"/>
              </a:solidFill>
              <a:latin typeface="-apple-system"/>
            </a:endParaRPr>
          </a:p>
          <a:p>
            <a:pPr>
              <a:buFont typeface="Arial" panose="020B0604020202020204" pitchFamily="34" charset="0"/>
              <a:buChar char="•"/>
            </a:pPr>
            <a:r>
              <a:rPr lang="en-US" altLang="ja-JP" dirty="0" err="1">
                <a:solidFill>
                  <a:srgbClr val="0366D6"/>
                </a:solidFill>
                <a:latin typeface="-apple-system"/>
                <a:hlinkClick r:id="rId10"/>
              </a:rPr>
              <a:t>glTF</a:t>
            </a:r>
            <a:r>
              <a:rPr lang="en-US" altLang="ja-JP" dirty="0">
                <a:solidFill>
                  <a:srgbClr val="0366D6"/>
                </a:solidFill>
                <a:latin typeface="-apple-system"/>
                <a:hlinkClick r:id="rId10"/>
              </a:rPr>
              <a:t> 1.0</a:t>
            </a:r>
            <a:r>
              <a:rPr lang="en-US" altLang="ja-JP" dirty="0">
                <a:solidFill>
                  <a:srgbClr val="24292E"/>
                </a:solidFill>
                <a:latin typeface="-apple-system"/>
              </a:rPr>
              <a:t> + GLB</a:t>
            </a:r>
          </a:p>
          <a:p>
            <a:pPr>
              <a:buFont typeface="Arial" panose="020B0604020202020204" pitchFamily="34" charset="0"/>
              <a:buChar char="•"/>
            </a:pPr>
            <a:r>
              <a:rPr lang="en-US" altLang="ja-JP" dirty="0" err="1">
                <a:solidFill>
                  <a:srgbClr val="0366D6"/>
                </a:solidFill>
                <a:latin typeface="-apple-system"/>
                <a:hlinkClick r:id="rId11"/>
              </a:rPr>
              <a:t>glTF</a:t>
            </a:r>
            <a:r>
              <a:rPr lang="en-US" altLang="ja-JP" dirty="0">
                <a:solidFill>
                  <a:srgbClr val="0366D6"/>
                </a:solidFill>
                <a:latin typeface="-apple-system"/>
                <a:hlinkClick r:id="rId11"/>
              </a:rPr>
              <a:t> 2.0</a:t>
            </a:r>
            <a:endParaRPr lang="en-US" altLang="ja-JP" dirty="0">
              <a:solidFill>
                <a:srgbClr val="24292E"/>
              </a:solidFill>
              <a:latin typeface="-apple-system"/>
            </a:endParaRPr>
          </a:p>
        </p:txBody>
      </p:sp>
      <p:sp>
        <p:nvSpPr>
          <p:cNvPr id="4" name="正方形/長方形 3"/>
          <p:cNvSpPr/>
          <p:nvPr/>
        </p:nvSpPr>
        <p:spPr>
          <a:xfrm>
            <a:off x="4093029" y="1002906"/>
            <a:ext cx="3072881" cy="5632311"/>
          </a:xfrm>
          <a:prstGeom prst="rect">
            <a:avLst/>
          </a:prstGeom>
        </p:spPr>
        <p:txBody>
          <a:bodyPr wrap="square">
            <a:spAutoFit/>
          </a:bodyPr>
          <a:lstStyle/>
          <a:p>
            <a:pPr>
              <a:buFont typeface="Arial" panose="020B0604020202020204" pitchFamily="34" charset="0"/>
              <a:buChar char="•"/>
            </a:pPr>
            <a:r>
              <a:rPr lang="en-US" altLang="ja-JP" dirty="0">
                <a:solidFill>
                  <a:srgbClr val="24292E"/>
                </a:solidFill>
                <a:latin typeface="-apple-system"/>
              </a:rPr>
              <a:t>HMB</a:t>
            </a:r>
          </a:p>
          <a:p>
            <a:pPr>
              <a:buFont typeface="Arial" panose="020B0604020202020204" pitchFamily="34" charset="0"/>
              <a:buChar char="•"/>
            </a:pPr>
            <a:r>
              <a:rPr lang="en-US" altLang="ja-JP" dirty="0">
                <a:solidFill>
                  <a:srgbClr val="24292E"/>
                </a:solidFill>
                <a:latin typeface="-apple-system"/>
              </a:rPr>
              <a:t>IFC-STEP</a:t>
            </a:r>
          </a:p>
          <a:p>
            <a:pPr>
              <a:buFont typeface="Arial" panose="020B0604020202020204" pitchFamily="34" charset="0"/>
              <a:buChar char="•"/>
            </a:pPr>
            <a:r>
              <a:rPr lang="en-US" altLang="ja-JP" dirty="0">
                <a:solidFill>
                  <a:srgbClr val="24292E"/>
                </a:solidFill>
                <a:latin typeface="-apple-system"/>
              </a:rPr>
              <a:t>IRR / IRRMESH</a:t>
            </a:r>
          </a:p>
          <a:p>
            <a:pPr>
              <a:buFont typeface="Arial" panose="020B0604020202020204" pitchFamily="34" charset="0"/>
              <a:buChar char="•"/>
            </a:pPr>
            <a:r>
              <a:rPr lang="en-US" altLang="ja-JP" dirty="0">
                <a:solidFill>
                  <a:srgbClr val="0366D6"/>
                </a:solidFill>
                <a:latin typeface="-apple-system"/>
                <a:hlinkClick r:id="rId12"/>
              </a:rPr>
              <a:t>LWO</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24292E"/>
                </a:solidFill>
                <a:latin typeface="-apple-system"/>
              </a:rPr>
              <a:t>LWS</a:t>
            </a:r>
          </a:p>
          <a:p>
            <a:pPr>
              <a:buFont typeface="Arial" panose="020B0604020202020204" pitchFamily="34" charset="0"/>
              <a:buChar char="•"/>
            </a:pPr>
            <a:r>
              <a:rPr lang="en-US" altLang="ja-JP" dirty="0">
                <a:solidFill>
                  <a:srgbClr val="24292E"/>
                </a:solidFill>
                <a:latin typeface="-apple-system"/>
              </a:rPr>
              <a:t>LXO</a:t>
            </a:r>
          </a:p>
          <a:p>
            <a:pPr>
              <a:buFont typeface="Arial" panose="020B0604020202020204" pitchFamily="34" charset="0"/>
              <a:buChar char="•"/>
            </a:pPr>
            <a:r>
              <a:rPr lang="en-US" altLang="ja-JP" dirty="0">
                <a:solidFill>
                  <a:srgbClr val="24292E"/>
                </a:solidFill>
                <a:latin typeface="-apple-system"/>
              </a:rPr>
              <a:t>MD2</a:t>
            </a:r>
          </a:p>
          <a:p>
            <a:pPr>
              <a:buFont typeface="Arial" panose="020B0604020202020204" pitchFamily="34" charset="0"/>
              <a:buChar char="•"/>
            </a:pPr>
            <a:r>
              <a:rPr lang="en-US" altLang="ja-JP" dirty="0">
                <a:solidFill>
                  <a:srgbClr val="24292E"/>
                </a:solidFill>
                <a:latin typeface="-apple-system"/>
              </a:rPr>
              <a:t>MD3</a:t>
            </a:r>
          </a:p>
          <a:p>
            <a:pPr>
              <a:buFont typeface="Arial" panose="020B0604020202020204" pitchFamily="34" charset="0"/>
              <a:buChar char="•"/>
            </a:pPr>
            <a:r>
              <a:rPr lang="en-US" altLang="ja-JP" dirty="0">
                <a:solidFill>
                  <a:srgbClr val="24292E"/>
                </a:solidFill>
                <a:latin typeface="-apple-system"/>
              </a:rPr>
              <a:t>MD5</a:t>
            </a:r>
          </a:p>
          <a:p>
            <a:pPr>
              <a:buFont typeface="Arial" panose="020B0604020202020204" pitchFamily="34" charset="0"/>
              <a:buChar char="•"/>
            </a:pPr>
            <a:r>
              <a:rPr lang="en-US" altLang="ja-JP" dirty="0">
                <a:solidFill>
                  <a:srgbClr val="24292E"/>
                </a:solidFill>
                <a:latin typeface="-apple-system"/>
              </a:rPr>
              <a:t>MDC</a:t>
            </a:r>
          </a:p>
          <a:p>
            <a:pPr>
              <a:buFont typeface="Arial" panose="020B0604020202020204" pitchFamily="34" charset="0"/>
              <a:buChar char="•"/>
            </a:pPr>
            <a:r>
              <a:rPr lang="en-US" altLang="ja-JP" dirty="0">
                <a:solidFill>
                  <a:srgbClr val="24292E"/>
                </a:solidFill>
                <a:latin typeface="-apple-system"/>
              </a:rPr>
              <a:t>MDL</a:t>
            </a:r>
          </a:p>
          <a:p>
            <a:pPr>
              <a:buFont typeface="Arial" panose="020B0604020202020204" pitchFamily="34" charset="0"/>
              <a:buChar char="•"/>
            </a:pPr>
            <a:r>
              <a:rPr lang="en-US" altLang="ja-JP" dirty="0">
                <a:solidFill>
                  <a:srgbClr val="24292E"/>
                </a:solidFill>
                <a:latin typeface="-apple-system"/>
              </a:rPr>
              <a:t>MESH / MESH.XML</a:t>
            </a:r>
          </a:p>
          <a:p>
            <a:pPr>
              <a:buFont typeface="Arial" panose="020B0604020202020204" pitchFamily="34" charset="0"/>
              <a:buChar char="•"/>
            </a:pPr>
            <a:r>
              <a:rPr lang="en-US" altLang="ja-JP" dirty="0">
                <a:solidFill>
                  <a:srgbClr val="24292E"/>
                </a:solidFill>
                <a:latin typeface="-apple-system"/>
              </a:rPr>
              <a:t>MOT</a:t>
            </a:r>
          </a:p>
          <a:p>
            <a:pPr>
              <a:buFont typeface="Arial" panose="020B0604020202020204" pitchFamily="34" charset="0"/>
              <a:buChar char="•"/>
            </a:pPr>
            <a:r>
              <a:rPr lang="en-US" altLang="ja-JP" dirty="0">
                <a:solidFill>
                  <a:srgbClr val="24292E"/>
                </a:solidFill>
                <a:latin typeface="-apple-system"/>
              </a:rPr>
              <a:t>MS3D</a:t>
            </a:r>
          </a:p>
          <a:p>
            <a:pPr>
              <a:buFont typeface="Arial" panose="020B0604020202020204" pitchFamily="34" charset="0"/>
              <a:buChar char="•"/>
            </a:pPr>
            <a:r>
              <a:rPr lang="en-US" altLang="ja-JP" dirty="0">
                <a:solidFill>
                  <a:srgbClr val="24292E"/>
                </a:solidFill>
                <a:latin typeface="-apple-system"/>
              </a:rPr>
              <a:t>NDO</a:t>
            </a:r>
          </a:p>
          <a:p>
            <a:pPr>
              <a:buFont typeface="Arial" panose="020B0604020202020204" pitchFamily="34" charset="0"/>
              <a:buChar char="•"/>
            </a:pPr>
            <a:r>
              <a:rPr lang="en-US" altLang="ja-JP" dirty="0">
                <a:solidFill>
                  <a:srgbClr val="24292E"/>
                </a:solidFill>
                <a:latin typeface="-apple-system"/>
              </a:rPr>
              <a:t>NFF</a:t>
            </a:r>
          </a:p>
          <a:p>
            <a:pPr>
              <a:buFont typeface="Arial" panose="020B0604020202020204" pitchFamily="34" charset="0"/>
              <a:buChar char="•"/>
            </a:pPr>
            <a:r>
              <a:rPr lang="en-US" altLang="ja-JP" dirty="0">
                <a:solidFill>
                  <a:srgbClr val="0366D6"/>
                </a:solidFill>
                <a:latin typeface="-apple-system"/>
                <a:hlinkClick r:id="rId13"/>
              </a:rPr>
              <a:t>OBJ</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0366D6"/>
                </a:solidFill>
                <a:latin typeface="-apple-system"/>
                <a:hlinkClick r:id="rId14"/>
              </a:rPr>
              <a:t>OFF</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0366D6"/>
                </a:solidFill>
                <a:latin typeface="-apple-system"/>
                <a:hlinkClick r:id="rId15"/>
              </a:rPr>
              <a:t>OGEX</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0366D6"/>
                </a:solidFill>
                <a:latin typeface="-apple-system"/>
                <a:hlinkClick r:id="rId16"/>
              </a:rPr>
              <a:t>PLY</a:t>
            </a:r>
            <a:endParaRPr lang="en-US" altLang="ja-JP" dirty="0">
              <a:solidFill>
                <a:srgbClr val="24292E"/>
              </a:solidFill>
              <a:latin typeface="-apple-system"/>
            </a:endParaRPr>
          </a:p>
        </p:txBody>
      </p:sp>
      <p:sp>
        <p:nvSpPr>
          <p:cNvPr id="5" name="正方形/長方形 4"/>
          <p:cNvSpPr/>
          <p:nvPr/>
        </p:nvSpPr>
        <p:spPr>
          <a:xfrm>
            <a:off x="8077200" y="1002906"/>
            <a:ext cx="2419739" cy="4801314"/>
          </a:xfrm>
          <a:prstGeom prst="rect">
            <a:avLst/>
          </a:prstGeom>
        </p:spPr>
        <p:txBody>
          <a:bodyPr wrap="square">
            <a:spAutoFit/>
          </a:bodyPr>
          <a:lstStyle/>
          <a:p>
            <a:pPr>
              <a:buFont typeface="Arial" panose="020B0604020202020204" pitchFamily="34" charset="0"/>
              <a:buChar char="•"/>
            </a:pPr>
            <a:r>
              <a:rPr lang="en-US" altLang="ja-JP" dirty="0">
                <a:solidFill>
                  <a:srgbClr val="24292E"/>
                </a:solidFill>
                <a:latin typeface="-apple-system"/>
              </a:rPr>
              <a:t>PMX</a:t>
            </a:r>
          </a:p>
          <a:p>
            <a:pPr>
              <a:buFont typeface="Arial" panose="020B0604020202020204" pitchFamily="34" charset="0"/>
              <a:buChar char="•"/>
            </a:pPr>
            <a:r>
              <a:rPr lang="en-US" altLang="ja-JP" dirty="0">
                <a:solidFill>
                  <a:srgbClr val="24292E"/>
                </a:solidFill>
                <a:latin typeface="-apple-system"/>
              </a:rPr>
              <a:t>PRJ</a:t>
            </a:r>
          </a:p>
          <a:p>
            <a:pPr>
              <a:buFont typeface="Arial" panose="020B0604020202020204" pitchFamily="34" charset="0"/>
              <a:buChar char="•"/>
            </a:pPr>
            <a:r>
              <a:rPr lang="en-US" altLang="ja-JP" dirty="0">
                <a:solidFill>
                  <a:srgbClr val="24292E"/>
                </a:solidFill>
                <a:latin typeface="-apple-system"/>
              </a:rPr>
              <a:t>Q3O</a:t>
            </a:r>
          </a:p>
          <a:p>
            <a:pPr>
              <a:buFont typeface="Arial" panose="020B0604020202020204" pitchFamily="34" charset="0"/>
              <a:buChar char="•"/>
            </a:pPr>
            <a:r>
              <a:rPr lang="en-US" altLang="ja-JP" dirty="0">
                <a:solidFill>
                  <a:srgbClr val="24292E"/>
                </a:solidFill>
                <a:latin typeface="-apple-system"/>
              </a:rPr>
              <a:t>Q3S</a:t>
            </a:r>
          </a:p>
          <a:p>
            <a:pPr>
              <a:buFont typeface="Arial" panose="020B0604020202020204" pitchFamily="34" charset="0"/>
              <a:buChar char="•"/>
            </a:pPr>
            <a:r>
              <a:rPr lang="en-US" altLang="ja-JP" dirty="0">
                <a:solidFill>
                  <a:srgbClr val="24292E"/>
                </a:solidFill>
                <a:latin typeface="-apple-system"/>
              </a:rPr>
              <a:t>RAW</a:t>
            </a:r>
          </a:p>
          <a:p>
            <a:pPr>
              <a:buFont typeface="Arial" panose="020B0604020202020204" pitchFamily="34" charset="0"/>
              <a:buChar char="•"/>
            </a:pPr>
            <a:r>
              <a:rPr lang="en-US" altLang="ja-JP" dirty="0">
                <a:solidFill>
                  <a:srgbClr val="24292E"/>
                </a:solidFill>
                <a:latin typeface="-apple-system"/>
              </a:rPr>
              <a:t>SCN</a:t>
            </a:r>
          </a:p>
          <a:p>
            <a:pPr>
              <a:buFont typeface="Arial" panose="020B0604020202020204" pitchFamily="34" charset="0"/>
              <a:buChar char="•"/>
            </a:pPr>
            <a:r>
              <a:rPr lang="en-US" altLang="ja-JP" dirty="0">
                <a:solidFill>
                  <a:srgbClr val="24292E"/>
                </a:solidFill>
                <a:latin typeface="-apple-system"/>
              </a:rPr>
              <a:t>SIB</a:t>
            </a:r>
          </a:p>
          <a:p>
            <a:pPr>
              <a:buFont typeface="Arial" panose="020B0604020202020204" pitchFamily="34" charset="0"/>
              <a:buChar char="•"/>
            </a:pPr>
            <a:r>
              <a:rPr lang="en-US" altLang="ja-JP" dirty="0">
                <a:solidFill>
                  <a:srgbClr val="24292E"/>
                </a:solidFill>
                <a:latin typeface="-apple-system"/>
              </a:rPr>
              <a:t>SMD</a:t>
            </a:r>
          </a:p>
          <a:p>
            <a:pPr>
              <a:buFont typeface="Arial" panose="020B0604020202020204" pitchFamily="34" charset="0"/>
              <a:buChar char="•"/>
            </a:pPr>
            <a:r>
              <a:rPr lang="en-US" altLang="ja-JP" dirty="0">
                <a:solidFill>
                  <a:srgbClr val="0366D6"/>
                </a:solidFill>
                <a:latin typeface="-apple-system"/>
                <a:hlinkClick r:id="rId17"/>
              </a:rPr>
              <a:t>STP</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0366D6"/>
                </a:solidFill>
                <a:latin typeface="-apple-system"/>
                <a:hlinkClick r:id="rId18"/>
              </a:rPr>
              <a:t>STL</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24292E"/>
                </a:solidFill>
                <a:latin typeface="-apple-system"/>
              </a:rPr>
              <a:t>TER</a:t>
            </a:r>
          </a:p>
          <a:p>
            <a:pPr>
              <a:buFont typeface="Arial" panose="020B0604020202020204" pitchFamily="34" charset="0"/>
              <a:buChar char="•"/>
            </a:pPr>
            <a:r>
              <a:rPr lang="en-US" altLang="ja-JP" dirty="0">
                <a:solidFill>
                  <a:srgbClr val="24292E"/>
                </a:solidFill>
                <a:latin typeface="-apple-system"/>
              </a:rPr>
              <a:t>UC</a:t>
            </a:r>
          </a:p>
          <a:p>
            <a:pPr>
              <a:buFont typeface="Arial" panose="020B0604020202020204" pitchFamily="34" charset="0"/>
              <a:buChar char="•"/>
            </a:pPr>
            <a:r>
              <a:rPr lang="en-US" altLang="ja-JP" dirty="0">
                <a:solidFill>
                  <a:srgbClr val="24292E"/>
                </a:solidFill>
                <a:latin typeface="-apple-system"/>
              </a:rPr>
              <a:t>VTA</a:t>
            </a:r>
          </a:p>
          <a:p>
            <a:pPr>
              <a:buFont typeface="Arial" panose="020B0604020202020204" pitchFamily="34" charset="0"/>
              <a:buChar char="•"/>
            </a:pPr>
            <a:r>
              <a:rPr lang="en-US" altLang="ja-JP" dirty="0">
                <a:solidFill>
                  <a:srgbClr val="24292E"/>
                </a:solidFill>
                <a:latin typeface="-apple-system"/>
              </a:rPr>
              <a:t>X</a:t>
            </a:r>
          </a:p>
          <a:p>
            <a:pPr>
              <a:buFont typeface="Arial" panose="020B0604020202020204" pitchFamily="34" charset="0"/>
              <a:buChar char="•"/>
            </a:pPr>
            <a:r>
              <a:rPr lang="en-US" altLang="ja-JP" dirty="0">
                <a:solidFill>
                  <a:srgbClr val="0366D6"/>
                </a:solidFill>
                <a:latin typeface="-apple-system"/>
                <a:hlinkClick r:id="rId19"/>
              </a:rPr>
              <a:t>X3D</a:t>
            </a:r>
            <a:endParaRPr lang="en-US" altLang="ja-JP" dirty="0">
              <a:solidFill>
                <a:srgbClr val="24292E"/>
              </a:solidFill>
              <a:latin typeface="-apple-system"/>
            </a:endParaRPr>
          </a:p>
          <a:p>
            <a:pPr>
              <a:buFont typeface="Arial" panose="020B0604020202020204" pitchFamily="34" charset="0"/>
              <a:buChar char="•"/>
            </a:pPr>
            <a:r>
              <a:rPr lang="en-US" altLang="ja-JP" dirty="0">
                <a:solidFill>
                  <a:srgbClr val="24292E"/>
                </a:solidFill>
                <a:latin typeface="-apple-system"/>
              </a:rPr>
              <a:t>XGL</a:t>
            </a:r>
          </a:p>
          <a:p>
            <a:pPr>
              <a:buFont typeface="Arial" panose="020B0604020202020204" pitchFamily="34" charset="0"/>
              <a:buChar char="•"/>
            </a:pPr>
            <a:r>
              <a:rPr lang="en-US" altLang="ja-JP" dirty="0">
                <a:solidFill>
                  <a:srgbClr val="24292E"/>
                </a:solidFill>
                <a:latin typeface="-apple-system"/>
              </a:rPr>
              <a:t>ZGL</a:t>
            </a:r>
          </a:p>
        </p:txBody>
      </p:sp>
    </p:spTree>
    <p:extLst>
      <p:ext uri="{BB962C8B-B14F-4D97-AF65-F5344CB8AC3E}">
        <p14:creationId xmlns:p14="http://schemas.microsoft.com/office/powerpoint/2010/main" val="1260976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87046" y="2677885"/>
            <a:ext cx="10074031" cy="1161979"/>
          </a:xfrm>
        </p:spPr>
        <p:txBody>
          <a:bodyPr>
            <a:normAutofit/>
          </a:bodyPr>
          <a:lstStyle/>
          <a:p>
            <a:r>
              <a:rPr lang="en-US" altLang="ja-JP" dirty="0" err="1"/>
              <a:t>assimp</a:t>
            </a:r>
            <a:r>
              <a:rPr lang="ja-JP" altLang="en-US" dirty="0"/>
              <a:t>使用環境を整える</a:t>
            </a:r>
            <a:endParaRPr kumimoji="1" lang="ja-JP" altLang="en-US" dirty="0"/>
          </a:p>
        </p:txBody>
      </p:sp>
    </p:spTree>
    <p:extLst>
      <p:ext uri="{BB962C8B-B14F-4D97-AF65-F5344CB8AC3E}">
        <p14:creationId xmlns:p14="http://schemas.microsoft.com/office/powerpoint/2010/main" val="2474614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87046" y="2677885"/>
            <a:ext cx="10074031" cy="1161979"/>
          </a:xfrm>
        </p:spPr>
        <p:txBody>
          <a:bodyPr>
            <a:normAutofit/>
          </a:bodyPr>
          <a:lstStyle/>
          <a:p>
            <a:r>
              <a:rPr lang="en-US" altLang="ja-JP" dirty="0"/>
              <a:t>FBXSDK</a:t>
            </a:r>
            <a:r>
              <a:rPr lang="ja-JP" altLang="en-US" dirty="0"/>
              <a:t>をインストールする</a:t>
            </a:r>
            <a:endParaRPr kumimoji="1" lang="ja-JP" altLang="en-US" dirty="0"/>
          </a:p>
        </p:txBody>
      </p:sp>
    </p:spTree>
    <p:extLst>
      <p:ext uri="{BB962C8B-B14F-4D97-AF65-F5344CB8AC3E}">
        <p14:creationId xmlns:p14="http://schemas.microsoft.com/office/powerpoint/2010/main" val="4144875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a:blip r:embed="rId2"/>
          <a:stretch>
            <a:fillRect/>
          </a:stretch>
        </p:blipFill>
        <p:spPr>
          <a:xfrm>
            <a:off x="3493101" y="1257171"/>
            <a:ext cx="4019550" cy="4162425"/>
          </a:xfrm>
          <a:prstGeom prst="rect">
            <a:avLst/>
          </a:prstGeom>
        </p:spPr>
      </p:pic>
    </p:spTree>
    <p:extLst>
      <p:ext uri="{BB962C8B-B14F-4D97-AF65-F5344CB8AC3E}">
        <p14:creationId xmlns:p14="http://schemas.microsoft.com/office/powerpoint/2010/main" val="2754140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405881" y="2206327"/>
            <a:ext cx="9144000" cy="1175564"/>
          </a:xfrm>
        </p:spPr>
        <p:txBody>
          <a:bodyPr/>
          <a:lstStyle/>
          <a:p>
            <a:r>
              <a:rPr kumimoji="1" lang="en-US" altLang="ja-JP" dirty="0" err="1"/>
              <a:t>assimp</a:t>
            </a:r>
            <a:r>
              <a:rPr kumimoji="1" lang="ja-JP" altLang="en-US" dirty="0"/>
              <a:t>を</a:t>
            </a:r>
            <a:r>
              <a:rPr kumimoji="1" lang="en-US" altLang="ja-JP" dirty="0"/>
              <a:t>download</a:t>
            </a:r>
            <a:r>
              <a:rPr kumimoji="1" lang="ja-JP" altLang="en-US" dirty="0"/>
              <a:t>する</a:t>
            </a:r>
          </a:p>
        </p:txBody>
      </p:sp>
      <p:sp>
        <p:nvSpPr>
          <p:cNvPr id="5" name="サブタイトル 2"/>
          <p:cNvSpPr>
            <a:spLocks noGrp="1"/>
          </p:cNvSpPr>
          <p:nvPr>
            <p:ph type="subTitle" idx="1"/>
          </p:nvPr>
        </p:nvSpPr>
        <p:spPr>
          <a:xfrm>
            <a:off x="1090670" y="4166964"/>
            <a:ext cx="10719412" cy="1088082"/>
          </a:xfrm>
        </p:spPr>
        <p:txBody>
          <a:bodyPr>
            <a:noAutofit/>
          </a:bodyPr>
          <a:lstStyle/>
          <a:p>
            <a:r>
              <a:rPr lang="en-US" altLang="ja-JP" sz="4800" dirty="0"/>
              <a:t>https://github.com/assimp/assimp</a:t>
            </a:r>
            <a:endParaRPr kumimoji="1" lang="ja-JP" altLang="en-US" sz="4800" dirty="0"/>
          </a:p>
        </p:txBody>
      </p:sp>
    </p:spTree>
    <p:extLst>
      <p:ext uri="{BB962C8B-B14F-4D97-AF65-F5344CB8AC3E}">
        <p14:creationId xmlns:p14="http://schemas.microsoft.com/office/powerpoint/2010/main" val="3706335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16049" y="1997007"/>
            <a:ext cx="9144000" cy="1175564"/>
          </a:xfrm>
        </p:spPr>
        <p:txBody>
          <a:bodyPr/>
          <a:lstStyle/>
          <a:p>
            <a:r>
              <a:rPr kumimoji="1" lang="en-US" altLang="ja-JP" dirty="0" err="1"/>
              <a:t>asimp</a:t>
            </a:r>
            <a:r>
              <a:rPr kumimoji="1" lang="ja-JP" altLang="en-US" dirty="0"/>
              <a:t>を</a:t>
            </a:r>
            <a:r>
              <a:rPr kumimoji="1" lang="en-US" altLang="ja-JP" dirty="0"/>
              <a:t>download</a:t>
            </a:r>
            <a:r>
              <a:rPr kumimoji="1" lang="ja-JP" altLang="en-US" dirty="0"/>
              <a:t>する</a:t>
            </a:r>
          </a:p>
        </p:txBody>
      </p:sp>
      <p:sp>
        <p:nvSpPr>
          <p:cNvPr id="5" name="サブタイトル 2"/>
          <p:cNvSpPr>
            <a:spLocks noGrp="1"/>
          </p:cNvSpPr>
          <p:nvPr>
            <p:ph type="subTitle" idx="1"/>
          </p:nvPr>
        </p:nvSpPr>
        <p:spPr>
          <a:xfrm>
            <a:off x="3387256" y="3594087"/>
            <a:ext cx="5263764" cy="516738"/>
          </a:xfrm>
        </p:spPr>
        <p:txBody>
          <a:bodyPr>
            <a:normAutofit/>
          </a:bodyPr>
          <a:lstStyle/>
          <a:p>
            <a:r>
              <a:rPr lang="en-US" altLang="ja-JP" dirty="0"/>
              <a:t>https://github.com/assimp/assimp</a:t>
            </a:r>
            <a:endParaRPr kumimoji="1" lang="ja-JP" altLang="en-US" dirty="0"/>
          </a:p>
        </p:txBody>
      </p:sp>
      <p:pic>
        <p:nvPicPr>
          <p:cNvPr id="3" name="図 2"/>
          <p:cNvPicPr>
            <a:picLocks noChangeAspect="1"/>
          </p:cNvPicPr>
          <p:nvPr/>
        </p:nvPicPr>
        <p:blipFill>
          <a:blip r:embed="rId2"/>
          <a:stretch>
            <a:fillRect/>
          </a:stretch>
        </p:blipFill>
        <p:spPr>
          <a:xfrm>
            <a:off x="837281" y="552524"/>
            <a:ext cx="10653312" cy="5770545"/>
          </a:xfrm>
          <a:prstGeom prst="rect">
            <a:avLst/>
          </a:prstGeom>
        </p:spPr>
      </p:pic>
      <p:sp>
        <p:nvSpPr>
          <p:cNvPr id="4" name="楕円 3"/>
          <p:cNvSpPr/>
          <p:nvPr/>
        </p:nvSpPr>
        <p:spPr>
          <a:xfrm>
            <a:off x="9088916" y="4241494"/>
            <a:ext cx="2049137" cy="5067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833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460965" y="2302525"/>
            <a:ext cx="9144000" cy="2346593"/>
          </a:xfrm>
        </p:spPr>
        <p:txBody>
          <a:bodyPr>
            <a:normAutofit/>
          </a:bodyPr>
          <a:lstStyle/>
          <a:p>
            <a:r>
              <a:rPr lang="en-US" altLang="ja-JP" dirty="0"/>
              <a:t>a</a:t>
            </a:r>
            <a:r>
              <a:rPr kumimoji="1" lang="en-US" altLang="ja-JP" dirty="0"/>
              <a:t>ssimp-master.zip</a:t>
            </a:r>
            <a:r>
              <a:rPr kumimoji="1" lang="ja-JP" altLang="en-US" dirty="0"/>
              <a:t>を展開</a:t>
            </a:r>
            <a:br>
              <a:rPr kumimoji="1" lang="en-US" altLang="ja-JP" dirty="0"/>
            </a:br>
            <a:endParaRPr kumimoji="1" lang="ja-JP" altLang="en-US" dirty="0"/>
          </a:p>
        </p:txBody>
      </p:sp>
    </p:spTree>
    <p:extLst>
      <p:ext uri="{BB962C8B-B14F-4D97-AF65-F5344CB8AC3E}">
        <p14:creationId xmlns:p14="http://schemas.microsoft.com/office/powerpoint/2010/main" val="2303066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965423" y="2351313"/>
            <a:ext cx="10074031" cy="1161979"/>
          </a:xfrm>
        </p:spPr>
        <p:txBody>
          <a:bodyPr>
            <a:normAutofit fontScale="90000"/>
          </a:bodyPr>
          <a:lstStyle/>
          <a:p>
            <a:r>
              <a:rPr lang="en-US" altLang="ja-JP" dirty="0" err="1"/>
              <a:t>assimp</a:t>
            </a:r>
            <a:r>
              <a:rPr lang="ja-JP" altLang="en-US" dirty="0"/>
              <a:t>をビルドしてライブラリを作成する</a:t>
            </a:r>
            <a:endParaRPr kumimoji="1" lang="ja-JP" altLang="en-US" dirty="0"/>
          </a:p>
        </p:txBody>
      </p:sp>
      <p:sp>
        <p:nvSpPr>
          <p:cNvPr id="3" name="タイトル 1"/>
          <p:cNvSpPr txBox="1">
            <a:spLocks/>
          </p:cNvSpPr>
          <p:nvPr/>
        </p:nvSpPr>
        <p:spPr>
          <a:xfrm>
            <a:off x="1326828" y="4397827"/>
            <a:ext cx="10074031" cy="1161979"/>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err="1"/>
              <a:t>cmake</a:t>
            </a:r>
            <a:r>
              <a:rPr lang="ja-JP" altLang="en-US" dirty="0"/>
              <a:t>が必要</a:t>
            </a:r>
          </a:p>
        </p:txBody>
      </p:sp>
    </p:spTree>
    <p:extLst>
      <p:ext uri="{BB962C8B-B14F-4D97-AF65-F5344CB8AC3E}">
        <p14:creationId xmlns:p14="http://schemas.microsoft.com/office/powerpoint/2010/main" val="216627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87046" y="2677885"/>
            <a:ext cx="10074031" cy="1161979"/>
          </a:xfrm>
        </p:spPr>
        <p:txBody>
          <a:bodyPr>
            <a:normAutofit/>
          </a:bodyPr>
          <a:lstStyle/>
          <a:p>
            <a:r>
              <a:rPr lang="en-US" altLang="ja-JP" dirty="0" err="1"/>
              <a:t>cmake</a:t>
            </a:r>
            <a:r>
              <a:rPr lang="ja-JP" altLang="en-US" dirty="0"/>
              <a:t>とは</a:t>
            </a:r>
            <a:endParaRPr kumimoji="1" lang="ja-JP" altLang="en-US" dirty="0"/>
          </a:p>
        </p:txBody>
      </p:sp>
    </p:spTree>
    <p:extLst>
      <p:ext uri="{BB962C8B-B14F-4D97-AF65-F5344CB8AC3E}">
        <p14:creationId xmlns:p14="http://schemas.microsoft.com/office/powerpoint/2010/main" val="2005814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712425" y="935500"/>
            <a:ext cx="10800202" cy="4524315"/>
          </a:xfrm>
          <a:prstGeom prst="rect">
            <a:avLst/>
          </a:prstGeom>
        </p:spPr>
        <p:txBody>
          <a:bodyPr wrap="square">
            <a:spAutoFit/>
          </a:bodyPr>
          <a:lstStyle/>
          <a:p>
            <a:r>
              <a:rPr lang="ja-JP" altLang="en-US" sz="3200" dirty="0"/>
              <a:t>CMakeは、ソフトウェアを構築、テスト、およびパッケージ化するように設計された、オープンソースのクロスプラットフォームのツールです。</a:t>
            </a:r>
          </a:p>
          <a:p>
            <a:endParaRPr lang="ja-JP" altLang="en-US" sz="3200" dirty="0"/>
          </a:p>
          <a:p>
            <a:r>
              <a:rPr lang="ja-JP" altLang="en-US" sz="3200" dirty="0"/>
              <a:t>CMakeは、プラットフォームおよびコンパイラに依存しない構成ファイルを使用してソフトウェアのコンパイルプロセスを制御し、選択したコンパイラ環境で使用できるネイティブメイクファイルとワークスペースを生成するために使用されます。</a:t>
            </a:r>
          </a:p>
        </p:txBody>
      </p:sp>
    </p:spTree>
    <p:extLst>
      <p:ext uri="{BB962C8B-B14F-4D97-AF65-F5344CB8AC3E}">
        <p14:creationId xmlns:p14="http://schemas.microsoft.com/office/powerpoint/2010/main" val="3110182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294199" y="215109"/>
            <a:ext cx="11338559" cy="6463308"/>
          </a:xfrm>
          <a:prstGeom prst="rect">
            <a:avLst/>
          </a:prstGeom>
        </p:spPr>
        <p:txBody>
          <a:bodyPr wrap="square">
            <a:spAutoFit/>
          </a:bodyPr>
          <a:lstStyle/>
          <a:p>
            <a:r>
              <a:rPr lang="ja-JP" altLang="en-US" dirty="0">
                <a:solidFill>
                  <a:srgbClr val="333333"/>
                </a:solidFill>
                <a:latin typeface="ヒラギノ角ゴPro W3"/>
              </a:rPr>
              <a:t>多数のソース・ファイルからビルドされるようなプロジェクトは結構あります。</a:t>
            </a:r>
            <a:br>
              <a:rPr lang="ja-JP" altLang="en-US" dirty="0">
                <a:solidFill>
                  <a:srgbClr val="333333"/>
                </a:solidFill>
                <a:latin typeface="ヒラギノ角ゴPro W3"/>
              </a:rPr>
            </a:br>
            <a:r>
              <a:rPr lang="ja-JP" altLang="en-US" dirty="0">
                <a:solidFill>
                  <a:srgbClr val="333333"/>
                </a:solidFill>
                <a:latin typeface="ヒラギノ角ゴPro W3"/>
              </a:rPr>
              <a:t>それをデバッグする時、毎回全てのソース・ファイルをコンパイルしているとデバッグに時間がかかってどうしようもありません。</a:t>
            </a:r>
            <a:endParaRPr lang="en-US" altLang="ja-JP" dirty="0">
              <a:solidFill>
                <a:srgbClr val="333333"/>
              </a:solidFill>
              <a:latin typeface="ヒラギノ角ゴPro W3"/>
            </a:endParaRPr>
          </a:p>
          <a:p>
            <a:endParaRPr lang="ja-JP" altLang="en-US" dirty="0">
              <a:solidFill>
                <a:srgbClr val="333333"/>
              </a:solidFill>
              <a:latin typeface="ヒラギノ角ゴPro W3"/>
            </a:endParaRPr>
          </a:p>
          <a:p>
            <a:r>
              <a:rPr lang="ja-JP" altLang="en-US" dirty="0">
                <a:solidFill>
                  <a:srgbClr val="333333"/>
                </a:solidFill>
                <a:latin typeface="ヒラギノ角ゴPro W3"/>
              </a:rPr>
              <a:t>それは避けたいので、修正したソース・ファイルだけコンパイルし、他のものは前回コンパイルした結果を使ってプロジェクトをビルドするのが一般的です。</a:t>
            </a:r>
            <a:br>
              <a:rPr lang="ja-JP" altLang="en-US" dirty="0">
                <a:solidFill>
                  <a:srgbClr val="333333"/>
                </a:solidFill>
                <a:latin typeface="ヒラギノ角ゴPro W3"/>
              </a:rPr>
            </a:br>
            <a:endParaRPr lang="en-US" altLang="ja-JP" dirty="0">
              <a:solidFill>
                <a:srgbClr val="333333"/>
              </a:solidFill>
              <a:latin typeface="ヒラギノ角ゴPro W3"/>
            </a:endParaRPr>
          </a:p>
          <a:p>
            <a:r>
              <a:rPr lang="ja-JP" altLang="en-US" dirty="0">
                <a:solidFill>
                  <a:srgbClr val="333333"/>
                </a:solidFill>
                <a:latin typeface="ヒラギノ角ゴPro W3"/>
              </a:rPr>
              <a:t>複数のソースを修正することも頻繁ですので、修正したソース・ファイルを一々指定するのは面倒です。更に、ヘッダ・ファイルを修正した場合、それをインクルードしているソース・ファイルをコンパイルする必要があります。その依存関係を覚えていて、必要なソース・ファイルを手でコンパイルするのは悪夢です。 </a:t>
            </a:r>
          </a:p>
          <a:p>
            <a:r>
              <a:rPr lang="ja-JP" altLang="en-US" dirty="0">
                <a:solidFill>
                  <a:srgbClr val="333333"/>
                </a:solidFill>
                <a:latin typeface="ヒラギノ角ゴPro W3"/>
              </a:rPr>
              <a:t>それを自動化するツールが、</a:t>
            </a:r>
            <a:r>
              <a:rPr lang="en-US" altLang="ja-JP" dirty="0">
                <a:solidFill>
                  <a:srgbClr val="333333"/>
                </a:solidFill>
                <a:latin typeface="ヒラギノ角ゴPro W3"/>
              </a:rPr>
              <a:t>make</a:t>
            </a:r>
            <a:r>
              <a:rPr lang="ja-JP" altLang="en-US" dirty="0">
                <a:solidFill>
                  <a:srgbClr val="333333"/>
                </a:solidFill>
                <a:latin typeface="ヒラギノ角ゴPro W3"/>
              </a:rPr>
              <a:t>や</a:t>
            </a:r>
            <a:r>
              <a:rPr lang="en-US" altLang="ja-JP" dirty="0" err="1">
                <a:solidFill>
                  <a:srgbClr val="333333"/>
                </a:solidFill>
                <a:latin typeface="ヒラギノ角ゴPro W3"/>
              </a:rPr>
              <a:t>MSBuild</a:t>
            </a:r>
            <a:r>
              <a:rPr lang="ja-JP" altLang="en-US" dirty="0">
                <a:solidFill>
                  <a:srgbClr val="333333"/>
                </a:solidFill>
                <a:latin typeface="ヒラギノ角ゴPro W3"/>
              </a:rPr>
              <a:t>です。（後者は</a:t>
            </a:r>
            <a:r>
              <a:rPr lang="en-US" altLang="ja-JP" dirty="0">
                <a:solidFill>
                  <a:srgbClr val="333333"/>
                </a:solidFill>
                <a:latin typeface="ヒラギノ角ゴPro W3"/>
              </a:rPr>
              <a:t>Visual Studio</a:t>
            </a:r>
            <a:r>
              <a:rPr lang="ja-JP" altLang="en-US" dirty="0">
                <a:solidFill>
                  <a:srgbClr val="333333"/>
                </a:solidFill>
                <a:latin typeface="ヒラギノ角ゴPro W3"/>
              </a:rPr>
              <a:t>で使われているビルド自動化ツールです。）</a:t>
            </a:r>
            <a:endParaRPr lang="en-US" altLang="ja-JP" dirty="0">
              <a:solidFill>
                <a:srgbClr val="333333"/>
              </a:solidFill>
              <a:latin typeface="ヒラギノ角ゴPro W3"/>
            </a:endParaRPr>
          </a:p>
          <a:p>
            <a:br>
              <a:rPr lang="ja-JP" altLang="en-US" dirty="0">
                <a:solidFill>
                  <a:srgbClr val="333333"/>
                </a:solidFill>
                <a:latin typeface="ヒラギノ角ゴPro W3"/>
              </a:rPr>
            </a:br>
            <a:r>
              <a:rPr lang="ja-JP" altLang="en-US" dirty="0">
                <a:solidFill>
                  <a:srgbClr val="333333"/>
                </a:solidFill>
                <a:latin typeface="ヒラギノ角ゴPro W3"/>
              </a:rPr>
              <a:t>それらは、設定ファイル（前者は</a:t>
            </a:r>
            <a:r>
              <a:rPr lang="en-US" altLang="ja-JP" dirty="0" err="1">
                <a:solidFill>
                  <a:srgbClr val="333333"/>
                </a:solidFill>
                <a:latin typeface="ヒラギノ角ゴPro W3"/>
              </a:rPr>
              <a:t>makefile</a:t>
            </a:r>
            <a:r>
              <a:rPr lang="ja-JP" altLang="en-US" dirty="0" err="1">
                <a:solidFill>
                  <a:srgbClr val="333333"/>
                </a:solidFill>
                <a:latin typeface="ヒラギノ角ゴPro W3"/>
              </a:rPr>
              <a:t>、</a:t>
            </a:r>
            <a:r>
              <a:rPr lang="ja-JP" altLang="en-US" dirty="0">
                <a:solidFill>
                  <a:srgbClr val="333333"/>
                </a:solidFill>
                <a:latin typeface="ヒラギノ角ゴPro W3"/>
              </a:rPr>
              <a:t>後者は*</a:t>
            </a:r>
            <a:r>
              <a:rPr lang="en-US" altLang="ja-JP" dirty="0">
                <a:solidFill>
                  <a:srgbClr val="333333"/>
                </a:solidFill>
                <a:latin typeface="ヒラギノ角ゴPro W3"/>
              </a:rPr>
              <a:t>.</a:t>
            </a:r>
            <a:r>
              <a:rPr lang="en-US" altLang="ja-JP" dirty="0" err="1">
                <a:solidFill>
                  <a:srgbClr val="333333"/>
                </a:solidFill>
                <a:latin typeface="ヒラギノ角ゴPro W3"/>
              </a:rPr>
              <a:t>proj</a:t>
            </a:r>
            <a:r>
              <a:rPr lang="ja-JP" altLang="en-US" dirty="0">
                <a:solidFill>
                  <a:srgbClr val="333333"/>
                </a:solidFill>
                <a:latin typeface="ヒラギノ角ゴPro W3"/>
              </a:rPr>
              <a:t>ファイル等）を読み込んで必要な処理を行います。 </a:t>
            </a:r>
          </a:p>
          <a:p>
            <a:r>
              <a:rPr lang="ja-JP" altLang="en-US" dirty="0">
                <a:solidFill>
                  <a:srgbClr val="333333"/>
                </a:solidFill>
                <a:latin typeface="ヒラギノ角ゴPro W3"/>
              </a:rPr>
              <a:t>さて、それらの設定ファイルを作るのは、これがまた実にたいへんです。</a:t>
            </a:r>
            <a:endParaRPr lang="en-US" altLang="ja-JP" dirty="0">
              <a:solidFill>
                <a:srgbClr val="333333"/>
              </a:solidFill>
              <a:latin typeface="ヒラギノ角ゴPro W3"/>
            </a:endParaRPr>
          </a:p>
          <a:p>
            <a:r>
              <a:rPr lang="en-US" altLang="ja-JP" dirty="0">
                <a:solidFill>
                  <a:srgbClr val="333333"/>
                </a:solidFill>
                <a:latin typeface="ヒラギノ角ゴPro W3"/>
              </a:rPr>
              <a:t>Visual Studio</a:t>
            </a:r>
            <a:r>
              <a:rPr lang="ja-JP" altLang="en-US" dirty="0">
                <a:solidFill>
                  <a:srgbClr val="333333"/>
                </a:solidFill>
                <a:latin typeface="ヒラギノ角ゴPro W3"/>
              </a:rPr>
              <a:t>は</a:t>
            </a:r>
            <a:r>
              <a:rPr lang="en-US" altLang="ja-JP" dirty="0">
                <a:solidFill>
                  <a:srgbClr val="333333"/>
                </a:solidFill>
                <a:latin typeface="ヒラギノ角ゴPro W3"/>
              </a:rPr>
              <a:t>GUI</a:t>
            </a:r>
            <a:r>
              <a:rPr lang="ja-JP" altLang="en-US" dirty="0">
                <a:solidFill>
                  <a:srgbClr val="333333"/>
                </a:solidFill>
                <a:latin typeface="ヒラギノ角ゴPro W3"/>
              </a:rPr>
              <a:t>で設定しますが、似たようなプロジェクトを作る時本当に面倒です。また、</a:t>
            </a:r>
            <a:r>
              <a:rPr lang="en-US" altLang="ja-JP" dirty="0" err="1">
                <a:solidFill>
                  <a:srgbClr val="333333"/>
                </a:solidFill>
                <a:latin typeface="ヒラギノ角ゴPro W3"/>
              </a:rPr>
              <a:t>makefile</a:t>
            </a:r>
            <a:r>
              <a:rPr lang="ja-JP" altLang="en-US" dirty="0">
                <a:solidFill>
                  <a:srgbClr val="333333"/>
                </a:solidFill>
                <a:latin typeface="ヒラギノ角ゴPro W3"/>
              </a:rPr>
              <a:t>と*</a:t>
            </a:r>
            <a:r>
              <a:rPr lang="en-US" altLang="ja-JP" dirty="0">
                <a:solidFill>
                  <a:srgbClr val="333333"/>
                </a:solidFill>
                <a:latin typeface="ヒラギノ角ゴPro W3"/>
              </a:rPr>
              <a:t>.</a:t>
            </a:r>
            <a:r>
              <a:rPr lang="en-US" altLang="ja-JP" dirty="0" err="1">
                <a:solidFill>
                  <a:srgbClr val="333333"/>
                </a:solidFill>
                <a:latin typeface="ヒラギノ角ゴPro W3"/>
              </a:rPr>
              <a:t>proj</a:t>
            </a:r>
            <a:r>
              <a:rPr lang="ja-JP" altLang="en-US" dirty="0">
                <a:solidFill>
                  <a:srgbClr val="333333"/>
                </a:solidFill>
                <a:latin typeface="ヒラギノ角ゴPro W3"/>
              </a:rPr>
              <a:t>は構文も考え方も全く異なるので、</a:t>
            </a:r>
            <a:r>
              <a:rPr lang="en-US" altLang="ja-JP" dirty="0" err="1">
                <a:solidFill>
                  <a:srgbClr val="333333"/>
                </a:solidFill>
                <a:latin typeface="ヒラギノ角ゴPro W3"/>
              </a:rPr>
              <a:t>gcc</a:t>
            </a:r>
            <a:r>
              <a:rPr lang="ja-JP" altLang="en-US" dirty="0">
                <a:solidFill>
                  <a:srgbClr val="333333"/>
                </a:solidFill>
                <a:latin typeface="ヒラギノ角ゴPro W3"/>
              </a:rPr>
              <a:t>と</a:t>
            </a:r>
            <a:r>
              <a:rPr lang="en-US" altLang="ja-JP" dirty="0">
                <a:solidFill>
                  <a:srgbClr val="333333"/>
                </a:solidFill>
                <a:latin typeface="ヒラギノ角ゴPro W3"/>
              </a:rPr>
              <a:t>Visual C++</a:t>
            </a:r>
            <a:r>
              <a:rPr lang="ja-JP" altLang="en-US" dirty="0">
                <a:solidFill>
                  <a:srgbClr val="333333"/>
                </a:solidFill>
                <a:latin typeface="ヒラギノ角ゴPro W3"/>
              </a:rPr>
              <a:t>の両方でビルドできるプロジェクトを作るのも正直悪夢です。 </a:t>
            </a:r>
          </a:p>
          <a:p>
            <a:r>
              <a:rPr lang="ja-JP" altLang="en-US" dirty="0">
                <a:solidFill>
                  <a:srgbClr val="333333"/>
                </a:solidFill>
                <a:latin typeface="ヒラギノ角ゴPro W3"/>
              </a:rPr>
              <a:t>その悪夢を回避するツールが</a:t>
            </a:r>
            <a:r>
              <a:rPr lang="en-US" altLang="ja-JP" dirty="0" err="1">
                <a:solidFill>
                  <a:srgbClr val="333333"/>
                </a:solidFill>
                <a:latin typeface="ヒラギノ角ゴPro W3"/>
              </a:rPr>
              <a:t>CMake</a:t>
            </a:r>
            <a:r>
              <a:rPr lang="ja-JP" altLang="en-US" dirty="0">
                <a:solidFill>
                  <a:srgbClr val="333333"/>
                </a:solidFill>
                <a:latin typeface="ヒラギノ角ゴPro W3"/>
              </a:rPr>
              <a:t>です。これを使うと、</a:t>
            </a:r>
            <a:r>
              <a:rPr lang="en-US" altLang="ja-JP" dirty="0" err="1">
                <a:solidFill>
                  <a:srgbClr val="333333"/>
                </a:solidFill>
                <a:latin typeface="ヒラギノ角ゴPro W3"/>
              </a:rPr>
              <a:t>makefile</a:t>
            </a:r>
            <a:r>
              <a:rPr lang="ja-JP" altLang="en-US" dirty="0">
                <a:solidFill>
                  <a:srgbClr val="333333"/>
                </a:solidFill>
                <a:latin typeface="ヒラギノ角ゴPro W3"/>
              </a:rPr>
              <a:t>や*</a:t>
            </a:r>
            <a:r>
              <a:rPr lang="en-US" altLang="ja-JP" dirty="0">
                <a:solidFill>
                  <a:srgbClr val="333333"/>
                </a:solidFill>
                <a:latin typeface="ヒラギノ角ゴPro W3"/>
              </a:rPr>
              <a:t>.</a:t>
            </a:r>
            <a:r>
              <a:rPr lang="en-US" altLang="ja-JP" dirty="0" err="1">
                <a:solidFill>
                  <a:srgbClr val="333333"/>
                </a:solidFill>
                <a:latin typeface="ヒラギノ角ゴPro W3"/>
              </a:rPr>
              <a:t>proj</a:t>
            </a:r>
            <a:r>
              <a:rPr lang="ja-JP" altLang="en-US" dirty="0">
                <a:solidFill>
                  <a:srgbClr val="333333"/>
                </a:solidFill>
                <a:latin typeface="ヒラギノ角ゴPro W3"/>
              </a:rPr>
              <a:t>に比べると簡単な</a:t>
            </a:r>
            <a:r>
              <a:rPr lang="en-US" altLang="ja-JP" dirty="0">
                <a:solidFill>
                  <a:srgbClr val="333333"/>
                </a:solidFill>
                <a:latin typeface="ヒラギノ角ゴPro W3"/>
              </a:rPr>
              <a:t>CMakeLists.txt</a:t>
            </a:r>
            <a:r>
              <a:rPr lang="ja-JP" altLang="en-US" dirty="0">
                <a:solidFill>
                  <a:srgbClr val="333333"/>
                </a:solidFill>
                <a:latin typeface="ヒラギノ角ゴPro W3"/>
              </a:rPr>
              <a:t>を書けば、</a:t>
            </a:r>
            <a:r>
              <a:rPr lang="en-US" altLang="ja-JP" dirty="0" err="1">
                <a:solidFill>
                  <a:srgbClr val="333333"/>
                </a:solidFill>
                <a:latin typeface="ヒラギノ角ゴPro W3"/>
              </a:rPr>
              <a:t>makefile</a:t>
            </a:r>
            <a:r>
              <a:rPr lang="ja-JP" altLang="en-US" dirty="0">
                <a:solidFill>
                  <a:srgbClr val="333333"/>
                </a:solidFill>
                <a:latin typeface="ヒラギノ角ゴPro W3"/>
              </a:rPr>
              <a:t>や*</a:t>
            </a:r>
            <a:r>
              <a:rPr lang="en-US" altLang="ja-JP" dirty="0">
                <a:solidFill>
                  <a:srgbClr val="333333"/>
                </a:solidFill>
                <a:latin typeface="ヒラギノ角ゴPro W3"/>
              </a:rPr>
              <a:t>.</a:t>
            </a:r>
            <a:r>
              <a:rPr lang="en-US" altLang="ja-JP" dirty="0" err="1">
                <a:solidFill>
                  <a:srgbClr val="333333"/>
                </a:solidFill>
                <a:latin typeface="ヒラギノ角ゴPro W3"/>
              </a:rPr>
              <a:t>proj</a:t>
            </a:r>
            <a:r>
              <a:rPr lang="ja-JP" altLang="en-US" dirty="0">
                <a:solidFill>
                  <a:srgbClr val="333333"/>
                </a:solidFill>
                <a:latin typeface="ヒラギノ角ゴPro W3"/>
              </a:rPr>
              <a:t>を自動生成できます。マルチプラット・フォームなプロジェクトを作る時には非常に重宝します。</a:t>
            </a:r>
            <a:endParaRPr lang="en-US" altLang="ja-JP" dirty="0">
              <a:solidFill>
                <a:srgbClr val="333333"/>
              </a:solidFill>
              <a:latin typeface="ヒラギノ角ゴPro W3"/>
            </a:endParaRPr>
          </a:p>
          <a:p>
            <a:br>
              <a:rPr lang="ja-JP" altLang="en-US" dirty="0">
                <a:solidFill>
                  <a:srgbClr val="333333"/>
                </a:solidFill>
                <a:latin typeface="ヒラギノ角ゴPro W3"/>
              </a:rPr>
            </a:br>
            <a:r>
              <a:rPr lang="en-US" altLang="ja-JP" dirty="0">
                <a:solidFill>
                  <a:srgbClr val="333333"/>
                </a:solidFill>
                <a:latin typeface="ヒラギノ角ゴPro W3"/>
              </a:rPr>
              <a:t>Windows</a:t>
            </a:r>
            <a:r>
              <a:rPr lang="ja-JP" altLang="en-US" dirty="0" err="1">
                <a:solidFill>
                  <a:srgbClr val="333333"/>
                </a:solidFill>
                <a:latin typeface="ヒラギノ角ゴPro W3"/>
              </a:rPr>
              <a:t>だけの</a:t>
            </a:r>
            <a:r>
              <a:rPr lang="ja-JP" altLang="en-US" dirty="0">
                <a:solidFill>
                  <a:srgbClr val="333333"/>
                </a:solidFill>
                <a:latin typeface="ヒラギノ角ゴPro W3"/>
              </a:rPr>
              <a:t>場合でも、</a:t>
            </a:r>
            <a:r>
              <a:rPr lang="en-US" altLang="ja-JP" dirty="0">
                <a:solidFill>
                  <a:srgbClr val="333333"/>
                </a:solidFill>
                <a:latin typeface="ヒラギノ角ゴPro W3"/>
              </a:rPr>
              <a:t>GUI</a:t>
            </a:r>
            <a:r>
              <a:rPr lang="ja-JP" altLang="en-US" dirty="0">
                <a:solidFill>
                  <a:srgbClr val="333333"/>
                </a:solidFill>
                <a:latin typeface="ヒラギノ角ゴPro W3"/>
              </a:rPr>
              <a:t>で一々設定するのはかなり大変ですからやはり重宝します。</a:t>
            </a:r>
            <a:endParaRPr lang="ja-JP" altLang="en-US" b="0" i="0" u="none" strike="noStrike" dirty="0">
              <a:solidFill>
                <a:srgbClr val="333333"/>
              </a:solidFill>
              <a:effectLst/>
              <a:latin typeface="ヒラギノ角ゴPro W3"/>
            </a:endParaRPr>
          </a:p>
        </p:txBody>
      </p:sp>
    </p:spTree>
    <p:extLst>
      <p:ext uri="{BB962C8B-B14F-4D97-AF65-F5344CB8AC3E}">
        <p14:creationId xmlns:p14="http://schemas.microsoft.com/office/powerpoint/2010/main" val="2382487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424029" y="2863700"/>
            <a:ext cx="7303866" cy="1104002"/>
          </a:xfrm>
        </p:spPr>
        <p:txBody>
          <a:bodyPr>
            <a:normAutofit/>
          </a:bodyPr>
          <a:lstStyle/>
          <a:p>
            <a:r>
              <a:rPr lang="en-US" altLang="ja-JP" dirty="0" err="1"/>
              <a:t>Cmake</a:t>
            </a:r>
            <a:r>
              <a:rPr lang="ja-JP" altLang="en-US" dirty="0"/>
              <a:t>インストール</a:t>
            </a:r>
            <a:endParaRPr kumimoji="1" lang="ja-JP" altLang="en-US" dirty="0"/>
          </a:p>
        </p:txBody>
      </p:sp>
    </p:spTree>
    <p:extLst>
      <p:ext uri="{BB962C8B-B14F-4D97-AF65-F5344CB8AC3E}">
        <p14:creationId xmlns:p14="http://schemas.microsoft.com/office/powerpoint/2010/main" val="3386196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289054" y="3464672"/>
            <a:ext cx="8371202" cy="830997"/>
          </a:xfrm>
          <a:prstGeom prst="rect">
            <a:avLst/>
          </a:prstGeom>
        </p:spPr>
        <p:txBody>
          <a:bodyPr wrap="none">
            <a:spAutoFit/>
          </a:bodyPr>
          <a:lstStyle/>
          <a:p>
            <a:r>
              <a:rPr lang="ja-JP" altLang="en-US" sz="4800" dirty="0"/>
              <a:t>cmake-3.15.</a:t>
            </a:r>
            <a:r>
              <a:rPr lang="en-US" altLang="ja-JP" sz="4800" dirty="0"/>
              <a:t>2</a:t>
            </a:r>
            <a:r>
              <a:rPr lang="ja-JP" altLang="en-US" sz="4800" dirty="0"/>
              <a:t>-win64-x64.msi</a:t>
            </a:r>
          </a:p>
        </p:txBody>
      </p:sp>
      <p:sp>
        <p:nvSpPr>
          <p:cNvPr id="5" name="正方形/長方形 4"/>
          <p:cNvSpPr/>
          <p:nvPr/>
        </p:nvSpPr>
        <p:spPr>
          <a:xfrm>
            <a:off x="1686105" y="1404517"/>
            <a:ext cx="5638082" cy="830997"/>
          </a:xfrm>
          <a:prstGeom prst="rect">
            <a:avLst/>
          </a:prstGeom>
        </p:spPr>
        <p:txBody>
          <a:bodyPr wrap="none">
            <a:spAutoFit/>
          </a:bodyPr>
          <a:lstStyle/>
          <a:p>
            <a:r>
              <a:rPr lang="ja-JP" altLang="en-US" sz="4800" dirty="0"/>
              <a:t>https://cmake.org/</a:t>
            </a:r>
          </a:p>
        </p:txBody>
      </p:sp>
    </p:spTree>
    <p:extLst>
      <p:ext uri="{BB962C8B-B14F-4D97-AF65-F5344CB8AC3E}">
        <p14:creationId xmlns:p14="http://schemas.microsoft.com/office/powerpoint/2010/main" val="758463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344246" y="2743199"/>
            <a:ext cx="10074031" cy="1161979"/>
          </a:xfrm>
        </p:spPr>
        <p:txBody>
          <a:bodyPr>
            <a:normAutofit fontScale="90000"/>
          </a:bodyPr>
          <a:lstStyle/>
          <a:p>
            <a:r>
              <a:rPr lang="en-US" altLang="ja-JP" dirty="0" err="1"/>
              <a:t>assimp</a:t>
            </a:r>
            <a:r>
              <a:rPr lang="ja-JP" altLang="en-US" dirty="0"/>
              <a:t>のライブラリを作成する</a:t>
            </a:r>
            <a:endParaRPr kumimoji="1" lang="ja-JP" altLang="en-US" dirty="0"/>
          </a:p>
        </p:txBody>
      </p:sp>
    </p:spTree>
    <p:extLst>
      <p:ext uri="{BB962C8B-B14F-4D97-AF65-F5344CB8AC3E}">
        <p14:creationId xmlns:p14="http://schemas.microsoft.com/office/powerpoint/2010/main" val="106318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069926" y="2743199"/>
            <a:ext cx="10074031" cy="1161979"/>
          </a:xfrm>
        </p:spPr>
        <p:txBody>
          <a:bodyPr>
            <a:normAutofit/>
          </a:bodyPr>
          <a:lstStyle/>
          <a:p>
            <a:r>
              <a:rPr kumimoji="1" lang="en-US" altLang="ja-JP" dirty="0" err="1"/>
              <a:t>cmake-gui</a:t>
            </a:r>
            <a:r>
              <a:rPr kumimoji="1" lang="ja-JP" altLang="en-US" dirty="0"/>
              <a:t>を起動</a:t>
            </a:r>
          </a:p>
        </p:txBody>
      </p:sp>
    </p:spTree>
    <p:extLst>
      <p:ext uri="{BB962C8B-B14F-4D97-AF65-F5344CB8AC3E}">
        <p14:creationId xmlns:p14="http://schemas.microsoft.com/office/powerpoint/2010/main" val="2378224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484556" y="257908"/>
            <a:ext cx="9623746" cy="5212862"/>
          </a:xfrm>
          <a:prstGeom prst="rect">
            <a:avLst/>
          </a:prstGeom>
        </p:spPr>
      </p:pic>
      <p:sp>
        <p:nvSpPr>
          <p:cNvPr id="6" name="楕円 5"/>
          <p:cNvSpPr/>
          <p:nvPr/>
        </p:nvSpPr>
        <p:spPr>
          <a:xfrm>
            <a:off x="1086339" y="461108"/>
            <a:ext cx="1281724" cy="2110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吹き出し 7"/>
          <p:cNvSpPr/>
          <p:nvPr/>
        </p:nvSpPr>
        <p:spPr>
          <a:xfrm>
            <a:off x="3216030" y="1755726"/>
            <a:ext cx="5232401" cy="406400"/>
          </a:xfrm>
          <a:prstGeom prst="wedgeRectCallout">
            <a:avLst>
              <a:gd name="adj1" fmla="val -66360"/>
              <a:gd name="adj2" fmla="val -329807"/>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ja-JP" dirty="0"/>
          </a:p>
          <a:p>
            <a:pPr algn="ctr"/>
            <a:r>
              <a:rPr lang="ja-JP" altLang="en-US" dirty="0">
                <a:solidFill>
                  <a:schemeClr val="tx1"/>
                </a:solidFill>
              </a:rPr>
              <a:t>CMakeLists.txtの存在するディレクトリ</a:t>
            </a:r>
          </a:p>
          <a:p>
            <a:pPr algn="ctr"/>
            <a:endParaRPr kumimoji="1" lang="ja-JP" altLang="en-US" dirty="0"/>
          </a:p>
        </p:txBody>
      </p:sp>
      <p:sp>
        <p:nvSpPr>
          <p:cNvPr id="9" name="楕円 8"/>
          <p:cNvSpPr/>
          <p:nvPr/>
        </p:nvSpPr>
        <p:spPr>
          <a:xfrm>
            <a:off x="1086338" y="672123"/>
            <a:ext cx="1281724" cy="1328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p:cNvSpPr/>
          <p:nvPr/>
        </p:nvSpPr>
        <p:spPr>
          <a:xfrm>
            <a:off x="2008553" y="2994465"/>
            <a:ext cx="5232401" cy="406400"/>
          </a:xfrm>
          <a:prstGeom prst="wedgeRectCallout">
            <a:avLst>
              <a:gd name="adj1" fmla="val -62775"/>
              <a:gd name="adj2" fmla="val -591346"/>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ja-JP" dirty="0"/>
          </a:p>
          <a:p>
            <a:pPr algn="ctr"/>
            <a:r>
              <a:rPr lang="ja-JP" altLang="en-US" dirty="0">
                <a:solidFill>
                  <a:schemeClr val="tx1"/>
                </a:solidFill>
              </a:rPr>
              <a:t>ビルドする際に使用するワークディレクトリ</a:t>
            </a:r>
          </a:p>
          <a:p>
            <a:pPr algn="ctr"/>
            <a:endParaRPr kumimoji="1" lang="ja-JP" altLang="en-US" dirty="0"/>
          </a:p>
        </p:txBody>
      </p:sp>
    </p:spTree>
    <p:extLst>
      <p:ext uri="{BB962C8B-B14F-4D97-AF65-F5344CB8AC3E}">
        <p14:creationId xmlns:p14="http://schemas.microsoft.com/office/powerpoint/2010/main" val="3778691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2885337" y="1931151"/>
            <a:ext cx="4060224" cy="1712720"/>
          </a:xfrm>
          <a:prstGeom prst="rect">
            <a:avLst/>
          </a:prstGeom>
        </p:spPr>
      </p:pic>
      <p:sp>
        <p:nvSpPr>
          <p:cNvPr id="4" name="タイトル 1"/>
          <p:cNvSpPr>
            <a:spLocks noGrp="1"/>
          </p:cNvSpPr>
          <p:nvPr>
            <p:ph type="ctrTitle"/>
          </p:nvPr>
        </p:nvSpPr>
        <p:spPr>
          <a:xfrm>
            <a:off x="720917" y="303381"/>
            <a:ext cx="7866492" cy="1104002"/>
          </a:xfrm>
        </p:spPr>
        <p:txBody>
          <a:bodyPr>
            <a:normAutofit/>
          </a:bodyPr>
          <a:lstStyle/>
          <a:p>
            <a:r>
              <a:rPr lang="en-US" altLang="ja-JP" dirty="0"/>
              <a:t>configure</a:t>
            </a:r>
            <a:r>
              <a:rPr lang="ja-JP" altLang="en-US" dirty="0"/>
              <a:t>ボタンを押下</a:t>
            </a:r>
            <a:endParaRPr kumimoji="1" lang="ja-JP" altLang="en-US" dirty="0"/>
          </a:p>
        </p:txBody>
      </p:sp>
      <p:sp>
        <p:nvSpPr>
          <p:cNvPr id="6" name="タイトル 1"/>
          <p:cNvSpPr txBox="1">
            <a:spLocks/>
          </p:cNvSpPr>
          <p:nvPr/>
        </p:nvSpPr>
        <p:spPr>
          <a:xfrm>
            <a:off x="986639" y="4900247"/>
            <a:ext cx="10103391" cy="108633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en-US" altLang="ja-JP" sz="3200" dirty="0"/>
              <a:t>Configure</a:t>
            </a:r>
            <a:r>
              <a:rPr lang="ja-JP" altLang="en-US" sz="3200" dirty="0"/>
              <a:t>とは、</a:t>
            </a:r>
            <a:endParaRPr lang="en-US" altLang="ja-JP" sz="3200" dirty="0"/>
          </a:p>
          <a:p>
            <a:pPr algn="l"/>
            <a:r>
              <a:rPr lang="ja-JP" altLang="en-US" sz="3200" dirty="0"/>
              <a:t>ビルドするためのＭＡＫＥファイルを自動生成する事</a:t>
            </a:r>
            <a:endParaRPr lang="en-US" altLang="ja-JP" sz="3200" dirty="0"/>
          </a:p>
        </p:txBody>
      </p:sp>
    </p:spTree>
    <p:extLst>
      <p:ext uri="{BB962C8B-B14F-4D97-AF65-F5344CB8AC3E}">
        <p14:creationId xmlns:p14="http://schemas.microsoft.com/office/powerpoint/2010/main" val="4027612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ctrTitle"/>
          </p:nvPr>
        </p:nvSpPr>
        <p:spPr>
          <a:xfrm>
            <a:off x="720917" y="303381"/>
            <a:ext cx="7866492" cy="1104002"/>
          </a:xfrm>
        </p:spPr>
        <p:txBody>
          <a:bodyPr>
            <a:normAutofit/>
          </a:bodyPr>
          <a:lstStyle/>
          <a:p>
            <a:r>
              <a:rPr lang="en-US" altLang="ja-JP" dirty="0"/>
              <a:t>yes</a:t>
            </a:r>
            <a:r>
              <a:rPr lang="ja-JP" altLang="en-US" dirty="0"/>
              <a:t>ボタンを押下</a:t>
            </a:r>
            <a:endParaRPr kumimoji="1" lang="ja-JP" altLang="en-US" dirty="0"/>
          </a:p>
        </p:txBody>
      </p:sp>
      <p:pic>
        <p:nvPicPr>
          <p:cNvPr id="5" name="図 4"/>
          <p:cNvPicPr>
            <a:picLocks noChangeAspect="1"/>
          </p:cNvPicPr>
          <p:nvPr/>
        </p:nvPicPr>
        <p:blipFill>
          <a:blip r:embed="rId2"/>
          <a:stretch>
            <a:fillRect/>
          </a:stretch>
        </p:blipFill>
        <p:spPr>
          <a:xfrm>
            <a:off x="2626429" y="1536925"/>
            <a:ext cx="5199349" cy="3852904"/>
          </a:xfrm>
          <a:prstGeom prst="rect">
            <a:avLst/>
          </a:prstGeom>
        </p:spPr>
      </p:pic>
    </p:spTree>
    <p:extLst>
      <p:ext uri="{BB962C8B-B14F-4D97-AF65-F5344CB8AC3E}">
        <p14:creationId xmlns:p14="http://schemas.microsoft.com/office/powerpoint/2010/main" val="1688158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500185" y="467295"/>
            <a:ext cx="11127304" cy="6027290"/>
          </a:xfrm>
          <a:prstGeom prst="rect">
            <a:avLst/>
          </a:prstGeom>
        </p:spPr>
      </p:pic>
    </p:spTree>
    <p:extLst>
      <p:ext uri="{BB962C8B-B14F-4D97-AF65-F5344CB8AC3E}">
        <p14:creationId xmlns:p14="http://schemas.microsoft.com/office/powerpoint/2010/main" val="4170910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ctrTitle"/>
          </p:nvPr>
        </p:nvSpPr>
        <p:spPr>
          <a:xfrm>
            <a:off x="494270" y="897349"/>
            <a:ext cx="10830221" cy="1705173"/>
          </a:xfrm>
        </p:spPr>
        <p:txBody>
          <a:bodyPr>
            <a:normAutofit fontScale="90000"/>
          </a:bodyPr>
          <a:lstStyle/>
          <a:p>
            <a:r>
              <a:rPr lang="ja-JP" altLang="en-US" dirty="0"/>
              <a:t>ライブラリファイルを出力するディレクトリを設定する</a:t>
            </a:r>
            <a:endParaRPr kumimoji="1" lang="ja-JP" altLang="en-US" dirty="0"/>
          </a:p>
        </p:txBody>
      </p:sp>
      <p:sp>
        <p:nvSpPr>
          <p:cNvPr id="5" name="タイトル 1"/>
          <p:cNvSpPr txBox="1">
            <a:spLocks/>
          </p:cNvSpPr>
          <p:nvPr/>
        </p:nvSpPr>
        <p:spPr>
          <a:xfrm>
            <a:off x="232455" y="3540370"/>
            <a:ext cx="10830221" cy="1058984"/>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a:t>CMAKE_INSTALL_PREFIX</a:t>
            </a:r>
            <a:endParaRPr lang="ja-JP" altLang="en-US" dirty="0"/>
          </a:p>
        </p:txBody>
      </p:sp>
      <p:sp>
        <p:nvSpPr>
          <p:cNvPr id="2" name="正方形/長方形 1"/>
          <p:cNvSpPr/>
          <p:nvPr/>
        </p:nvSpPr>
        <p:spPr>
          <a:xfrm>
            <a:off x="2973153" y="5075537"/>
            <a:ext cx="3504486" cy="923330"/>
          </a:xfrm>
          <a:prstGeom prst="rect">
            <a:avLst/>
          </a:prstGeom>
        </p:spPr>
        <p:txBody>
          <a:bodyPr wrap="none">
            <a:spAutoFit/>
          </a:bodyPr>
          <a:lstStyle/>
          <a:p>
            <a:r>
              <a:rPr lang="ja-JP" altLang="en-US" sz="5400" dirty="0"/>
              <a:t>D:/assimp</a:t>
            </a:r>
          </a:p>
        </p:txBody>
      </p:sp>
    </p:spTree>
    <p:extLst>
      <p:ext uri="{BB962C8B-B14F-4D97-AF65-F5344CB8AC3E}">
        <p14:creationId xmlns:p14="http://schemas.microsoft.com/office/powerpoint/2010/main" val="4109639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p:cNvPicPr>
            <a:picLocks noChangeAspect="1"/>
          </p:cNvPicPr>
          <p:nvPr/>
        </p:nvPicPr>
        <p:blipFill>
          <a:blip r:embed="rId2"/>
          <a:stretch>
            <a:fillRect/>
          </a:stretch>
        </p:blipFill>
        <p:spPr>
          <a:xfrm>
            <a:off x="117231" y="272887"/>
            <a:ext cx="11926275" cy="6460066"/>
          </a:xfrm>
          <a:prstGeom prst="rect">
            <a:avLst/>
          </a:prstGeom>
        </p:spPr>
      </p:pic>
    </p:spTree>
    <p:extLst>
      <p:ext uri="{BB962C8B-B14F-4D97-AF65-F5344CB8AC3E}">
        <p14:creationId xmlns:p14="http://schemas.microsoft.com/office/powerpoint/2010/main" val="8374720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ctrTitle"/>
          </p:nvPr>
        </p:nvSpPr>
        <p:spPr>
          <a:xfrm>
            <a:off x="877224" y="678519"/>
            <a:ext cx="7866492" cy="1104002"/>
          </a:xfrm>
        </p:spPr>
        <p:txBody>
          <a:bodyPr>
            <a:normAutofit/>
          </a:bodyPr>
          <a:lstStyle/>
          <a:p>
            <a:r>
              <a:rPr lang="en-US" altLang="ja-JP" dirty="0"/>
              <a:t>generate</a:t>
            </a:r>
            <a:r>
              <a:rPr lang="ja-JP" altLang="en-US" dirty="0"/>
              <a:t>ボタンを押下</a:t>
            </a:r>
            <a:endParaRPr kumimoji="1" lang="ja-JP" altLang="en-US" dirty="0"/>
          </a:p>
        </p:txBody>
      </p:sp>
      <p:sp>
        <p:nvSpPr>
          <p:cNvPr id="6" name="タイトル 1"/>
          <p:cNvSpPr txBox="1">
            <a:spLocks/>
          </p:cNvSpPr>
          <p:nvPr/>
        </p:nvSpPr>
        <p:spPr>
          <a:xfrm>
            <a:off x="1772085" y="3003596"/>
            <a:ext cx="8356653" cy="1458988"/>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a:t>visual studio2017</a:t>
            </a:r>
            <a:r>
              <a:rPr lang="ja-JP" altLang="en-US" dirty="0"/>
              <a:t>用のプロジェクトを生成する</a:t>
            </a:r>
          </a:p>
        </p:txBody>
      </p:sp>
    </p:spTree>
    <p:extLst>
      <p:ext uri="{BB962C8B-B14F-4D97-AF65-F5344CB8AC3E}">
        <p14:creationId xmlns:p14="http://schemas.microsoft.com/office/powerpoint/2010/main" val="22137871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p:cNvPicPr>
            <a:picLocks noChangeAspect="1"/>
          </p:cNvPicPr>
          <p:nvPr/>
        </p:nvPicPr>
        <p:blipFill>
          <a:blip r:embed="rId2"/>
          <a:stretch>
            <a:fillRect/>
          </a:stretch>
        </p:blipFill>
        <p:spPr>
          <a:xfrm>
            <a:off x="375139" y="335736"/>
            <a:ext cx="11449537" cy="6201833"/>
          </a:xfrm>
          <a:prstGeom prst="rect">
            <a:avLst/>
          </a:prstGeom>
        </p:spPr>
      </p:pic>
    </p:spTree>
    <p:extLst>
      <p:ext uri="{BB962C8B-B14F-4D97-AF65-F5344CB8AC3E}">
        <p14:creationId xmlns:p14="http://schemas.microsoft.com/office/powerpoint/2010/main" val="2620396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ctrTitle"/>
          </p:nvPr>
        </p:nvSpPr>
        <p:spPr>
          <a:xfrm>
            <a:off x="877223" y="678519"/>
            <a:ext cx="9525053" cy="1104002"/>
          </a:xfrm>
        </p:spPr>
        <p:txBody>
          <a:bodyPr>
            <a:normAutofit/>
          </a:bodyPr>
          <a:lstStyle/>
          <a:p>
            <a:r>
              <a:rPr lang="en-US" altLang="ja-JP" dirty="0"/>
              <a:t>open project</a:t>
            </a:r>
            <a:r>
              <a:rPr lang="ja-JP" altLang="en-US" dirty="0"/>
              <a:t>ボタンを押下</a:t>
            </a:r>
            <a:endParaRPr kumimoji="1" lang="ja-JP" altLang="en-US" dirty="0"/>
          </a:p>
        </p:txBody>
      </p:sp>
      <p:sp>
        <p:nvSpPr>
          <p:cNvPr id="6" name="タイトル 1"/>
          <p:cNvSpPr txBox="1">
            <a:spLocks/>
          </p:cNvSpPr>
          <p:nvPr/>
        </p:nvSpPr>
        <p:spPr>
          <a:xfrm>
            <a:off x="1772085" y="3003596"/>
            <a:ext cx="8356653" cy="1458988"/>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a:t>visual studio2017</a:t>
            </a:r>
            <a:r>
              <a:rPr lang="ja-JP" altLang="en-US" dirty="0"/>
              <a:t>を使用してﾌﾟﾛｼﾞｪｸﾄを開く</a:t>
            </a:r>
          </a:p>
        </p:txBody>
      </p:sp>
    </p:spTree>
    <p:extLst>
      <p:ext uri="{BB962C8B-B14F-4D97-AF65-F5344CB8AC3E}">
        <p14:creationId xmlns:p14="http://schemas.microsoft.com/office/powerpoint/2010/main" val="1833269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ctrTitle"/>
          </p:nvPr>
        </p:nvSpPr>
        <p:spPr>
          <a:xfrm>
            <a:off x="822515" y="1952426"/>
            <a:ext cx="9525053" cy="1104002"/>
          </a:xfrm>
        </p:spPr>
        <p:txBody>
          <a:bodyPr>
            <a:normAutofit fontScale="90000"/>
          </a:bodyPr>
          <a:lstStyle/>
          <a:p>
            <a:r>
              <a:rPr kumimoji="1" lang="en-US" altLang="ja-JP" dirty="0"/>
              <a:t>VISUAL STUDIO</a:t>
            </a:r>
            <a:r>
              <a:rPr lang="ja-JP" altLang="en-US" dirty="0"/>
              <a:t>のプロパティ設定で必要なライブラリを生成する</a:t>
            </a:r>
            <a:endParaRPr kumimoji="1" lang="ja-JP" altLang="en-US" dirty="0"/>
          </a:p>
        </p:txBody>
      </p:sp>
      <p:sp>
        <p:nvSpPr>
          <p:cNvPr id="5" name="タイトル 1"/>
          <p:cNvSpPr txBox="1">
            <a:spLocks/>
          </p:cNvSpPr>
          <p:nvPr/>
        </p:nvSpPr>
        <p:spPr>
          <a:xfrm>
            <a:off x="1068702" y="3628827"/>
            <a:ext cx="3034376" cy="9509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err="1"/>
              <a:t>assimp</a:t>
            </a:r>
            <a:endParaRPr lang="ja-JP" altLang="en-US" dirty="0"/>
          </a:p>
        </p:txBody>
      </p:sp>
      <p:sp>
        <p:nvSpPr>
          <p:cNvPr id="6" name="タイトル 1"/>
          <p:cNvSpPr txBox="1">
            <a:spLocks/>
          </p:cNvSpPr>
          <p:nvPr/>
        </p:nvSpPr>
        <p:spPr>
          <a:xfrm>
            <a:off x="1139040" y="4579815"/>
            <a:ext cx="3034376" cy="950988"/>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err="1"/>
              <a:t>assimp_cmd</a:t>
            </a:r>
            <a:endParaRPr lang="ja-JP" altLang="en-US" dirty="0"/>
          </a:p>
        </p:txBody>
      </p:sp>
      <p:sp>
        <p:nvSpPr>
          <p:cNvPr id="7" name="タイトル 1"/>
          <p:cNvSpPr txBox="1">
            <a:spLocks/>
          </p:cNvSpPr>
          <p:nvPr/>
        </p:nvSpPr>
        <p:spPr>
          <a:xfrm>
            <a:off x="1309976" y="5853721"/>
            <a:ext cx="1346252" cy="745299"/>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a:t>unit</a:t>
            </a:r>
            <a:endParaRPr lang="ja-JP" altLang="en-US" dirty="0"/>
          </a:p>
        </p:txBody>
      </p:sp>
      <p:sp>
        <p:nvSpPr>
          <p:cNvPr id="8" name="タイトル 1"/>
          <p:cNvSpPr txBox="1">
            <a:spLocks/>
          </p:cNvSpPr>
          <p:nvPr/>
        </p:nvSpPr>
        <p:spPr>
          <a:xfrm>
            <a:off x="6300099" y="3731671"/>
            <a:ext cx="1346252" cy="745299"/>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err="1"/>
              <a:t>zlib</a:t>
            </a:r>
            <a:endParaRPr lang="ja-JP" altLang="en-US" dirty="0"/>
          </a:p>
        </p:txBody>
      </p:sp>
      <p:sp>
        <p:nvSpPr>
          <p:cNvPr id="9" name="タイトル 1"/>
          <p:cNvSpPr txBox="1">
            <a:spLocks/>
          </p:cNvSpPr>
          <p:nvPr/>
        </p:nvSpPr>
        <p:spPr>
          <a:xfrm>
            <a:off x="6300099" y="4740179"/>
            <a:ext cx="2390609" cy="824068"/>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err="1"/>
              <a:t>zlibstatic</a:t>
            </a:r>
            <a:endParaRPr lang="ja-JP" altLang="en-US" dirty="0"/>
          </a:p>
        </p:txBody>
      </p:sp>
      <p:sp>
        <p:nvSpPr>
          <p:cNvPr id="10" name="タイトル 1"/>
          <p:cNvSpPr txBox="1">
            <a:spLocks/>
          </p:cNvSpPr>
          <p:nvPr/>
        </p:nvSpPr>
        <p:spPr>
          <a:xfrm>
            <a:off x="6300098" y="5814336"/>
            <a:ext cx="2390609" cy="824068"/>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err="1"/>
              <a:t>IrrXML</a:t>
            </a:r>
            <a:endParaRPr lang="ja-JP" altLang="en-US" dirty="0"/>
          </a:p>
        </p:txBody>
      </p:sp>
    </p:spTree>
    <p:extLst>
      <p:ext uri="{BB962C8B-B14F-4D97-AF65-F5344CB8AC3E}">
        <p14:creationId xmlns:p14="http://schemas.microsoft.com/office/powerpoint/2010/main" val="4287134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stretch>
            <a:fillRect/>
          </a:stretch>
        </p:blipFill>
        <p:spPr>
          <a:xfrm>
            <a:off x="1352061" y="252181"/>
            <a:ext cx="9068582" cy="6281481"/>
          </a:xfrm>
          <a:prstGeom prst="rect">
            <a:avLst/>
          </a:prstGeom>
        </p:spPr>
      </p:pic>
    </p:spTree>
    <p:extLst>
      <p:ext uri="{BB962C8B-B14F-4D97-AF65-F5344CB8AC3E}">
        <p14:creationId xmlns:p14="http://schemas.microsoft.com/office/powerpoint/2010/main" val="2942335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ctrTitle"/>
          </p:nvPr>
        </p:nvSpPr>
        <p:spPr>
          <a:xfrm>
            <a:off x="877223" y="678519"/>
            <a:ext cx="9525053" cy="1104002"/>
          </a:xfrm>
        </p:spPr>
        <p:txBody>
          <a:bodyPr>
            <a:normAutofit/>
          </a:bodyPr>
          <a:lstStyle/>
          <a:p>
            <a:pPr algn="l"/>
            <a:r>
              <a:rPr lang="ja-JP" altLang="en-US" dirty="0"/>
              <a:t>ビルドを行う</a:t>
            </a:r>
            <a:endParaRPr kumimoji="1" lang="ja-JP" altLang="en-US" dirty="0"/>
          </a:p>
        </p:txBody>
      </p:sp>
      <p:sp>
        <p:nvSpPr>
          <p:cNvPr id="5" name="タイトル 1"/>
          <p:cNvSpPr txBox="1">
            <a:spLocks/>
          </p:cNvSpPr>
          <p:nvPr/>
        </p:nvSpPr>
        <p:spPr>
          <a:xfrm>
            <a:off x="1443839" y="2245503"/>
            <a:ext cx="9525053" cy="1474620"/>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dirty="0"/>
              <a:t>注意点</a:t>
            </a:r>
            <a:endParaRPr lang="en-US" altLang="ja-JP" dirty="0"/>
          </a:p>
          <a:p>
            <a:pPr algn="l"/>
            <a:r>
              <a:rPr lang="ja-JP" altLang="en-US" dirty="0"/>
              <a:t>　　</a:t>
            </a:r>
            <a:endParaRPr lang="en-US" altLang="ja-JP" dirty="0"/>
          </a:p>
          <a:p>
            <a:pPr algn="l"/>
            <a:r>
              <a:rPr lang="ja-JP" altLang="en-US" dirty="0"/>
              <a:t>ａｓｓｉｍｐを使用するアプリケーションの設定</a:t>
            </a:r>
            <a:endParaRPr lang="en-US" altLang="ja-JP" dirty="0"/>
          </a:p>
          <a:p>
            <a:pPr algn="l"/>
            <a:r>
              <a:rPr lang="ja-JP" altLang="en-US" dirty="0"/>
              <a:t>に合わせた設定にしておく</a:t>
            </a:r>
          </a:p>
        </p:txBody>
      </p:sp>
      <p:sp>
        <p:nvSpPr>
          <p:cNvPr id="7" name="タイトル 1"/>
          <p:cNvSpPr txBox="1">
            <a:spLocks/>
          </p:cNvSpPr>
          <p:nvPr/>
        </p:nvSpPr>
        <p:spPr>
          <a:xfrm>
            <a:off x="1389132" y="4242334"/>
            <a:ext cx="5683792" cy="61102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3200" dirty="0"/>
              <a:t>６４ビット、デバッグモード</a:t>
            </a:r>
            <a:endParaRPr lang="en-US" altLang="ja-JP" sz="3200" dirty="0"/>
          </a:p>
        </p:txBody>
      </p:sp>
      <p:sp>
        <p:nvSpPr>
          <p:cNvPr id="9" name="タイトル 1"/>
          <p:cNvSpPr txBox="1">
            <a:spLocks/>
          </p:cNvSpPr>
          <p:nvPr/>
        </p:nvSpPr>
        <p:spPr>
          <a:xfrm>
            <a:off x="1443839" y="5070055"/>
            <a:ext cx="6199607" cy="611020"/>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3200" dirty="0"/>
              <a:t>マルチスレッドデバッグ　　</a:t>
            </a:r>
            <a:r>
              <a:rPr lang="en-US" altLang="ja-JP" sz="3200" dirty="0"/>
              <a:t>/</a:t>
            </a:r>
            <a:r>
              <a:rPr lang="en-US" altLang="ja-JP" sz="3200" dirty="0" err="1"/>
              <a:t>Mtd</a:t>
            </a:r>
            <a:endParaRPr lang="en-US" altLang="ja-JP" sz="3200" dirty="0"/>
          </a:p>
        </p:txBody>
      </p:sp>
    </p:spTree>
    <p:extLst>
      <p:ext uri="{BB962C8B-B14F-4D97-AF65-F5344CB8AC3E}">
        <p14:creationId xmlns:p14="http://schemas.microsoft.com/office/powerpoint/2010/main" val="840258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ctrTitle"/>
          </p:nvPr>
        </p:nvSpPr>
        <p:spPr>
          <a:xfrm>
            <a:off x="423931" y="170519"/>
            <a:ext cx="10681731" cy="1104002"/>
          </a:xfrm>
        </p:spPr>
        <p:txBody>
          <a:bodyPr>
            <a:normAutofit fontScale="90000"/>
          </a:bodyPr>
          <a:lstStyle/>
          <a:p>
            <a:pPr algn="l"/>
            <a:r>
              <a:rPr lang="ja-JP" altLang="en-US" dirty="0"/>
              <a:t>指定フォルダにインストールする</a:t>
            </a:r>
            <a:endParaRPr kumimoji="1" lang="ja-JP" altLang="en-US" dirty="0"/>
          </a:p>
        </p:txBody>
      </p:sp>
      <p:pic>
        <p:nvPicPr>
          <p:cNvPr id="2" name="図 1"/>
          <p:cNvPicPr>
            <a:picLocks noChangeAspect="1"/>
          </p:cNvPicPr>
          <p:nvPr/>
        </p:nvPicPr>
        <p:blipFill>
          <a:blip r:embed="rId2"/>
          <a:stretch>
            <a:fillRect/>
          </a:stretch>
        </p:blipFill>
        <p:spPr>
          <a:xfrm>
            <a:off x="1181912" y="1641231"/>
            <a:ext cx="9106413" cy="4970584"/>
          </a:xfrm>
          <a:prstGeom prst="rect">
            <a:avLst/>
          </a:prstGeom>
        </p:spPr>
      </p:pic>
    </p:spTree>
    <p:extLst>
      <p:ext uri="{BB962C8B-B14F-4D97-AF65-F5344CB8AC3E}">
        <p14:creationId xmlns:p14="http://schemas.microsoft.com/office/powerpoint/2010/main" val="2136472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ctrTitle"/>
          </p:nvPr>
        </p:nvSpPr>
        <p:spPr>
          <a:xfrm>
            <a:off x="877223" y="678519"/>
            <a:ext cx="9525053" cy="1104002"/>
          </a:xfrm>
        </p:spPr>
        <p:txBody>
          <a:bodyPr>
            <a:normAutofit/>
          </a:bodyPr>
          <a:lstStyle/>
          <a:p>
            <a:pPr algn="l"/>
            <a:r>
              <a:rPr lang="ja-JP" altLang="en-US" dirty="0"/>
              <a:t>インストールフォルダ確認</a:t>
            </a:r>
            <a:endParaRPr kumimoji="1" lang="ja-JP" altLang="en-US" dirty="0"/>
          </a:p>
        </p:txBody>
      </p:sp>
      <p:sp>
        <p:nvSpPr>
          <p:cNvPr id="3" name="正方形/長方形 2"/>
          <p:cNvSpPr/>
          <p:nvPr/>
        </p:nvSpPr>
        <p:spPr>
          <a:xfrm>
            <a:off x="1810555" y="2303689"/>
            <a:ext cx="5243743" cy="923330"/>
          </a:xfrm>
          <a:prstGeom prst="rect">
            <a:avLst/>
          </a:prstGeom>
        </p:spPr>
        <p:txBody>
          <a:bodyPr wrap="none">
            <a:spAutoFit/>
          </a:bodyPr>
          <a:lstStyle/>
          <a:p>
            <a:r>
              <a:rPr lang="en-US" altLang="ja-JP" sz="5400" dirty="0"/>
              <a:t>D:\assimp</a:t>
            </a:r>
            <a:r>
              <a:rPr lang="ja-JP" altLang="en-US" sz="5400" dirty="0"/>
              <a:t>￥</a:t>
            </a:r>
            <a:r>
              <a:rPr lang="en-US" altLang="ja-JP" sz="5400" dirty="0"/>
              <a:t>bin</a:t>
            </a:r>
          </a:p>
        </p:txBody>
      </p:sp>
      <p:sp>
        <p:nvSpPr>
          <p:cNvPr id="6" name="正方形/長方形 5"/>
          <p:cNvSpPr/>
          <p:nvPr/>
        </p:nvSpPr>
        <p:spPr>
          <a:xfrm>
            <a:off x="5300494" y="3286522"/>
            <a:ext cx="2892138" cy="923330"/>
          </a:xfrm>
          <a:prstGeom prst="rect">
            <a:avLst/>
          </a:prstGeom>
        </p:spPr>
        <p:txBody>
          <a:bodyPr wrap="none">
            <a:spAutoFit/>
          </a:bodyPr>
          <a:lstStyle/>
          <a:p>
            <a:r>
              <a:rPr lang="en-US" altLang="ja-JP" sz="5400" dirty="0"/>
              <a:t>\include</a:t>
            </a:r>
          </a:p>
        </p:txBody>
      </p:sp>
      <p:sp>
        <p:nvSpPr>
          <p:cNvPr id="8" name="正方形/長方形 7"/>
          <p:cNvSpPr/>
          <p:nvPr/>
        </p:nvSpPr>
        <p:spPr>
          <a:xfrm>
            <a:off x="5401323" y="4269355"/>
            <a:ext cx="1345240" cy="923330"/>
          </a:xfrm>
          <a:prstGeom prst="rect">
            <a:avLst/>
          </a:prstGeom>
        </p:spPr>
        <p:txBody>
          <a:bodyPr wrap="none">
            <a:spAutoFit/>
          </a:bodyPr>
          <a:lstStyle/>
          <a:p>
            <a:r>
              <a:rPr lang="en-US" altLang="ja-JP" sz="5400" dirty="0"/>
              <a:t>\lib</a:t>
            </a:r>
          </a:p>
        </p:txBody>
      </p:sp>
    </p:spTree>
    <p:extLst>
      <p:ext uri="{BB962C8B-B14F-4D97-AF65-F5344CB8AC3E}">
        <p14:creationId xmlns:p14="http://schemas.microsoft.com/office/powerpoint/2010/main" val="2863186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ctrTitle"/>
          </p:nvPr>
        </p:nvSpPr>
        <p:spPr>
          <a:xfrm>
            <a:off x="494270" y="897349"/>
            <a:ext cx="10830221" cy="1705173"/>
          </a:xfrm>
        </p:spPr>
        <p:txBody>
          <a:bodyPr>
            <a:normAutofit fontScale="90000"/>
          </a:bodyPr>
          <a:lstStyle/>
          <a:p>
            <a:r>
              <a:rPr lang="ja-JP" altLang="en-US" dirty="0"/>
              <a:t>ライブラリファイルを出力するディレクトリを設定する</a:t>
            </a:r>
            <a:endParaRPr kumimoji="1" lang="ja-JP" altLang="en-US" dirty="0"/>
          </a:p>
        </p:txBody>
      </p:sp>
      <p:sp>
        <p:nvSpPr>
          <p:cNvPr id="5" name="タイトル 1"/>
          <p:cNvSpPr txBox="1">
            <a:spLocks/>
          </p:cNvSpPr>
          <p:nvPr/>
        </p:nvSpPr>
        <p:spPr>
          <a:xfrm>
            <a:off x="232455" y="3540370"/>
            <a:ext cx="10830221" cy="1058984"/>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r>
              <a:rPr lang="en-US" altLang="ja-JP" dirty="0"/>
              <a:t>CMAKE_INSTALL_PREFIX</a:t>
            </a:r>
            <a:endParaRPr lang="ja-JP" altLang="en-US" dirty="0"/>
          </a:p>
        </p:txBody>
      </p:sp>
      <p:sp>
        <p:nvSpPr>
          <p:cNvPr id="2" name="正方形/長方形 1"/>
          <p:cNvSpPr/>
          <p:nvPr/>
        </p:nvSpPr>
        <p:spPr>
          <a:xfrm>
            <a:off x="2973153" y="5075537"/>
            <a:ext cx="3504486" cy="923330"/>
          </a:xfrm>
          <a:prstGeom prst="rect">
            <a:avLst/>
          </a:prstGeom>
        </p:spPr>
        <p:txBody>
          <a:bodyPr wrap="none">
            <a:spAutoFit/>
          </a:bodyPr>
          <a:lstStyle/>
          <a:p>
            <a:r>
              <a:rPr lang="ja-JP" altLang="en-US" sz="5400" dirty="0"/>
              <a:t>D:/assimp</a:t>
            </a:r>
          </a:p>
        </p:txBody>
      </p:sp>
    </p:spTree>
    <p:extLst>
      <p:ext uri="{BB962C8B-B14F-4D97-AF65-F5344CB8AC3E}">
        <p14:creationId xmlns:p14="http://schemas.microsoft.com/office/powerpoint/2010/main" val="1236827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ctrTitle"/>
          </p:nvPr>
        </p:nvSpPr>
        <p:spPr>
          <a:xfrm>
            <a:off x="877223" y="678519"/>
            <a:ext cx="9525053" cy="1104002"/>
          </a:xfrm>
        </p:spPr>
        <p:txBody>
          <a:bodyPr>
            <a:normAutofit/>
          </a:bodyPr>
          <a:lstStyle/>
          <a:p>
            <a:pPr algn="l"/>
            <a:r>
              <a:rPr lang="ja-JP" altLang="en-US" dirty="0"/>
              <a:t>ライブラリ</a:t>
            </a:r>
            <a:endParaRPr kumimoji="1" lang="ja-JP" altLang="en-US" dirty="0"/>
          </a:p>
        </p:txBody>
      </p:sp>
      <p:sp>
        <p:nvSpPr>
          <p:cNvPr id="8" name="正方形/長方形 7"/>
          <p:cNvSpPr/>
          <p:nvPr/>
        </p:nvSpPr>
        <p:spPr>
          <a:xfrm>
            <a:off x="1622425" y="3056893"/>
            <a:ext cx="4923143" cy="923330"/>
          </a:xfrm>
          <a:prstGeom prst="rect">
            <a:avLst/>
          </a:prstGeom>
        </p:spPr>
        <p:txBody>
          <a:bodyPr wrap="none">
            <a:spAutoFit/>
          </a:bodyPr>
          <a:lstStyle/>
          <a:p>
            <a:r>
              <a:rPr lang="en-US" altLang="ja-JP" sz="5400" dirty="0"/>
              <a:t>D:\assimp \lib</a:t>
            </a:r>
          </a:p>
        </p:txBody>
      </p:sp>
      <p:sp>
        <p:nvSpPr>
          <p:cNvPr id="2" name="正方形/長方形 1"/>
          <p:cNvSpPr/>
          <p:nvPr/>
        </p:nvSpPr>
        <p:spPr>
          <a:xfrm>
            <a:off x="2260535" y="4299347"/>
            <a:ext cx="7092006" cy="923330"/>
          </a:xfrm>
          <a:prstGeom prst="rect">
            <a:avLst/>
          </a:prstGeom>
        </p:spPr>
        <p:txBody>
          <a:bodyPr wrap="none">
            <a:spAutoFit/>
          </a:bodyPr>
          <a:lstStyle/>
          <a:p>
            <a:r>
              <a:rPr lang="ja-JP" altLang="en-US" sz="5400" dirty="0"/>
              <a:t>assimp-vc141-mtd.lib</a:t>
            </a:r>
          </a:p>
        </p:txBody>
      </p:sp>
      <p:sp>
        <p:nvSpPr>
          <p:cNvPr id="7" name="正方形/長方形 6"/>
          <p:cNvSpPr/>
          <p:nvPr/>
        </p:nvSpPr>
        <p:spPr>
          <a:xfrm>
            <a:off x="1230537" y="1931320"/>
            <a:ext cx="8494633" cy="923330"/>
          </a:xfrm>
          <a:prstGeom prst="rect">
            <a:avLst/>
          </a:prstGeom>
        </p:spPr>
        <p:txBody>
          <a:bodyPr wrap="none">
            <a:spAutoFit/>
          </a:bodyPr>
          <a:lstStyle/>
          <a:p>
            <a:r>
              <a:rPr lang="ja-JP" altLang="en-US" sz="5400" dirty="0"/>
              <a:t>マルチスレッドデバッグ用</a:t>
            </a:r>
            <a:endParaRPr lang="en-US" altLang="ja-JP" sz="5400" dirty="0"/>
          </a:p>
        </p:txBody>
      </p:sp>
      <p:sp>
        <p:nvSpPr>
          <p:cNvPr id="5" name="楕円 4"/>
          <p:cNvSpPr/>
          <p:nvPr/>
        </p:nvSpPr>
        <p:spPr>
          <a:xfrm>
            <a:off x="5006397" y="4182466"/>
            <a:ext cx="1660356" cy="11141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楕円 8"/>
          <p:cNvSpPr/>
          <p:nvPr/>
        </p:nvSpPr>
        <p:spPr>
          <a:xfrm>
            <a:off x="6962179" y="4182040"/>
            <a:ext cx="1476742" cy="111462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吹き出し 10"/>
          <p:cNvSpPr/>
          <p:nvPr/>
        </p:nvSpPr>
        <p:spPr>
          <a:xfrm>
            <a:off x="3668617" y="5541801"/>
            <a:ext cx="3426246" cy="1199557"/>
          </a:xfrm>
          <a:prstGeom prst="wedgeRectCallout">
            <a:avLst>
              <a:gd name="adj1" fmla="val 14422"/>
              <a:gd name="adj2" fmla="val -8587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rPr>
              <a:t>ビルドに使用した</a:t>
            </a:r>
            <a:endParaRPr kumimoji="1" lang="en-US" altLang="ja-JP" dirty="0">
              <a:solidFill>
                <a:srgbClr val="FF0000"/>
              </a:solidFill>
            </a:endParaRPr>
          </a:p>
          <a:p>
            <a:pPr algn="ctr"/>
            <a:r>
              <a:rPr kumimoji="1" lang="en-US" altLang="ja-JP" dirty="0">
                <a:solidFill>
                  <a:srgbClr val="FF0000"/>
                </a:solidFill>
              </a:rPr>
              <a:t>VC++</a:t>
            </a:r>
            <a:r>
              <a:rPr lang="ja-JP" altLang="en-US" dirty="0">
                <a:solidFill>
                  <a:srgbClr val="FF0000"/>
                </a:solidFill>
              </a:rPr>
              <a:t>のコンパイラの</a:t>
            </a:r>
            <a:endParaRPr lang="en-US" altLang="ja-JP" dirty="0">
              <a:solidFill>
                <a:srgbClr val="FF0000"/>
              </a:solidFill>
            </a:endParaRPr>
          </a:p>
          <a:p>
            <a:pPr algn="ctr"/>
            <a:r>
              <a:rPr kumimoji="1" lang="ja-JP" altLang="en-US" dirty="0">
                <a:solidFill>
                  <a:srgbClr val="FF0000"/>
                </a:solidFill>
              </a:rPr>
              <a:t>バージョンをしめす</a:t>
            </a:r>
            <a:endParaRPr kumimoji="1" lang="en-US" altLang="ja-JP" dirty="0">
              <a:solidFill>
                <a:srgbClr val="FF0000"/>
              </a:solidFill>
            </a:endParaRPr>
          </a:p>
          <a:p>
            <a:pPr algn="ctr"/>
            <a:r>
              <a:rPr kumimoji="1" lang="en-US" altLang="ja-JP" dirty="0">
                <a:solidFill>
                  <a:srgbClr val="FF0000"/>
                </a:solidFill>
              </a:rPr>
              <a:t>(</a:t>
            </a:r>
            <a:r>
              <a:rPr lang="ja-JP" altLang="en-US" dirty="0">
                <a:solidFill>
                  <a:srgbClr val="FF0000"/>
                </a:solidFill>
              </a:rPr>
              <a:t>ＶＳ２０１７用</a:t>
            </a:r>
            <a:r>
              <a:rPr kumimoji="1" lang="en-US" altLang="ja-JP" dirty="0">
                <a:solidFill>
                  <a:srgbClr val="FF0000"/>
                </a:solidFill>
              </a:rPr>
              <a:t>)</a:t>
            </a:r>
            <a:endParaRPr kumimoji="1" lang="ja-JP" altLang="en-US" dirty="0">
              <a:solidFill>
                <a:srgbClr val="FF0000"/>
              </a:solidFill>
            </a:endParaRPr>
          </a:p>
        </p:txBody>
      </p:sp>
      <p:sp>
        <p:nvSpPr>
          <p:cNvPr id="12" name="四角形吹き出し 11"/>
          <p:cNvSpPr/>
          <p:nvPr/>
        </p:nvSpPr>
        <p:spPr>
          <a:xfrm>
            <a:off x="7273679" y="5737951"/>
            <a:ext cx="3280479" cy="695899"/>
          </a:xfrm>
          <a:prstGeom prst="wedgeRectCallout">
            <a:avLst>
              <a:gd name="adj1" fmla="val -28739"/>
              <a:gd name="adj2" fmla="val -14272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solidFill>
                  <a:srgbClr val="FF0000"/>
                </a:solidFill>
              </a:rPr>
              <a:t>マルチスレッドデバッグ</a:t>
            </a:r>
            <a:r>
              <a:rPr kumimoji="1" lang="ja-JP" altLang="en-US" dirty="0"/>
              <a:t>ﾞ</a:t>
            </a:r>
          </a:p>
        </p:txBody>
      </p:sp>
    </p:spTree>
    <p:extLst>
      <p:ext uri="{BB962C8B-B14F-4D97-AF65-F5344CB8AC3E}">
        <p14:creationId xmlns:p14="http://schemas.microsoft.com/office/powerpoint/2010/main" val="134564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887046" y="2364377"/>
            <a:ext cx="10074031" cy="2690949"/>
          </a:xfrm>
        </p:spPr>
        <p:txBody>
          <a:bodyPr>
            <a:normAutofit/>
          </a:bodyPr>
          <a:lstStyle/>
          <a:p>
            <a:r>
              <a:rPr lang="ja-JP" altLang="en-US" dirty="0"/>
              <a:t>万能で</a:t>
            </a:r>
            <a:r>
              <a:rPr lang="ja-JP" altLang="en-US"/>
              <a:t>はないですが、スタティックメッシュのデータ</a:t>
            </a:r>
            <a:r>
              <a:rPr lang="ja-JP" altLang="en-US" dirty="0"/>
              <a:t>をほぼ</a:t>
            </a:r>
            <a:r>
              <a:rPr lang="ja-JP" altLang="en-US"/>
              <a:t>取り出せます。</a:t>
            </a:r>
            <a:endParaRPr kumimoji="1" lang="ja-JP" altLang="en-US" dirty="0"/>
          </a:p>
        </p:txBody>
      </p:sp>
    </p:spTree>
    <p:extLst>
      <p:ext uri="{BB962C8B-B14F-4D97-AF65-F5344CB8AC3E}">
        <p14:creationId xmlns:p14="http://schemas.microsoft.com/office/powerpoint/2010/main" val="3771558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101229" y="1935892"/>
            <a:ext cx="10074031" cy="2167583"/>
          </a:xfrm>
        </p:spPr>
        <p:txBody>
          <a:bodyPr>
            <a:noAutofit/>
          </a:bodyPr>
          <a:lstStyle/>
          <a:p>
            <a:r>
              <a:rPr lang="ja-JP" altLang="en-US" sz="6600" dirty="0"/>
              <a:t>リンクする必要</a:t>
            </a:r>
            <a:br>
              <a:rPr lang="en-US" altLang="ja-JP" sz="6600" dirty="0"/>
            </a:br>
            <a:r>
              <a:rPr lang="ja-JP" altLang="en-US" sz="6600" dirty="0"/>
              <a:t>のあるライブラリ</a:t>
            </a:r>
            <a:endParaRPr kumimoji="1" lang="ja-JP" altLang="en-US" sz="6600" dirty="0"/>
          </a:p>
        </p:txBody>
      </p:sp>
    </p:spTree>
    <p:extLst>
      <p:ext uri="{BB962C8B-B14F-4D97-AF65-F5344CB8AC3E}">
        <p14:creationId xmlns:p14="http://schemas.microsoft.com/office/powerpoint/2010/main" val="3651584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815546" y="3135179"/>
            <a:ext cx="10552670" cy="646331"/>
          </a:xfrm>
          <a:prstGeom prst="rect">
            <a:avLst/>
          </a:prstGeom>
        </p:spPr>
        <p:txBody>
          <a:bodyPr wrap="square">
            <a:spAutoFit/>
          </a:bodyPr>
          <a:lstStyle/>
          <a:p>
            <a:r>
              <a:rPr lang="ja-JP" altLang="en-US" sz="3600" dirty="0"/>
              <a:t>#pragma comment (lib,"assimp-vc141-mtd.lib")</a:t>
            </a:r>
          </a:p>
        </p:txBody>
      </p:sp>
    </p:spTree>
    <p:extLst>
      <p:ext uri="{BB962C8B-B14F-4D97-AF65-F5344CB8AC3E}">
        <p14:creationId xmlns:p14="http://schemas.microsoft.com/office/powerpoint/2010/main" val="7140462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060040" y="2677885"/>
            <a:ext cx="10074031" cy="1161979"/>
          </a:xfrm>
        </p:spPr>
        <p:txBody>
          <a:bodyPr>
            <a:normAutofit/>
          </a:bodyPr>
          <a:lstStyle/>
          <a:p>
            <a:r>
              <a:rPr lang="ja-JP" altLang="en-US" dirty="0"/>
              <a:t>インクルードするヘッダー</a:t>
            </a:r>
            <a:endParaRPr kumimoji="1" lang="ja-JP" altLang="en-US" dirty="0"/>
          </a:p>
        </p:txBody>
      </p:sp>
    </p:spTree>
    <p:extLst>
      <p:ext uri="{BB962C8B-B14F-4D97-AF65-F5344CB8AC3E}">
        <p14:creationId xmlns:p14="http://schemas.microsoft.com/office/powerpoint/2010/main" val="27998922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729946" y="2344348"/>
            <a:ext cx="9341708" cy="1815882"/>
          </a:xfrm>
          <a:prstGeom prst="rect">
            <a:avLst/>
          </a:prstGeom>
        </p:spPr>
        <p:txBody>
          <a:bodyPr wrap="square">
            <a:spAutoFit/>
          </a:bodyPr>
          <a:lstStyle/>
          <a:p>
            <a:r>
              <a:rPr lang="ja-JP" altLang="en-US" sz="2800" dirty="0"/>
              <a:t>#include	&lt;assimp\Importer.hpp&gt;</a:t>
            </a:r>
          </a:p>
          <a:p>
            <a:r>
              <a:rPr lang="ja-JP" altLang="en-US" sz="2800" dirty="0"/>
              <a:t>#include	&lt;assimp\scene.h&gt;</a:t>
            </a:r>
          </a:p>
          <a:p>
            <a:r>
              <a:rPr lang="ja-JP" altLang="en-US" sz="2800" dirty="0"/>
              <a:t>#include	&lt;assimp\postprocess.h&gt;</a:t>
            </a:r>
          </a:p>
          <a:p>
            <a:r>
              <a:rPr lang="ja-JP" altLang="en-US" sz="2800" dirty="0"/>
              <a:t>#include	&lt;assimp/cimport.h&gt;</a:t>
            </a:r>
            <a:endParaRPr lang="en-US" altLang="ja-JP" sz="2800" dirty="0"/>
          </a:p>
        </p:txBody>
      </p:sp>
    </p:spTree>
    <p:extLst>
      <p:ext uri="{BB962C8B-B14F-4D97-AF65-F5344CB8AC3E}">
        <p14:creationId xmlns:p14="http://schemas.microsoft.com/office/powerpoint/2010/main" val="1526042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060040" y="3056825"/>
            <a:ext cx="10074031" cy="1161979"/>
          </a:xfrm>
        </p:spPr>
        <p:txBody>
          <a:bodyPr>
            <a:normAutofit/>
          </a:bodyPr>
          <a:lstStyle/>
          <a:p>
            <a:r>
              <a:rPr lang="ja-JP" altLang="en-US" dirty="0"/>
              <a:t>初期処理</a:t>
            </a:r>
            <a:endParaRPr kumimoji="1" lang="ja-JP" altLang="en-US" dirty="0"/>
          </a:p>
        </p:txBody>
      </p:sp>
    </p:spTree>
    <p:extLst>
      <p:ext uri="{BB962C8B-B14F-4D97-AF65-F5344CB8AC3E}">
        <p14:creationId xmlns:p14="http://schemas.microsoft.com/office/powerpoint/2010/main" val="170345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889685" y="1087046"/>
            <a:ext cx="10527957" cy="3539430"/>
          </a:xfrm>
          <a:prstGeom prst="rect">
            <a:avLst/>
          </a:prstGeom>
        </p:spPr>
        <p:txBody>
          <a:bodyPr wrap="square">
            <a:spAutoFit/>
          </a:bodyPr>
          <a:lstStyle/>
          <a:p>
            <a:r>
              <a:rPr lang="en-US" altLang="ja-JP" sz="3200" dirty="0" err="1">
                <a:solidFill>
                  <a:srgbClr val="000000"/>
                </a:solidFill>
                <a:latin typeface="ＭＳ ゴシック" panose="020B0609070205080204" pitchFamily="49" charset="-128"/>
                <a:ea typeface="ＭＳ ゴシック" panose="020B0609070205080204" pitchFamily="49" charset="-128"/>
              </a:rPr>
              <a:t>Assimp</a:t>
            </a:r>
            <a:r>
              <a:rPr lang="en-US" altLang="ja-JP" sz="3200" dirty="0">
                <a:solidFill>
                  <a:srgbClr val="000000"/>
                </a:solidFill>
                <a:latin typeface="ＭＳ ゴシック" panose="020B0609070205080204" pitchFamily="49" charset="-128"/>
                <a:ea typeface="ＭＳ ゴシック" panose="020B0609070205080204" pitchFamily="49" charset="-128"/>
              </a:rPr>
              <a:t>::</a:t>
            </a:r>
            <a:r>
              <a:rPr lang="en-US" altLang="ja-JP" sz="3200" dirty="0">
                <a:solidFill>
                  <a:srgbClr val="2B91AF"/>
                </a:solidFill>
                <a:latin typeface="ＭＳ ゴシック" panose="020B0609070205080204" pitchFamily="49" charset="-128"/>
                <a:ea typeface="ＭＳ ゴシック" panose="020B0609070205080204" pitchFamily="49" charset="-128"/>
              </a:rPr>
              <a:t>Importer</a:t>
            </a:r>
            <a:r>
              <a:rPr lang="en-US" altLang="ja-JP" sz="3200" dirty="0">
                <a:solidFill>
                  <a:srgbClr val="000000"/>
                </a:solidFill>
                <a:latin typeface="ＭＳ ゴシック" panose="020B0609070205080204" pitchFamily="49" charset="-128"/>
                <a:ea typeface="ＭＳ ゴシック" panose="020B0609070205080204" pitchFamily="49" charset="-128"/>
              </a:rPr>
              <a:t> </a:t>
            </a:r>
            <a:r>
              <a:rPr lang="en-US" altLang="ja-JP" sz="3200" dirty="0" err="1">
                <a:solidFill>
                  <a:srgbClr val="000000"/>
                </a:solidFill>
                <a:latin typeface="ＭＳ ゴシック" panose="020B0609070205080204" pitchFamily="49" charset="-128"/>
                <a:ea typeface="ＭＳ ゴシック" panose="020B0609070205080204" pitchFamily="49" charset="-128"/>
              </a:rPr>
              <a:t>importer</a:t>
            </a:r>
            <a:r>
              <a:rPr lang="en-US" altLang="ja-JP" sz="3200" dirty="0">
                <a:solidFill>
                  <a:srgbClr val="000000"/>
                </a:solidFill>
                <a:latin typeface="ＭＳ ゴシック" panose="020B0609070205080204" pitchFamily="49" charset="-128"/>
                <a:ea typeface="ＭＳ ゴシック" panose="020B0609070205080204" pitchFamily="49" charset="-128"/>
              </a:rPr>
              <a:t>;</a:t>
            </a:r>
          </a:p>
          <a:p>
            <a:r>
              <a:rPr lang="en-US" altLang="ja-JP" sz="3200" dirty="0" err="1">
                <a:solidFill>
                  <a:srgbClr val="000000"/>
                </a:solidFill>
                <a:latin typeface="ＭＳ ゴシック" panose="020B0609070205080204" pitchFamily="49" charset="-128"/>
                <a:ea typeface="ＭＳ ゴシック" panose="020B0609070205080204" pitchFamily="49" charset="-128"/>
              </a:rPr>
              <a:t>std</a:t>
            </a:r>
            <a:r>
              <a:rPr lang="en-US" altLang="ja-JP" sz="3200" dirty="0">
                <a:solidFill>
                  <a:srgbClr val="000000"/>
                </a:solidFill>
                <a:latin typeface="ＭＳ ゴシック" panose="020B0609070205080204" pitchFamily="49" charset="-128"/>
                <a:ea typeface="ＭＳ ゴシック" panose="020B0609070205080204" pitchFamily="49" charset="-128"/>
              </a:rPr>
              <a:t>::</a:t>
            </a:r>
            <a:r>
              <a:rPr lang="en-US" altLang="ja-JP" sz="3200" dirty="0">
                <a:solidFill>
                  <a:srgbClr val="2B91AF"/>
                </a:solidFill>
                <a:latin typeface="ＭＳ ゴシック" panose="020B0609070205080204" pitchFamily="49" charset="-128"/>
                <a:ea typeface="ＭＳ ゴシック" panose="020B0609070205080204" pitchFamily="49" charset="-128"/>
              </a:rPr>
              <a:t>string</a:t>
            </a:r>
            <a:r>
              <a:rPr lang="en-US" altLang="ja-JP" sz="3200" dirty="0">
                <a:solidFill>
                  <a:srgbClr val="000000"/>
                </a:solidFill>
                <a:latin typeface="ＭＳ ゴシック" panose="020B0609070205080204" pitchFamily="49" charset="-128"/>
                <a:ea typeface="ＭＳ ゴシック" panose="020B0609070205080204" pitchFamily="49" charset="-128"/>
              </a:rPr>
              <a:t> filename(</a:t>
            </a:r>
            <a:r>
              <a:rPr lang="en-US" altLang="ja-JP" sz="3200" dirty="0">
                <a:solidFill>
                  <a:srgbClr val="A31515"/>
                </a:solidFill>
                <a:latin typeface="ＭＳ ゴシック" panose="020B0609070205080204" pitchFamily="49" charset="-128"/>
                <a:ea typeface="ＭＳ ゴシック" panose="020B0609070205080204" pitchFamily="49" charset="-128"/>
              </a:rPr>
              <a:t>"HAL\\halchan2.pmx"</a:t>
            </a:r>
            <a:r>
              <a:rPr lang="en-US" altLang="ja-JP" sz="3200" dirty="0">
                <a:solidFill>
                  <a:srgbClr val="000000"/>
                </a:solidFill>
                <a:latin typeface="ＭＳ ゴシック" panose="020B0609070205080204" pitchFamily="49" charset="-128"/>
                <a:ea typeface="ＭＳ ゴシック" panose="020B0609070205080204" pitchFamily="49" charset="-128"/>
              </a:rPr>
              <a:t>);</a:t>
            </a:r>
          </a:p>
          <a:p>
            <a:endParaRPr lang="ja-JP" altLang="en-US" sz="3200" dirty="0">
              <a:solidFill>
                <a:srgbClr val="000000"/>
              </a:solidFill>
              <a:latin typeface="ＭＳ ゴシック" panose="020B0609070205080204" pitchFamily="49" charset="-128"/>
              <a:ea typeface="ＭＳ ゴシック" panose="020B0609070205080204" pitchFamily="49" charset="-128"/>
            </a:endParaRPr>
          </a:p>
          <a:p>
            <a:r>
              <a:rPr lang="en-US" altLang="ja-JP" sz="3200" dirty="0" err="1">
                <a:solidFill>
                  <a:srgbClr val="0000FF"/>
                </a:solidFill>
                <a:latin typeface="ＭＳ ゴシック" panose="020B0609070205080204" pitchFamily="49" charset="-128"/>
                <a:ea typeface="ＭＳ ゴシック" panose="020B0609070205080204" pitchFamily="49" charset="-128"/>
              </a:rPr>
              <a:t>const</a:t>
            </a:r>
            <a:r>
              <a:rPr lang="en-US" altLang="ja-JP" sz="3200" dirty="0">
                <a:solidFill>
                  <a:srgbClr val="000000"/>
                </a:solidFill>
                <a:latin typeface="ＭＳ ゴシック" panose="020B0609070205080204" pitchFamily="49" charset="-128"/>
                <a:ea typeface="ＭＳ ゴシック" panose="020B0609070205080204" pitchFamily="49" charset="-128"/>
              </a:rPr>
              <a:t> </a:t>
            </a:r>
            <a:r>
              <a:rPr lang="en-US" altLang="ja-JP" sz="3200" dirty="0" err="1">
                <a:solidFill>
                  <a:srgbClr val="2B91AF"/>
                </a:solidFill>
                <a:latin typeface="ＭＳ ゴシック" panose="020B0609070205080204" pitchFamily="49" charset="-128"/>
                <a:ea typeface="ＭＳ ゴシック" panose="020B0609070205080204" pitchFamily="49" charset="-128"/>
              </a:rPr>
              <a:t>aiScene</a:t>
            </a:r>
            <a:r>
              <a:rPr lang="en-US" altLang="ja-JP" sz="3200" dirty="0">
                <a:solidFill>
                  <a:srgbClr val="000000"/>
                </a:solidFill>
                <a:latin typeface="ＭＳ ゴシック" panose="020B0609070205080204" pitchFamily="49" charset="-128"/>
                <a:ea typeface="ＭＳ ゴシック" panose="020B0609070205080204" pitchFamily="49" charset="-128"/>
              </a:rPr>
              <a:t>* </a:t>
            </a:r>
            <a:r>
              <a:rPr lang="en-US" altLang="ja-JP" sz="3200" dirty="0" err="1">
                <a:solidFill>
                  <a:srgbClr val="000000"/>
                </a:solidFill>
                <a:latin typeface="ＭＳ ゴシック" panose="020B0609070205080204" pitchFamily="49" charset="-128"/>
                <a:ea typeface="ＭＳ ゴシック" panose="020B0609070205080204" pitchFamily="49" charset="-128"/>
              </a:rPr>
              <a:t>pScene</a:t>
            </a:r>
            <a:r>
              <a:rPr lang="en-US" altLang="ja-JP" sz="3200" dirty="0">
                <a:solidFill>
                  <a:srgbClr val="000000"/>
                </a:solidFill>
                <a:latin typeface="ＭＳ ゴシック" panose="020B0609070205080204" pitchFamily="49" charset="-128"/>
                <a:ea typeface="ＭＳ ゴシック" panose="020B0609070205080204" pitchFamily="49" charset="-128"/>
              </a:rPr>
              <a:t> = </a:t>
            </a:r>
            <a:r>
              <a:rPr lang="en-US" altLang="ja-JP" sz="3200" dirty="0" err="1">
                <a:solidFill>
                  <a:srgbClr val="000000"/>
                </a:solidFill>
                <a:latin typeface="ＭＳ ゴシック" panose="020B0609070205080204" pitchFamily="49" charset="-128"/>
                <a:ea typeface="ＭＳ ゴシック" panose="020B0609070205080204" pitchFamily="49" charset="-128"/>
              </a:rPr>
              <a:t>importer.ReadFile</a:t>
            </a:r>
            <a:r>
              <a:rPr lang="en-US" altLang="ja-JP" sz="3200" dirty="0">
                <a:solidFill>
                  <a:srgbClr val="000000"/>
                </a:solidFill>
                <a:latin typeface="ＭＳ ゴシック" panose="020B0609070205080204" pitchFamily="49" charset="-128"/>
                <a:ea typeface="ＭＳ ゴシック" panose="020B0609070205080204" pitchFamily="49" charset="-128"/>
              </a:rPr>
              <a:t>(</a:t>
            </a:r>
          </a:p>
          <a:p>
            <a:r>
              <a:rPr lang="en-US" altLang="ja-JP" sz="3200" dirty="0">
                <a:solidFill>
                  <a:srgbClr val="000000"/>
                </a:solidFill>
                <a:latin typeface="ＭＳ ゴシック" panose="020B0609070205080204" pitchFamily="49" charset="-128"/>
                <a:ea typeface="ＭＳ ゴシック" panose="020B0609070205080204" pitchFamily="49" charset="-128"/>
              </a:rPr>
              <a:t>	filename,</a:t>
            </a:r>
          </a:p>
          <a:p>
            <a:r>
              <a:rPr lang="en-US" altLang="ja-JP" sz="3200" dirty="0">
                <a:solidFill>
                  <a:srgbClr val="2F4F4F"/>
                </a:solidFill>
                <a:latin typeface="ＭＳ ゴシック" panose="020B0609070205080204" pitchFamily="49" charset="-128"/>
                <a:ea typeface="ＭＳ ゴシック" panose="020B0609070205080204" pitchFamily="49" charset="-128"/>
              </a:rPr>
              <a:t>	</a:t>
            </a:r>
            <a:r>
              <a:rPr lang="en-US" altLang="ja-JP" sz="3200" dirty="0" err="1">
                <a:solidFill>
                  <a:srgbClr val="6F008A"/>
                </a:solidFill>
                <a:latin typeface="ＭＳ ゴシック" panose="020B0609070205080204" pitchFamily="49" charset="-128"/>
                <a:ea typeface="ＭＳ ゴシック" panose="020B0609070205080204" pitchFamily="49" charset="-128"/>
              </a:rPr>
              <a:t>aiProcess_ConvertToLeftHanded</a:t>
            </a:r>
            <a:r>
              <a:rPr lang="en-US" altLang="ja-JP" sz="3200" dirty="0">
                <a:solidFill>
                  <a:srgbClr val="000000"/>
                </a:solidFill>
                <a:latin typeface="ＭＳ ゴシック" panose="020B0609070205080204" pitchFamily="49" charset="-128"/>
                <a:ea typeface="ＭＳ ゴシック" panose="020B0609070205080204" pitchFamily="49" charset="-128"/>
              </a:rPr>
              <a:t> |</a:t>
            </a:r>
          </a:p>
          <a:p>
            <a:r>
              <a:rPr lang="en-US" altLang="ja-JP" sz="3200" dirty="0">
                <a:solidFill>
                  <a:srgbClr val="6F008A"/>
                </a:solidFill>
                <a:latin typeface="ＭＳ ゴシック" panose="020B0609070205080204" pitchFamily="49" charset="-128"/>
                <a:ea typeface="ＭＳ ゴシック" panose="020B0609070205080204" pitchFamily="49" charset="-128"/>
              </a:rPr>
              <a:t>	</a:t>
            </a:r>
            <a:r>
              <a:rPr lang="en-US" altLang="ja-JP" sz="3200" dirty="0" err="1">
                <a:solidFill>
                  <a:srgbClr val="6F008A"/>
                </a:solidFill>
                <a:latin typeface="ＭＳ ゴシック" panose="020B0609070205080204" pitchFamily="49" charset="-128"/>
                <a:ea typeface="ＭＳ ゴシック" panose="020B0609070205080204" pitchFamily="49" charset="-128"/>
              </a:rPr>
              <a:t>aiProcessPreset_TargetRealtime_MaxQuality</a:t>
            </a:r>
            <a:r>
              <a:rPr lang="en-US" altLang="ja-JP" sz="3200" dirty="0">
                <a:solidFill>
                  <a:srgbClr val="000000"/>
                </a:solidFill>
                <a:latin typeface="ＭＳ ゴシック" panose="020B0609070205080204" pitchFamily="49" charset="-128"/>
                <a:ea typeface="ＭＳ ゴシック" panose="020B0609070205080204" pitchFamily="49" charset="-128"/>
              </a:rPr>
              <a:t>);</a:t>
            </a:r>
            <a:endParaRPr lang="ja-JP" altLang="en-US" sz="3200" dirty="0"/>
          </a:p>
        </p:txBody>
      </p:sp>
    </p:spTree>
    <p:extLst>
      <p:ext uri="{BB962C8B-B14F-4D97-AF65-F5344CB8AC3E}">
        <p14:creationId xmlns:p14="http://schemas.microsoft.com/office/powerpoint/2010/main" val="32590429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2289" y="2933258"/>
            <a:ext cx="10074031" cy="1161979"/>
          </a:xfrm>
        </p:spPr>
        <p:txBody>
          <a:bodyPr>
            <a:normAutofit/>
          </a:bodyPr>
          <a:lstStyle/>
          <a:p>
            <a:r>
              <a:rPr lang="ja-JP" altLang="en-US" dirty="0"/>
              <a:t>終了処理</a:t>
            </a:r>
            <a:endParaRPr kumimoji="1" lang="ja-JP" altLang="en-US" dirty="0"/>
          </a:p>
        </p:txBody>
      </p:sp>
    </p:spTree>
    <p:extLst>
      <p:ext uri="{BB962C8B-B14F-4D97-AF65-F5344CB8AC3E}">
        <p14:creationId xmlns:p14="http://schemas.microsoft.com/office/powerpoint/2010/main" val="39958339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1573428" y="3377164"/>
            <a:ext cx="9012194" cy="830997"/>
          </a:xfrm>
          <a:prstGeom prst="rect">
            <a:avLst/>
          </a:prstGeom>
        </p:spPr>
        <p:txBody>
          <a:bodyPr wrap="square">
            <a:spAutoFit/>
          </a:bodyPr>
          <a:lstStyle/>
          <a:p>
            <a:r>
              <a:rPr lang="en-US" altLang="ja-JP" sz="3200" dirty="0">
                <a:solidFill>
                  <a:srgbClr val="000000"/>
                </a:solidFill>
                <a:latin typeface="ＭＳ ゴシック" panose="020B0609070205080204" pitchFamily="49" charset="-128"/>
                <a:ea typeface="ＭＳ ゴシック" panose="020B0609070205080204" pitchFamily="49" charset="-128"/>
              </a:rPr>
              <a:t>	</a:t>
            </a:r>
            <a:r>
              <a:rPr lang="en-US" altLang="ja-JP" sz="4800" dirty="0" err="1">
                <a:solidFill>
                  <a:srgbClr val="000000"/>
                </a:solidFill>
                <a:latin typeface="ＭＳ ゴシック" panose="020B0609070205080204" pitchFamily="49" charset="-128"/>
                <a:ea typeface="ＭＳ ゴシック" panose="020B0609070205080204" pitchFamily="49" charset="-128"/>
              </a:rPr>
              <a:t>aiReleaseImport</a:t>
            </a:r>
            <a:r>
              <a:rPr lang="en-US" altLang="ja-JP" sz="4800" dirty="0">
                <a:solidFill>
                  <a:srgbClr val="000000"/>
                </a:solidFill>
                <a:latin typeface="ＭＳ ゴシック" panose="020B0609070205080204" pitchFamily="49" charset="-128"/>
                <a:ea typeface="ＭＳ ゴシック" panose="020B0609070205080204" pitchFamily="49" charset="-128"/>
              </a:rPr>
              <a:t>(</a:t>
            </a:r>
            <a:r>
              <a:rPr lang="en-US" altLang="ja-JP" sz="4800" dirty="0" err="1">
                <a:solidFill>
                  <a:srgbClr val="000000"/>
                </a:solidFill>
                <a:latin typeface="ＭＳ ゴシック" panose="020B0609070205080204" pitchFamily="49" charset="-128"/>
                <a:ea typeface="ＭＳ ゴシック" panose="020B0609070205080204" pitchFamily="49" charset="-128"/>
              </a:rPr>
              <a:t>pScene</a:t>
            </a:r>
            <a:r>
              <a:rPr lang="en-US" altLang="ja-JP" sz="4800" dirty="0">
                <a:solidFill>
                  <a:srgbClr val="000000"/>
                </a:solidFill>
                <a:latin typeface="ＭＳ ゴシック" panose="020B0609070205080204" pitchFamily="49" charset="-128"/>
                <a:ea typeface="ＭＳ ゴシック" panose="020B0609070205080204" pitchFamily="49" charset="-128"/>
              </a:rPr>
              <a:t>);</a:t>
            </a:r>
            <a:endParaRPr lang="ja-JP" altLang="en-US" sz="4800" dirty="0"/>
          </a:p>
        </p:txBody>
      </p:sp>
    </p:spTree>
    <p:extLst>
      <p:ext uri="{BB962C8B-B14F-4D97-AF65-F5344CB8AC3E}">
        <p14:creationId xmlns:p14="http://schemas.microsoft.com/office/powerpoint/2010/main" val="40151285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799071" y="994885"/>
            <a:ext cx="6096000" cy="1477328"/>
          </a:xfrm>
          <a:prstGeom prst="rect">
            <a:avLst/>
          </a:prstGeom>
        </p:spPr>
        <p:txBody>
          <a:bodyPr>
            <a:spAutoFit/>
          </a:bodyPr>
          <a:lstStyle/>
          <a:p>
            <a:r>
              <a:rPr lang="en-US" altLang="ja-JP" dirty="0" err="1">
                <a:solidFill>
                  <a:srgbClr val="000000"/>
                </a:solidFill>
                <a:latin typeface="Courier New" panose="02070309020205020404" pitchFamily="49" charset="0"/>
              </a:rPr>
              <a:t>aiProcessPreset_TargetRealtime_Quality</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aiProcess_FindInstances</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aiProcess_ValidateDataStructure</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aiProcess_OptimizeMeshes</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aiProcess_Debone</a:t>
            </a:r>
            <a:endParaRPr lang="en-US" altLang="ja-JP" b="0" i="0" u="none" strike="noStrike" dirty="0">
              <a:solidFill>
                <a:srgbClr val="000000"/>
              </a:solidFill>
              <a:effectLst/>
              <a:latin typeface="Courier New" panose="02070309020205020404" pitchFamily="49" charset="0"/>
            </a:endParaRPr>
          </a:p>
        </p:txBody>
      </p:sp>
      <p:sp>
        <p:nvSpPr>
          <p:cNvPr id="4" name="正方形/長方形 3"/>
          <p:cNvSpPr/>
          <p:nvPr/>
        </p:nvSpPr>
        <p:spPr>
          <a:xfrm>
            <a:off x="799071" y="3238146"/>
            <a:ext cx="6096000" cy="3416320"/>
          </a:xfrm>
          <a:prstGeom prst="rect">
            <a:avLst/>
          </a:prstGeom>
        </p:spPr>
        <p:txBody>
          <a:bodyPr>
            <a:spAutoFit/>
          </a:bodyPr>
          <a:lstStyle/>
          <a:p>
            <a:r>
              <a:rPr lang="en-US" altLang="ja-JP" dirty="0" err="1">
                <a:solidFill>
                  <a:srgbClr val="000000"/>
                </a:solidFill>
                <a:latin typeface="Courier New" panose="02070309020205020404" pitchFamily="49" charset="0"/>
              </a:rPr>
              <a:t>aiProcess_CalcTangentSpace</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aiProcess_GenSmoothNormals</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aiProcess_JoinIdenticalVertices</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aiProcess_ImproveCacheLocality</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aiProcess_LimitBoneWeights</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aiProcess_RemoveRedundantMaterials</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aiProcess_SplitLargeMeshes</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aiProcess_Triangulate</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aiProcess_GenUVCoords</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aiProcess_SortByPType</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aiProcess_FindDegenerates</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aiProcess_FindInvalidData</a:t>
            </a:r>
            <a:endParaRPr lang="en-US" altLang="ja-JP" dirty="0">
              <a:solidFill>
                <a:srgbClr val="000000"/>
              </a:solidFill>
              <a:latin typeface="Courier New" panose="02070309020205020404" pitchFamily="49" charset="0"/>
            </a:endParaRPr>
          </a:p>
        </p:txBody>
      </p:sp>
      <p:sp>
        <p:nvSpPr>
          <p:cNvPr id="5" name="正方形/長方形 4"/>
          <p:cNvSpPr/>
          <p:nvPr/>
        </p:nvSpPr>
        <p:spPr>
          <a:xfrm>
            <a:off x="799071" y="2638155"/>
            <a:ext cx="8347157" cy="523220"/>
          </a:xfrm>
          <a:prstGeom prst="rect">
            <a:avLst/>
          </a:prstGeom>
        </p:spPr>
        <p:txBody>
          <a:bodyPr wrap="none">
            <a:spAutoFit/>
          </a:bodyPr>
          <a:lstStyle/>
          <a:p>
            <a:r>
              <a:rPr lang="en-US" altLang="ja-JP" sz="2800" dirty="0" err="1">
                <a:solidFill>
                  <a:srgbClr val="000000"/>
                </a:solidFill>
                <a:latin typeface="Courier New" panose="02070309020205020404" pitchFamily="49" charset="0"/>
              </a:rPr>
              <a:t>aiProcessPreset_TargetRealtime_Quality</a:t>
            </a:r>
            <a:endParaRPr lang="en-US" altLang="ja-JP" sz="2800" dirty="0">
              <a:solidFill>
                <a:srgbClr val="000000"/>
              </a:solidFill>
              <a:latin typeface="Courier New" panose="02070309020205020404" pitchFamily="49" charset="0"/>
            </a:endParaRPr>
          </a:p>
        </p:txBody>
      </p:sp>
      <p:sp>
        <p:nvSpPr>
          <p:cNvPr id="6" name="正方形/長方形 5"/>
          <p:cNvSpPr/>
          <p:nvPr/>
        </p:nvSpPr>
        <p:spPr>
          <a:xfrm>
            <a:off x="799071" y="433280"/>
            <a:ext cx="7042249" cy="523220"/>
          </a:xfrm>
          <a:prstGeom prst="rect">
            <a:avLst/>
          </a:prstGeom>
        </p:spPr>
        <p:txBody>
          <a:bodyPr wrap="none">
            <a:spAutoFit/>
          </a:bodyPr>
          <a:lstStyle/>
          <a:p>
            <a:r>
              <a:rPr lang="en-US" altLang="ja-JP" sz="2800" b="1" dirty="0" err="1">
                <a:solidFill>
                  <a:srgbClr val="253555"/>
                </a:solidFill>
                <a:latin typeface="Lucida Grande"/>
              </a:rPr>
              <a:t>aiProcessPreset_TargetRealtime_MaxQuality</a:t>
            </a:r>
            <a:endParaRPr lang="ja-JP" altLang="en-US" sz="2800" dirty="0"/>
          </a:p>
        </p:txBody>
      </p:sp>
    </p:spTree>
    <p:extLst>
      <p:ext uri="{BB962C8B-B14F-4D97-AF65-F5344CB8AC3E}">
        <p14:creationId xmlns:p14="http://schemas.microsoft.com/office/powerpoint/2010/main" val="15299457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914400" y="606275"/>
            <a:ext cx="5957080" cy="523220"/>
          </a:xfrm>
          <a:prstGeom prst="rect">
            <a:avLst/>
          </a:prstGeom>
        </p:spPr>
        <p:txBody>
          <a:bodyPr wrap="none">
            <a:spAutoFit/>
          </a:bodyPr>
          <a:lstStyle/>
          <a:p>
            <a:r>
              <a:rPr lang="en-US" altLang="ja-JP" sz="2800" b="1" dirty="0" err="1"/>
              <a:t>aiProcess_ConvertToLeftHanded</a:t>
            </a:r>
            <a:endParaRPr lang="ja-JP" altLang="en-US" sz="2800" dirty="0"/>
          </a:p>
        </p:txBody>
      </p:sp>
      <p:sp>
        <p:nvSpPr>
          <p:cNvPr id="7" name="正方形/長方形 6"/>
          <p:cNvSpPr/>
          <p:nvPr/>
        </p:nvSpPr>
        <p:spPr>
          <a:xfrm>
            <a:off x="914400" y="1262103"/>
            <a:ext cx="6096000" cy="923330"/>
          </a:xfrm>
          <a:prstGeom prst="rect">
            <a:avLst/>
          </a:prstGeom>
        </p:spPr>
        <p:txBody>
          <a:bodyPr>
            <a:spAutoFit/>
          </a:bodyPr>
          <a:lstStyle/>
          <a:p>
            <a:r>
              <a:rPr lang="en-US" altLang="ja-JP" dirty="0" err="1">
                <a:solidFill>
                  <a:srgbClr val="000000"/>
                </a:solidFill>
                <a:latin typeface="Courier New" panose="02070309020205020404" pitchFamily="49" charset="0"/>
              </a:rPr>
              <a:t>aiProcess_MakeLeftHanded</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aiProcess_FlipUVs</a:t>
            </a:r>
            <a:endParaRPr lang="en-US" altLang="ja-JP" dirty="0">
              <a:solidFill>
                <a:srgbClr val="000000"/>
              </a:solidFill>
              <a:latin typeface="Courier New" panose="02070309020205020404" pitchFamily="49" charset="0"/>
            </a:endParaRPr>
          </a:p>
          <a:p>
            <a:r>
              <a:rPr lang="en-US" altLang="ja-JP" dirty="0" err="1">
                <a:solidFill>
                  <a:srgbClr val="000000"/>
                </a:solidFill>
                <a:latin typeface="Courier New" panose="02070309020205020404" pitchFamily="49" charset="0"/>
              </a:rPr>
              <a:t>aiProcess_FlipWindingOrder</a:t>
            </a:r>
            <a:r>
              <a:rPr lang="en-US" altLang="ja-JP" dirty="0">
                <a:solidFill>
                  <a:srgbClr val="000000"/>
                </a:solidFill>
                <a:latin typeface="Courier New" panose="02070309020205020404" pitchFamily="49" charset="0"/>
              </a:rPr>
              <a:t> </a:t>
            </a:r>
            <a:endParaRPr lang="en-US" altLang="ja-JP" b="0" i="0" u="none" strike="noStrike"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35765239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980303" y="339121"/>
            <a:ext cx="7488193"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aiProcess_FlipWindingOrder</a:t>
            </a:r>
            <a:endParaRPr lang="en-US" altLang="ja-JP" sz="3200" dirty="0">
              <a:solidFill>
                <a:srgbClr val="000000"/>
              </a:solidFill>
              <a:latin typeface="Courier New" panose="02070309020205020404" pitchFamily="49" charset="0"/>
            </a:endParaRPr>
          </a:p>
        </p:txBody>
      </p:sp>
      <p:sp>
        <p:nvSpPr>
          <p:cNvPr id="8" name="正方形/長方形 7"/>
          <p:cNvSpPr/>
          <p:nvPr/>
        </p:nvSpPr>
        <p:spPr>
          <a:xfrm>
            <a:off x="1219201" y="4307691"/>
            <a:ext cx="6087761" cy="646331"/>
          </a:xfrm>
          <a:prstGeom prst="rect">
            <a:avLst/>
          </a:prstGeom>
        </p:spPr>
        <p:txBody>
          <a:bodyPr wrap="square">
            <a:spAutoFit/>
          </a:bodyPr>
          <a:lstStyle/>
          <a:p>
            <a:r>
              <a:rPr lang="ja-JP" altLang="en-US" dirty="0"/>
              <a:t>このステップでは、頂点データ順を</a:t>
            </a:r>
            <a:r>
              <a:rPr lang="en-US" altLang="ja-JP" dirty="0"/>
              <a:t>CW</a:t>
            </a:r>
            <a:r>
              <a:rPr lang="ja-JP" altLang="en-US" dirty="0"/>
              <a:t>に調整します。        </a:t>
            </a:r>
            <a:endParaRPr lang="en-US" altLang="ja-JP" dirty="0"/>
          </a:p>
          <a:p>
            <a:r>
              <a:rPr lang="ja-JP" altLang="en-US" dirty="0"/>
              <a:t>デフォルトの頂点データ順は反時計回り（</a:t>
            </a:r>
            <a:r>
              <a:rPr lang="en-US" altLang="ja-JP" dirty="0"/>
              <a:t>CCW</a:t>
            </a:r>
            <a:r>
              <a:rPr lang="ja-JP" altLang="en-US" dirty="0"/>
              <a:t>）です。</a:t>
            </a:r>
          </a:p>
        </p:txBody>
      </p:sp>
      <p:sp>
        <p:nvSpPr>
          <p:cNvPr id="7" name="正方形/長方形 6"/>
          <p:cNvSpPr/>
          <p:nvPr/>
        </p:nvSpPr>
        <p:spPr>
          <a:xfrm>
            <a:off x="980302" y="1022168"/>
            <a:ext cx="9572367" cy="2585323"/>
          </a:xfrm>
          <a:prstGeom prst="rect">
            <a:avLst/>
          </a:prstGeom>
        </p:spPr>
        <p:txBody>
          <a:bodyPr wrap="square">
            <a:spAutoFit/>
          </a:bodyPr>
          <a:lstStyle/>
          <a:p>
            <a:r>
              <a:rPr lang="ja-JP" altLang="en-US" dirty="0"/>
              <a:t>This step adjusts the output face winding order to be CW. </a:t>
            </a:r>
          </a:p>
          <a:p>
            <a:endParaRPr lang="ja-JP" altLang="en-US" dirty="0"/>
          </a:p>
          <a:p>
            <a:r>
              <a:rPr lang="ja-JP" altLang="en-US" dirty="0"/>
              <a:t>       The default face winding order is counter clockwise (CCW).</a:t>
            </a:r>
          </a:p>
          <a:p>
            <a:endParaRPr lang="ja-JP" altLang="en-US" dirty="0"/>
          </a:p>
          <a:p>
            <a:r>
              <a:rPr lang="ja-JP" altLang="en-US" dirty="0"/>
              <a:t>       Output face order</a:t>
            </a:r>
          </a:p>
          <a:p>
            <a:r>
              <a:rPr lang="ja-JP" altLang="en-US" dirty="0"/>
              <a:t>             x2</a:t>
            </a:r>
          </a:p>
          <a:p>
            <a:endParaRPr lang="ja-JP" altLang="en-US" dirty="0"/>
          </a:p>
          <a:p>
            <a:r>
              <a:rPr lang="ja-JP" altLang="en-US" dirty="0"/>
              <a:t>                               x0</a:t>
            </a:r>
          </a:p>
          <a:p>
            <a:r>
              <a:rPr lang="ja-JP" altLang="en-US" dirty="0"/>
              <a:t>        x1</a:t>
            </a:r>
          </a:p>
        </p:txBody>
      </p:sp>
    </p:spTree>
    <p:extLst>
      <p:ext uri="{BB962C8B-B14F-4D97-AF65-F5344CB8AC3E}">
        <p14:creationId xmlns:p14="http://schemas.microsoft.com/office/powerpoint/2010/main" val="13200918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980304" y="339121"/>
            <a:ext cx="6096000" cy="584775"/>
          </a:xfrm>
          <a:prstGeom prst="rect">
            <a:avLst/>
          </a:prstGeom>
        </p:spPr>
        <p:txBody>
          <a:bodyPr>
            <a:spAutoFit/>
          </a:bodyPr>
          <a:lstStyle/>
          <a:p>
            <a:r>
              <a:rPr lang="en-US" altLang="ja-JP" sz="3200" dirty="0" err="1">
                <a:solidFill>
                  <a:srgbClr val="000000"/>
                </a:solidFill>
                <a:latin typeface="Courier New" panose="02070309020205020404" pitchFamily="49" charset="0"/>
              </a:rPr>
              <a:t>aiProcess_MakeLeftHanded</a:t>
            </a:r>
            <a:endParaRPr lang="en-US" altLang="ja-JP" sz="3200" dirty="0">
              <a:solidFill>
                <a:srgbClr val="000000"/>
              </a:solidFill>
              <a:latin typeface="Courier New" panose="02070309020205020404" pitchFamily="49" charset="0"/>
            </a:endParaRPr>
          </a:p>
        </p:txBody>
      </p:sp>
      <p:sp>
        <p:nvSpPr>
          <p:cNvPr id="8" name="正方形/長方形 7"/>
          <p:cNvSpPr/>
          <p:nvPr/>
        </p:nvSpPr>
        <p:spPr>
          <a:xfrm>
            <a:off x="980304" y="3714567"/>
            <a:ext cx="10610334" cy="1754326"/>
          </a:xfrm>
          <a:prstGeom prst="rect">
            <a:avLst/>
          </a:prstGeom>
        </p:spPr>
        <p:txBody>
          <a:bodyPr wrap="square">
            <a:spAutoFit/>
          </a:bodyPr>
          <a:lstStyle/>
          <a:p>
            <a:r>
              <a:rPr lang="ja-JP" altLang="en-US" dirty="0"/>
              <a:t>インポートされたすべてのデータを左手座標空間に変換します。デフォルトでは、データは右手座標空間（</a:t>
            </a:r>
            <a:r>
              <a:rPr lang="en-US" altLang="ja-JP" dirty="0"/>
              <a:t>OpenGL</a:t>
            </a:r>
            <a:r>
              <a:rPr lang="ja-JP" altLang="en-US" dirty="0"/>
              <a:t>が推奨）で返されます。 この空間では、</a:t>
            </a:r>
            <a:r>
              <a:rPr lang="en-US" altLang="ja-JP" dirty="0"/>
              <a:t>+ X</a:t>
            </a:r>
            <a:r>
              <a:rPr lang="ja-JP" altLang="en-US" dirty="0"/>
              <a:t>は右を指し、</a:t>
            </a:r>
            <a:r>
              <a:rPr lang="en-US" altLang="ja-JP" dirty="0"/>
              <a:t>+ Z</a:t>
            </a:r>
            <a:r>
              <a:rPr lang="ja-JP" altLang="en-US" dirty="0"/>
              <a:t>は視聴者を指し、</a:t>
            </a:r>
            <a:r>
              <a:rPr lang="en-US" altLang="ja-JP" dirty="0"/>
              <a:t>+ Y</a:t>
            </a:r>
            <a:r>
              <a:rPr lang="ja-JP" altLang="en-US" dirty="0"/>
              <a:t>は上を指します。 </a:t>
            </a:r>
            <a:r>
              <a:rPr lang="en-US" altLang="ja-JP" dirty="0"/>
              <a:t>DirectX</a:t>
            </a:r>
            <a:r>
              <a:rPr lang="ja-JP" altLang="en-US" dirty="0"/>
              <a:t>座標空間では、</a:t>
            </a:r>
            <a:r>
              <a:rPr lang="en-US" altLang="ja-JP" dirty="0"/>
              <a:t>+ X</a:t>
            </a:r>
            <a:r>
              <a:rPr lang="ja-JP" altLang="en-US" dirty="0"/>
              <a:t>は右を指し、</a:t>
            </a:r>
            <a:r>
              <a:rPr lang="en-US" altLang="ja-JP" dirty="0"/>
              <a:t>+ Y</a:t>
            </a:r>
            <a:r>
              <a:rPr lang="ja-JP" altLang="en-US" dirty="0"/>
              <a:t>は上を指し、</a:t>
            </a:r>
            <a:r>
              <a:rPr lang="en-US" altLang="ja-JP" dirty="0"/>
              <a:t>+ Z</a:t>
            </a:r>
            <a:r>
              <a:rPr lang="ja-JP" altLang="en-US" dirty="0"/>
              <a:t>は視聴者から離れた方向を指します。 レンダリングに</a:t>
            </a:r>
            <a:r>
              <a:rPr lang="en-US" altLang="ja-JP" dirty="0"/>
              <a:t>Direct3D</a:t>
            </a:r>
            <a:r>
              <a:rPr lang="ja-JP" altLang="en-US" dirty="0"/>
              <a:t>を使用する場合は、おそらくこのフラグを検討する必要があります。 </a:t>
            </a:r>
            <a:r>
              <a:rPr lang="en-US" altLang="ja-JP" dirty="0"/>
              <a:t>#</a:t>
            </a:r>
            <a:r>
              <a:rPr lang="en-US" altLang="ja-JP" dirty="0" err="1"/>
              <a:t>aiProcess_ConvertToLeftHanded</a:t>
            </a:r>
            <a:r>
              <a:rPr lang="ja-JP" altLang="en-US" dirty="0"/>
              <a:t>フラグはこの設定に優先し、</a:t>
            </a:r>
            <a:r>
              <a:rPr lang="en-US" altLang="ja-JP" dirty="0"/>
              <a:t>D3D</a:t>
            </a:r>
            <a:r>
              <a:rPr lang="ja-JP" altLang="en-US" dirty="0"/>
              <a:t>ベースのアプリケーションに通常必要なすべての変換をバンドルします。</a:t>
            </a:r>
          </a:p>
        </p:txBody>
      </p:sp>
      <p:sp>
        <p:nvSpPr>
          <p:cNvPr id="4" name="正方形/長方形 3"/>
          <p:cNvSpPr/>
          <p:nvPr/>
        </p:nvSpPr>
        <p:spPr>
          <a:xfrm>
            <a:off x="922639" y="1212434"/>
            <a:ext cx="10445577" cy="2031325"/>
          </a:xfrm>
          <a:prstGeom prst="rect">
            <a:avLst/>
          </a:prstGeom>
        </p:spPr>
        <p:txBody>
          <a:bodyPr wrap="square">
            <a:spAutoFit/>
          </a:bodyPr>
          <a:lstStyle/>
          <a:p>
            <a:r>
              <a:rPr lang="en-US" altLang="ja-JP" dirty="0"/>
              <a:t>Converts all the imported data to a left-handed coordinate space. </a:t>
            </a:r>
            <a:endParaRPr lang="en-US" altLang="ja-JP" dirty="0">
              <a:latin typeface="Lucida Grande"/>
            </a:endParaRPr>
          </a:p>
          <a:p>
            <a:r>
              <a:rPr lang="en-US" altLang="ja-JP" dirty="0"/>
              <a:t>By default the data is returned in a right-handed coordinate space (which OpenGL prefers). In this space, +X points to the right, +Z points towards the viewer, and +Y points upwards. In the DirectX coordinate space +X points to the right, +Y points upwards, and +Z points away from the viewer. You'll probably want to consider this flag if you use Direct3D for rendering. The #</a:t>
            </a:r>
            <a:r>
              <a:rPr lang="en-US" altLang="ja-JP" dirty="0" err="1"/>
              <a:t>aiProcess_ConvertToLeftHanded</a:t>
            </a:r>
            <a:r>
              <a:rPr lang="en-US" altLang="ja-JP" dirty="0"/>
              <a:t> flag supersedes this setting and bundles all conversions typically required for D3D-based applications.</a:t>
            </a:r>
          </a:p>
        </p:txBody>
      </p:sp>
    </p:spTree>
    <p:extLst>
      <p:ext uri="{BB962C8B-B14F-4D97-AF65-F5344CB8AC3E}">
        <p14:creationId xmlns:p14="http://schemas.microsoft.com/office/powerpoint/2010/main" val="41669277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849" y="678572"/>
            <a:ext cx="7669427" cy="5336039"/>
          </a:xfrm>
          <a:prstGeom prst="rect">
            <a:avLst/>
          </a:prstGeom>
        </p:spPr>
      </p:pic>
    </p:spTree>
    <p:extLst>
      <p:ext uri="{BB962C8B-B14F-4D97-AF65-F5344CB8AC3E}">
        <p14:creationId xmlns:p14="http://schemas.microsoft.com/office/powerpoint/2010/main" val="23788825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980304" y="339121"/>
            <a:ext cx="6096000" cy="584775"/>
          </a:xfrm>
          <a:prstGeom prst="rect">
            <a:avLst/>
          </a:prstGeom>
        </p:spPr>
        <p:txBody>
          <a:bodyPr>
            <a:spAutoFit/>
          </a:bodyPr>
          <a:lstStyle/>
          <a:p>
            <a:r>
              <a:rPr lang="en-US" altLang="ja-JP" sz="3200" i="1" dirty="0" err="1">
                <a:solidFill>
                  <a:srgbClr val="000000"/>
                </a:solidFill>
                <a:latin typeface="Lucida Grande"/>
              </a:rPr>
              <a:t>aiProcess_FlipUVs</a:t>
            </a:r>
            <a:endParaRPr lang="en-US" altLang="ja-JP" sz="3200" dirty="0">
              <a:solidFill>
                <a:srgbClr val="000000"/>
              </a:solidFill>
              <a:latin typeface="Courier New" panose="02070309020205020404" pitchFamily="49" charset="0"/>
            </a:endParaRPr>
          </a:p>
        </p:txBody>
      </p:sp>
      <p:sp>
        <p:nvSpPr>
          <p:cNvPr id="7" name="正方形/長方形 6"/>
          <p:cNvSpPr/>
          <p:nvPr/>
        </p:nvSpPr>
        <p:spPr>
          <a:xfrm>
            <a:off x="980304" y="1084982"/>
            <a:ext cx="10898658" cy="3139321"/>
          </a:xfrm>
          <a:prstGeom prst="rect">
            <a:avLst/>
          </a:prstGeom>
        </p:spPr>
        <p:txBody>
          <a:bodyPr wrap="square">
            <a:spAutoFit/>
          </a:bodyPr>
          <a:lstStyle/>
          <a:p>
            <a:r>
              <a:rPr lang="en-US" altLang="ja-JP" dirty="0"/>
              <a:t>This step flips all UV coordinates along the y-axis and adjusts material settings and </a:t>
            </a:r>
            <a:r>
              <a:rPr lang="en-US" altLang="ja-JP" dirty="0" err="1"/>
              <a:t>bitangents</a:t>
            </a:r>
            <a:r>
              <a:rPr lang="en-US" altLang="ja-JP" dirty="0"/>
              <a:t> accordingly.</a:t>
            </a:r>
          </a:p>
          <a:p>
            <a:r>
              <a:rPr lang="en-US" altLang="ja-JP" b="1" dirty="0"/>
              <a:t>Output UV coordinate system:</a:t>
            </a:r>
            <a:r>
              <a:rPr lang="en-US" altLang="ja-JP" dirty="0"/>
              <a:t> </a:t>
            </a:r>
          </a:p>
          <a:p>
            <a:r>
              <a:rPr lang="en-US" altLang="ja-JP" dirty="0"/>
              <a:t>0y|0y ---------- 1x|0y </a:t>
            </a:r>
          </a:p>
          <a:p>
            <a:r>
              <a:rPr lang="en-US" altLang="ja-JP" dirty="0"/>
              <a:t>| </a:t>
            </a:r>
            <a:r>
              <a:rPr lang="ja-JP" altLang="en-US" dirty="0"/>
              <a:t>　　　　　　　　</a:t>
            </a:r>
            <a:r>
              <a:rPr lang="en-US" altLang="ja-JP" dirty="0"/>
              <a:t>|</a:t>
            </a:r>
          </a:p>
          <a:p>
            <a:r>
              <a:rPr lang="en-US" altLang="ja-JP" dirty="0"/>
              <a:t>| </a:t>
            </a:r>
            <a:r>
              <a:rPr lang="ja-JP" altLang="en-US" dirty="0"/>
              <a:t>　　　　　　　　</a:t>
            </a:r>
            <a:r>
              <a:rPr lang="en-US" altLang="ja-JP" dirty="0"/>
              <a:t>|</a:t>
            </a:r>
          </a:p>
          <a:p>
            <a:r>
              <a:rPr lang="en-US" altLang="ja-JP" dirty="0"/>
              <a:t>| </a:t>
            </a:r>
            <a:r>
              <a:rPr lang="ja-JP" altLang="en-US" dirty="0"/>
              <a:t>　　　　　　　　</a:t>
            </a:r>
            <a:r>
              <a:rPr lang="en-US" altLang="ja-JP" dirty="0"/>
              <a:t>|</a:t>
            </a:r>
          </a:p>
          <a:p>
            <a:r>
              <a:rPr lang="en-US" altLang="ja-JP" dirty="0"/>
              <a:t>0x|1y ---------- 1x|1y</a:t>
            </a:r>
          </a:p>
          <a:p>
            <a:r>
              <a:rPr lang="en-US" altLang="ja-JP" dirty="0"/>
              <a:t>You'll probably want to consider this flag if you use Direct3D for rendering. The </a:t>
            </a:r>
            <a:r>
              <a:rPr lang="en-US" altLang="ja-JP" b="1" dirty="0" err="1">
                <a:hlinkClick r:id="rId2" tooltip="Shortcut flag for Direct3D-based applications."/>
              </a:rPr>
              <a:t>aiProcess_ConvertToLeftHanded</a:t>
            </a:r>
            <a:r>
              <a:rPr lang="en-US" altLang="ja-JP" dirty="0"/>
              <a:t> flag supersedes this setting and bundles all conversions typically required for D3D-based applications. </a:t>
            </a:r>
          </a:p>
        </p:txBody>
      </p:sp>
      <p:sp>
        <p:nvSpPr>
          <p:cNvPr id="8" name="正方形/長方形 7"/>
          <p:cNvSpPr/>
          <p:nvPr/>
        </p:nvSpPr>
        <p:spPr>
          <a:xfrm>
            <a:off x="922639" y="4472448"/>
            <a:ext cx="9679458" cy="1477328"/>
          </a:xfrm>
          <a:prstGeom prst="rect">
            <a:avLst/>
          </a:prstGeom>
        </p:spPr>
        <p:txBody>
          <a:bodyPr wrap="square">
            <a:spAutoFit/>
          </a:bodyPr>
          <a:lstStyle/>
          <a:p>
            <a:r>
              <a:rPr lang="ja-JP" altLang="en-US" dirty="0"/>
              <a:t>この手順では、</a:t>
            </a:r>
            <a:r>
              <a:rPr lang="en-US" altLang="ja-JP" dirty="0"/>
              <a:t>y</a:t>
            </a:r>
            <a:r>
              <a:rPr lang="ja-JP" altLang="en-US" dirty="0"/>
              <a:t>軸に沿ってすべての</a:t>
            </a:r>
            <a:r>
              <a:rPr lang="en-US" altLang="ja-JP" dirty="0"/>
              <a:t>UV</a:t>
            </a:r>
            <a:r>
              <a:rPr lang="ja-JP" altLang="en-US" dirty="0"/>
              <a:t>座標を反転し、それに応じてマテリアル設定を調整します。</a:t>
            </a:r>
            <a:endParaRPr lang="en-US" altLang="ja-JP" dirty="0"/>
          </a:p>
          <a:p>
            <a:r>
              <a:rPr lang="ja-JP" altLang="en-US" dirty="0"/>
              <a:t>レンダリングに</a:t>
            </a:r>
            <a:r>
              <a:rPr lang="en-US" altLang="ja-JP" dirty="0"/>
              <a:t>Direct3D</a:t>
            </a:r>
            <a:r>
              <a:rPr lang="ja-JP" altLang="en-US" dirty="0"/>
              <a:t>を使用する場合は、おそらくこのフラグを検討する必要があります。 </a:t>
            </a:r>
            <a:r>
              <a:rPr lang="en-US" altLang="ja-JP" dirty="0" err="1"/>
              <a:t>aiProcess_ConvertToLeftHanded</a:t>
            </a:r>
            <a:r>
              <a:rPr lang="ja-JP" altLang="en-US" dirty="0"/>
              <a:t>フラグはこの設定に優先し、</a:t>
            </a:r>
            <a:r>
              <a:rPr lang="en-US" altLang="ja-JP" dirty="0"/>
              <a:t>D3D</a:t>
            </a:r>
            <a:r>
              <a:rPr lang="ja-JP" altLang="en-US" dirty="0"/>
              <a:t>ベースのアプリケーションに通常必要なすべての変換をバンドルします。</a:t>
            </a:r>
          </a:p>
        </p:txBody>
      </p:sp>
    </p:spTree>
    <p:extLst>
      <p:ext uri="{BB962C8B-B14F-4D97-AF65-F5344CB8AC3E}">
        <p14:creationId xmlns:p14="http://schemas.microsoft.com/office/powerpoint/2010/main" val="25397395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219201" y="599247"/>
            <a:ext cx="6096000" cy="584775"/>
          </a:xfrm>
          <a:prstGeom prst="rect">
            <a:avLst/>
          </a:prstGeom>
        </p:spPr>
        <p:txBody>
          <a:bodyPr>
            <a:spAutoFit/>
          </a:bodyPr>
          <a:lstStyle/>
          <a:p>
            <a:r>
              <a:rPr lang="en-US" altLang="ja-JP" sz="3200" dirty="0" err="1">
                <a:solidFill>
                  <a:srgbClr val="000000"/>
                </a:solidFill>
                <a:latin typeface="Courier New" panose="02070309020205020404" pitchFamily="49" charset="0"/>
              </a:rPr>
              <a:t>aiProcess_FindInstances</a:t>
            </a:r>
            <a:endParaRPr lang="en-US" altLang="ja-JP" sz="3200" dirty="0">
              <a:solidFill>
                <a:srgbClr val="000000"/>
              </a:solidFill>
              <a:latin typeface="Courier New" panose="02070309020205020404" pitchFamily="49" charset="0"/>
            </a:endParaRPr>
          </a:p>
        </p:txBody>
      </p:sp>
      <p:sp>
        <p:nvSpPr>
          <p:cNvPr id="7" name="正方形/長方形 6"/>
          <p:cNvSpPr/>
          <p:nvPr/>
        </p:nvSpPr>
        <p:spPr>
          <a:xfrm>
            <a:off x="1120347" y="1373307"/>
            <a:ext cx="9399373" cy="2308324"/>
          </a:xfrm>
          <a:prstGeom prst="rect">
            <a:avLst/>
          </a:prstGeom>
        </p:spPr>
        <p:txBody>
          <a:bodyPr wrap="square">
            <a:spAutoFit/>
          </a:bodyPr>
          <a:lstStyle/>
          <a:p>
            <a:r>
              <a:rPr lang="en-US" altLang="ja-JP" dirty="0"/>
              <a:t>This step searches for duplicate meshes and replaces them with references to the first mesh.</a:t>
            </a:r>
            <a:endParaRPr lang="en-US" altLang="ja-JP" dirty="0">
              <a:latin typeface="Lucida Grande"/>
            </a:endParaRPr>
          </a:p>
          <a:p>
            <a:r>
              <a:rPr lang="en-US" altLang="ja-JP" dirty="0">
                <a:latin typeface="Lucida Grande"/>
              </a:rPr>
              <a:t>This step takes a while, so don't use it if speed is a concern. Its main purpose is to workaround the fact that many export file formats don't support instanced meshes, so exporters need to duplicate meshes. This step removes the duplicates again. Please note that </a:t>
            </a:r>
            <a:r>
              <a:rPr lang="en-US" altLang="ja-JP" b="1" dirty="0" err="1">
                <a:solidFill>
                  <a:srgbClr val="3D578C"/>
                </a:solidFill>
                <a:latin typeface="Lucida Grande"/>
                <a:hlinkClick r:id="rId2" tooltip="Assimp's CPP-API and all internal APIs."/>
              </a:rPr>
              <a:t>Assimp</a:t>
            </a:r>
            <a:r>
              <a:rPr lang="en-US" altLang="ja-JP" dirty="0">
                <a:latin typeface="Lucida Grande"/>
              </a:rPr>
              <a:t> does not currently support per-node material assignment to meshes, which means that identical meshes with different materials are currently </a:t>
            </a:r>
            <a:r>
              <a:rPr lang="en-US" altLang="ja-JP" i="1" dirty="0">
                <a:latin typeface="Lucida Grande"/>
              </a:rPr>
              <a:t>not</a:t>
            </a:r>
            <a:r>
              <a:rPr lang="en-US" altLang="ja-JP" dirty="0">
                <a:latin typeface="Lucida Grande"/>
              </a:rPr>
              <a:t> joined, although this is planned for future versions. </a:t>
            </a:r>
          </a:p>
        </p:txBody>
      </p:sp>
      <p:sp>
        <p:nvSpPr>
          <p:cNvPr id="8" name="正方形/長方形 7"/>
          <p:cNvSpPr/>
          <p:nvPr/>
        </p:nvSpPr>
        <p:spPr>
          <a:xfrm>
            <a:off x="1120347" y="3870916"/>
            <a:ext cx="9679458" cy="2031325"/>
          </a:xfrm>
          <a:prstGeom prst="rect">
            <a:avLst/>
          </a:prstGeom>
        </p:spPr>
        <p:txBody>
          <a:bodyPr wrap="square">
            <a:spAutoFit/>
          </a:bodyPr>
          <a:lstStyle/>
          <a:p>
            <a:r>
              <a:rPr lang="ja-JP" altLang="en-US" dirty="0"/>
              <a:t>このステップでは、重複するメッシュを検索し、それらを最初のメッシュへの参照に置き換えます。この手順には時間がかかるため、速度が問題になる場合は使用しないでください。 その主な目的は、多くのエクスポートファイル形式がインスタンス化されたメッシュをサポートしないため、エクスポーターがメッシュを複製する必要があるという事実を回避することです。 この手順により、重複が再び削除されます。 Assimpは現在、メッシュへのノードごとのマテリアルの割り当てをサポートしていないことに注意してください。これは、異なるマテリアルの同一メッシュは現在結合されていないことを意味します。</a:t>
            </a:r>
          </a:p>
        </p:txBody>
      </p:sp>
    </p:spTree>
    <p:extLst>
      <p:ext uri="{BB962C8B-B14F-4D97-AF65-F5344CB8AC3E}">
        <p14:creationId xmlns:p14="http://schemas.microsoft.com/office/powerpoint/2010/main" val="10176866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120347" y="500393"/>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aiProcess_ValidateDataStructure</a:t>
            </a:r>
            <a:endParaRPr lang="en-US" altLang="ja-JP" sz="3200" dirty="0">
              <a:solidFill>
                <a:srgbClr val="000000"/>
              </a:solidFill>
              <a:latin typeface="Courier New" panose="02070309020205020404" pitchFamily="49" charset="0"/>
            </a:endParaRPr>
          </a:p>
        </p:txBody>
      </p:sp>
      <p:sp>
        <p:nvSpPr>
          <p:cNvPr id="9" name="正方形/長方形 8"/>
          <p:cNvSpPr/>
          <p:nvPr/>
        </p:nvSpPr>
        <p:spPr>
          <a:xfrm>
            <a:off x="1120347" y="1219200"/>
            <a:ext cx="10280821" cy="3970318"/>
          </a:xfrm>
          <a:prstGeom prst="rect">
            <a:avLst/>
          </a:prstGeom>
        </p:spPr>
        <p:txBody>
          <a:bodyPr wrap="square">
            <a:spAutoFit/>
          </a:bodyPr>
          <a:lstStyle/>
          <a:p>
            <a:r>
              <a:rPr lang="ja-JP" altLang="en-US" dirty="0"/>
              <a:t>Validates the imported scene data structure. This makes sure that all indices are valid, all animations and bones are linked correctly, all material references are correct </a:t>
            </a:r>
            <a:r>
              <a:rPr lang="ja-JP" altLang="en-US" dirty="0" err="1"/>
              <a:t>..</a:t>
            </a:r>
            <a:r>
              <a:rPr lang="ja-JP" altLang="en-US" dirty="0"/>
              <a:t> etc.</a:t>
            </a:r>
          </a:p>
          <a:p>
            <a:endParaRPr lang="ja-JP" altLang="en-US" dirty="0"/>
          </a:p>
          <a:p>
            <a:r>
              <a:rPr lang="ja-JP" altLang="en-US" dirty="0"/>
              <a:t>It is recommended that you capture Assimp's log output if you use this flag, so you can easily find out what's wrong if a file fails the validation. The validator is quite strict and will find all inconsistencies in the data structure</a:t>
            </a:r>
            <a:r>
              <a:rPr lang="ja-JP" altLang="en-US" dirty="0" err="1"/>
              <a:t>...</a:t>
            </a:r>
            <a:r>
              <a:rPr lang="ja-JP" altLang="en-US" dirty="0"/>
              <a:t> It is recommended that plugin developers use it to debug their loaders. There are two types of validation failures: </a:t>
            </a:r>
          </a:p>
          <a:p>
            <a:r>
              <a:rPr lang="ja-JP" altLang="en-US" dirty="0"/>
              <a:t>Error: There's something wrong with the imported data. Further postprocessing is not possible and the data is not usable at all. The import fails. #Importer::GetErrorString() or aiGetErrorString() carry the error message around. </a:t>
            </a:r>
          </a:p>
          <a:p>
            <a:r>
              <a:rPr lang="ja-JP" altLang="en-US" dirty="0"/>
              <a:t>Warning: There are some minor issues (e.g. 1000000 animation keyframes with the same time), but further postprocessing and use of the data structure is still safe. Warning details are written to the log file, #AI_SCENE_FLAGS_VALIDATION_WARNING is set in aiScene::mFlags </a:t>
            </a:r>
          </a:p>
          <a:p>
            <a:r>
              <a:rPr lang="ja-JP" altLang="en-US" dirty="0"/>
              <a:t>This post-processing step is not time-consuming. Its use is not compulsory, but recommended.</a:t>
            </a:r>
          </a:p>
        </p:txBody>
      </p:sp>
    </p:spTree>
    <p:extLst>
      <p:ext uri="{BB962C8B-B14F-4D97-AF65-F5344CB8AC3E}">
        <p14:creationId xmlns:p14="http://schemas.microsoft.com/office/powerpoint/2010/main" val="17997596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120347" y="500393"/>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aiProcess_ValidateDataStructure</a:t>
            </a:r>
            <a:endParaRPr lang="en-US" altLang="ja-JP" sz="3200" dirty="0">
              <a:solidFill>
                <a:srgbClr val="000000"/>
              </a:solidFill>
              <a:latin typeface="Courier New" panose="02070309020205020404" pitchFamily="49" charset="0"/>
            </a:endParaRPr>
          </a:p>
        </p:txBody>
      </p:sp>
      <p:sp>
        <p:nvSpPr>
          <p:cNvPr id="10" name="正方形/長方形 9"/>
          <p:cNvSpPr/>
          <p:nvPr/>
        </p:nvSpPr>
        <p:spPr>
          <a:xfrm>
            <a:off x="1120347" y="1713108"/>
            <a:ext cx="10453816" cy="3693319"/>
          </a:xfrm>
          <a:prstGeom prst="rect">
            <a:avLst/>
          </a:prstGeom>
        </p:spPr>
        <p:txBody>
          <a:bodyPr wrap="square">
            <a:spAutoFit/>
          </a:bodyPr>
          <a:lstStyle/>
          <a:p>
            <a:r>
              <a:rPr lang="ja-JP" altLang="en-US" dirty="0"/>
              <a:t>インポートされたシーンデータ構造を検証します。これにより、すべてのインデックスが有効になり、すべてのアニメーションとボーンが正しくリンクされ、すべてのマテリアル参照が正しくなります。このフラグを使用する場合は、Assimpのログ出力をキャプチャすることをお勧めします。これにより、ファイルが検証に失敗した場合に何が間違っているかを簡単に見つけることができます。バリデーターは非常に厳密であり、データ構造のすべての不一致を検出します</a:t>
            </a:r>
            <a:r>
              <a:rPr lang="ja-JP" altLang="en-US" dirty="0" err="1"/>
              <a:t>...</a:t>
            </a:r>
            <a:r>
              <a:rPr lang="ja-JP" altLang="en-US" dirty="0"/>
              <a:t>プラグイン開発者はそれを使用してローダーをデバッグすることをお勧めします。検証の失敗には2つのタイプがあります。エラー：インポートされたデータに問題があります。それ以上の後処理は不可能であり、データはまったく使用できません。インポートは失敗します。 #Importer :: GetErrorString（）またはaiGetErrorString（）はエラーメッセージを運びます。警告：いくつかの小さな問題（たとえば、同時に1000000のアニメーションキーフレーム）がありますが、データ構造のさらなる後処理と使用は依然として安全です。警告の詳細はログファイルに書き込まれ、＃AI_SCENE_FLAGS_VALIDATION_WARNINGがaiScene :: mFlagsに設定されますこの後処理ステップには時間がかかりません。その使用は必須ではありませんが、推奨されます。</a:t>
            </a:r>
          </a:p>
        </p:txBody>
      </p:sp>
    </p:spTree>
    <p:extLst>
      <p:ext uri="{BB962C8B-B14F-4D97-AF65-F5344CB8AC3E}">
        <p14:creationId xmlns:p14="http://schemas.microsoft.com/office/powerpoint/2010/main" val="28844323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120347" y="500393"/>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aiProcess_OptimizeMeshes</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1021491" y="1582341"/>
            <a:ext cx="10107827" cy="2031325"/>
          </a:xfrm>
          <a:prstGeom prst="rect">
            <a:avLst/>
          </a:prstGeom>
        </p:spPr>
        <p:txBody>
          <a:bodyPr wrap="square">
            <a:spAutoFit/>
          </a:bodyPr>
          <a:lstStyle/>
          <a:p>
            <a:r>
              <a:rPr lang="ja-JP" altLang="en-US" dirty="0"/>
              <a:t>A postprocessing step to reduce the number of meshes. </a:t>
            </a:r>
          </a:p>
          <a:p>
            <a:endParaRPr lang="ja-JP" altLang="en-US" dirty="0"/>
          </a:p>
          <a:p>
            <a:r>
              <a:rPr lang="ja-JP" altLang="en-US" dirty="0"/>
              <a:t>        This will, in fact, reduce the number of draw calls.</a:t>
            </a:r>
          </a:p>
          <a:p>
            <a:endParaRPr lang="ja-JP" altLang="en-US" dirty="0"/>
          </a:p>
          <a:p>
            <a:r>
              <a:rPr lang="ja-JP" altLang="en-US" dirty="0"/>
              <a:t>        This is a very effective optimization and is recommended to be used</a:t>
            </a:r>
          </a:p>
          <a:p>
            <a:r>
              <a:rPr lang="ja-JP" altLang="en-US" dirty="0"/>
              <a:t>        together with #aiProcess_OptimizeGraph, if possible. The flag is fully</a:t>
            </a:r>
          </a:p>
          <a:p>
            <a:r>
              <a:rPr lang="ja-JP" altLang="en-US" dirty="0"/>
              <a:t>        compatible with both #aiProcess_SplitLargeMeshes and #aiProcess_SortByPType.</a:t>
            </a:r>
          </a:p>
        </p:txBody>
      </p:sp>
      <p:sp>
        <p:nvSpPr>
          <p:cNvPr id="4" name="正方形/長方形 3"/>
          <p:cNvSpPr/>
          <p:nvPr/>
        </p:nvSpPr>
        <p:spPr>
          <a:xfrm>
            <a:off x="1120347" y="4110839"/>
            <a:ext cx="9753600" cy="1200329"/>
          </a:xfrm>
          <a:prstGeom prst="rect">
            <a:avLst/>
          </a:prstGeom>
        </p:spPr>
        <p:txBody>
          <a:bodyPr wrap="square">
            <a:spAutoFit/>
          </a:bodyPr>
          <a:lstStyle/>
          <a:p>
            <a:r>
              <a:rPr lang="ja-JP" altLang="en-US" dirty="0"/>
              <a:t>メッシュの数を減らすための後処理ステップ。         これにより、実際には描画呼び出しの回数が減ります。         これは非常に効果的な最適化であり、使用することをお勧めします         可能であれば、＃aiProcess_OptimizeGraphと一緒に。 フラグは完全に         #aiProcess_SplitLargeMeshesと#aiProcess_SortByPTypeの両方と互換性があります。</a:t>
            </a:r>
          </a:p>
        </p:txBody>
      </p:sp>
    </p:spTree>
    <p:extLst>
      <p:ext uri="{BB962C8B-B14F-4D97-AF65-F5344CB8AC3E}">
        <p14:creationId xmlns:p14="http://schemas.microsoft.com/office/powerpoint/2010/main" val="8770756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120347" y="500393"/>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aiProcess_Debone</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634313" y="1017684"/>
            <a:ext cx="10107827" cy="3139321"/>
          </a:xfrm>
          <a:prstGeom prst="rect">
            <a:avLst/>
          </a:prstGeom>
        </p:spPr>
        <p:txBody>
          <a:bodyPr wrap="square">
            <a:spAutoFit/>
          </a:bodyPr>
          <a:lstStyle/>
          <a:p>
            <a:r>
              <a:rPr lang="en-US" altLang="ja-JP" dirty="0"/>
              <a:t>This step removes bones </a:t>
            </a:r>
            <a:r>
              <a:rPr lang="en-US" altLang="ja-JP" dirty="0" err="1"/>
              <a:t>losslessly</a:t>
            </a:r>
            <a:r>
              <a:rPr lang="en-US" altLang="ja-JP" dirty="0"/>
              <a:t> or according to some threshold. </a:t>
            </a:r>
          </a:p>
          <a:p>
            <a:endParaRPr lang="en-US" altLang="ja-JP" dirty="0"/>
          </a:p>
          <a:p>
            <a:r>
              <a:rPr lang="en-US" altLang="ja-JP" dirty="0"/>
              <a:t>        In some cases (i.e. formats that require it) exporters are forced to</a:t>
            </a:r>
          </a:p>
          <a:p>
            <a:r>
              <a:rPr lang="en-US" altLang="ja-JP" dirty="0"/>
              <a:t>        assign dummy bone weights to otherwise static meshes assigned to</a:t>
            </a:r>
          </a:p>
          <a:p>
            <a:r>
              <a:rPr lang="en-US" altLang="ja-JP" dirty="0"/>
              <a:t>        animated meshes. Full, weight-based skinning is expensive while</a:t>
            </a:r>
          </a:p>
          <a:p>
            <a:r>
              <a:rPr lang="en-US" altLang="ja-JP" dirty="0"/>
              <a:t>        animating nodes is extremely cheap, so this step is offered to clean up</a:t>
            </a:r>
          </a:p>
          <a:p>
            <a:r>
              <a:rPr lang="en-US" altLang="ja-JP" dirty="0"/>
              <a:t>        the data in that regard. </a:t>
            </a:r>
          </a:p>
          <a:p>
            <a:endParaRPr lang="en-US" altLang="ja-JP" dirty="0"/>
          </a:p>
          <a:p>
            <a:r>
              <a:rPr lang="en-US" altLang="ja-JP" dirty="0"/>
              <a:t>        Use &lt;</a:t>
            </a:r>
            <a:r>
              <a:rPr lang="en-US" altLang="ja-JP" dirty="0" err="1"/>
              <a:t>tt</a:t>
            </a:r>
            <a:r>
              <a:rPr lang="en-US" altLang="ja-JP" dirty="0"/>
              <a:t>&gt;#AI_CONFIG_PP_DB_THRESHOLD&lt;/</a:t>
            </a:r>
            <a:r>
              <a:rPr lang="en-US" altLang="ja-JP" dirty="0" err="1"/>
              <a:t>tt</a:t>
            </a:r>
            <a:r>
              <a:rPr lang="en-US" altLang="ja-JP" dirty="0"/>
              <a:t>&gt; to control this. </a:t>
            </a:r>
          </a:p>
          <a:p>
            <a:r>
              <a:rPr lang="en-US" altLang="ja-JP" dirty="0"/>
              <a:t>        Use &lt;</a:t>
            </a:r>
            <a:r>
              <a:rPr lang="en-US" altLang="ja-JP" dirty="0" err="1"/>
              <a:t>tt</a:t>
            </a:r>
            <a:r>
              <a:rPr lang="en-US" altLang="ja-JP" dirty="0"/>
              <a:t>&gt;#AI_CONFIG_PP_DB_ALL_OR_NONE&lt;/</a:t>
            </a:r>
            <a:r>
              <a:rPr lang="en-US" altLang="ja-JP" dirty="0" err="1"/>
              <a:t>tt</a:t>
            </a:r>
            <a:r>
              <a:rPr lang="en-US" altLang="ja-JP" dirty="0"/>
              <a:t>&gt; if you want bones removed if and </a:t>
            </a:r>
          </a:p>
          <a:p>
            <a:r>
              <a:rPr lang="en-US" altLang="ja-JP" dirty="0"/>
              <a:t>            only if all bones within the scene qualify for removal.</a:t>
            </a:r>
            <a:r>
              <a:rPr lang="ja-JP" altLang="en-US" dirty="0" err="1"/>
              <a:t>.</a:t>
            </a:r>
            <a:endParaRPr lang="ja-JP" altLang="en-US" dirty="0"/>
          </a:p>
        </p:txBody>
      </p:sp>
      <p:sp>
        <p:nvSpPr>
          <p:cNvPr id="4" name="正方形/長方形 3"/>
          <p:cNvSpPr/>
          <p:nvPr/>
        </p:nvSpPr>
        <p:spPr>
          <a:xfrm>
            <a:off x="811425" y="4371558"/>
            <a:ext cx="10902779" cy="2031325"/>
          </a:xfrm>
          <a:prstGeom prst="rect">
            <a:avLst/>
          </a:prstGeom>
        </p:spPr>
        <p:txBody>
          <a:bodyPr wrap="square">
            <a:spAutoFit/>
          </a:bodyPr>
          <a:lstStyle/>
          <a:p>
            <a:r>
              <a:rPr lang="ja-JP" altLang="en-US" dirty="0"/>
              <a:t>このステップは、ロスレスで、または何らかのしきい値に従ってボーンを削除します。  </a:t>
            </a:r>
            <a:endParaRPr lang="en-US" altLang="ja-JP" dirty="0"/>
          </a:p>
          <a:p>
            <a:r>
              <a:rPr lang="ja-JP" altLang="en-US" dirty="0"/>
              <a:t>場合によっては、エクスポーターは、アニメーションメッシュに割り当てられた静的メッシュにダミーボーンウェイトを割り当てざるを得ません。完全なウエイトベースのスキニングは高価です。ノードのアニメーションは非常に安価ですが、そのため、このステップはその点でデータをクリーンアップするために提供されています。         これを制御するには、＃</a:t>
            </a:r>
            <a:r>
              <a:rPr lang="en-US" altLang="ja-JP" dirty="0"/>
              <a:t>AI_CONFIG_PP_DB_THRESHOLD</a:t>
            </a:r>
            <a:r>
              <a:rPr lang="ja-JP" altLang="en-US" dirty="0"/>
              <a:t>を使用します。        シーン内のすべてのボーンが削除の対象となる場合にのみ、ボーンを削除する場合は</a:t>
            </a:r>
            <a:r>
              <a:rPr lang="en-US" altLang="ja-JP" dirty="0"/>
              <a:t>#AI_CONFIG_PP_DB_ALL_OR_NONE</a:t>
            </a:r>
            <a:r>
              <a:rPr lang="ja-JP" altLang="en-US" dirty="0"/>
              <a:t>を使用します。</a:t>
            </a:r>
          </a:p>
        </p:txBody>
      </p:sp>
    </p:spTree>
    <p:extLst>
      <p:ext uri="{BB962C8B-B14F-4D97-AF65-F5344CB8AC3E}">
        <p14:creationId xmlns:p14="http://schemas.microsoft.com/office/powerpoint/2010/main" val="10515359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634313" y="218356"/>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aiProcess_CalcTangentSpace</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634313" y="1017684"/>
            <a:ext cx="10107827" cy="2308324"/>
          </a:xfrm>
          <a:prstGeom prst="rect">
            <a:avLst/>
          </a:prstGeom>
        </p:spPr>
        <p:txBody>
          <a:bodyPr wrap="square">
            <a:spAutoFit/>
          </a:bodyPr>
          <a:lstStyle/>
          <a:p>
            <a:r>
              <a:rPr lang="en-US" altLang="ja-JP" dirty="0"/>
              <a:t>Calculates the tangents and </a:t>
            </a:r>
            <a:r>
              <a:rPr lang="en-US" altLang="ja-JP" dirty="0" err="1"/>
              <a:t>bitangents</a:t>
            </a:r>
            <a:r>
              <a:rPr lang="en-US" altLang="ja-JP" dirty="0"/>
              <a:t> for the imported meshes. </a:t>
            </a:r>
          </a:p>
          <a:p>
            <a:endParaRPr lang="en-US" altLang="ja-JP" dirty="0"/>
          </a:p>
          <a:p>
            <a:r>
              <a:rPr lang="en-US" altLang="ja-JP" dirty="0"/>
              <a:t>       Does nothing if a mesh does not have </a:t>
            </a:r>
            <a:r>
              <a:rPr lang="en-US" altLang="ja-JP" dirty="0" err="1"/>
              <a:t>normals</a:t>
            </a:r>
            <a:r>
              <a:rPr lang="en-US" altLang="ja-JP" dirty="0"/>
              <a:t>. You might want this post </a:t>
            </a:r>
          </a:p>
          <a:p>
            <a:r>
              <a:rPr lang="en-US" altLang="ja-JP" dirty="0"/>
              <a:t>       processing step to be executed if you plan to use tangent space calculations </a:t>
            </a:r>
          </a:p>
          <a:p>
            <a:r>
              <a:rPr lang="en-US" altLang="ja-JP" dirty="0"/>
              <a:t>       such as normal mapping  applied to the meshes. There's a </a:t>
            </a:r>
            <a:r>
              <a:rPr lang="en-US" altLang="ja-JP" dirty="0" err="1"/>
              <a:t>config</a:t>
            </a:r>
            <a:r>
              <a:rPr lang="en-US" altLang="ja-JP" dirty="0"/>
              <a:t> setting,</a:t>
            </a:r>
          </a:p>
          <a:p>
            <a:r>
              <a:rPr lang="en-US" altLang="ja-JP" dirty="0"/>
              <a:t>       &lt;</a:t>
            </a:r>
            <a:r>
              <a:rPr lang="en-US" altLang="ja-JP" dirty="0" err="1"/>
              <a:t>tt</a:t>
            </a:r>
            <a:r>
              <a:rPr lang="en-US" altLang="ja-JP" dirty="0"/>
              <a:t>&gt;#AI_CONFIG_PP_CT_MAX_SMOOTHING_ANGLE&lt;/</a:t>
            </a:r>
            <a:r>
              <a:rPr lang="en-US" altLang="ja-JP" dirty="0" err="1"/>
              <a:t>tt</a:t>
            </a:r>
            <a:r>
              <a:rPr lang="en-US" altLang="ja-JP" dirty="0"/>
              <a:t>&gt;, which allows you to specify</a:t>
            </a:r>
          </a:p>
          <a:p>
            <a:r>
              <a:rPr lang="en-US" altLang="ja-JP" dirty="0"/>
              <a:t>       a maximum smoothing angle for the algorithm. However, usually you'll</a:t>
            </a:r>
          </a:p>
          <a:p>
            <a:r>
              <a:rPr lang="en-US" altLang="ja-JP" dirty="0"/>
              <a:t>       want to leave it at the default value.</a:t>
            </a:r>
            <a:r>
              <a:rPr lang="ja-JP" altLang="en-US" dirty="0" err="1"/>
              <a:t>.</a:t>
            </a:r>
            <a:endParaRPr lang="ja-JP" altLang="en-US" dirty="0"/>
          </a:p>
        </p:txBody>
      </p:sp>
      <p:sp>
        <p:nvSpPr>
          <p:cNvPr id="4" name="正方形/長方形 3"/>
          <p:cNvSpPr/>
          <p:nvPr/>
        </p:nvSpPr>
        <p:spPr>
          <a:xfrm>
            <a:off x="811425" y="4371558"/>
            <a:ext cx="10902779" cy="369332"/>
          </a:xfrm>
          <a:prstGeom prst="rect">
            <a:avLst/>
          </a:prstGeom>
        </p:spPr>
        <p:txBody>
          <a:bodyPr wrap="square">
            <a:spAutoFit/>
          </a:bodyPr>
          <a:lstStyle/>
          <a:p>
            <a:r>
              <a:rPr lang="ja-JP" altLang="en-US" dirty="0"/>
              <a:t>接ベクトル、従法線ベクトルを計算します</a:t>
            </a:r>
          </a:p>
        </p:txBody>
      </p:sp>
    </p:spTree>
    <p:extLst>
      <p:ext uri="{BB962C8B-B14F-4D97-AF65-F5344CB8AC3E}">
        <p14:creationId xmlns:p14="http://schemas.microsoft.com/office/powerpoint/2010/main" val="27837724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634313" y="218356"/>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aiProcess_GenSmoothNormals</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634313" y="968243"/>
            <a:ext cx="10107827" cy="3693319"/>
          </a:xfrm>
          <a:prstGeom prst="rect">
            <a:avLst/>
          </a:prstGeom>
        </p:spPr>
        <p:txBody>
          <a:bodyPr wrap="square">
            <a:spAutoFit/>
          </a:bodyPr>
          <a:lstStyle/>
          <a:p>
            <a:r>
              <a:rPr lang="en-US" altLang="ja-JP" dirty="0"/>
              <a:t>Generates smooth </a:t>
            </a:r>
            <a:r>
              <a:rPr lang="en-US" altLang="ja-JP" dirty="0" err="1"/>
              <a:t>normals</a:t>
            </a:r>
            <a:r>
              <a:rPr lang="en-US" altLang="ja-JP" dirty="0"/>
              <a:t> for all vertices in the mesh. </a:t>
            </a:r>
          </a:p>
          <a:p>
            <a:endParaRPr lang="en-US" altLang="ja-JP" dirty="0"/>
          </a:p>
          <a:p>
            <a:r>
              <a:rPr lang="en-US" altLang="ja-JP" dirty="0"/>
              <a:t>      This is ignored if </a:t>
            </a:r>
            <a:r>
              <a:rPr lang="en-US" altLang="ja-JP" dirty="0" err="1"/>
              <a:t>normals</a:t>
            </a:r>
            <a:r>
              <a:rPr lang="en-US" altLang="ja-JP" dirty="0"/>
              <a:t> are already there at the time this flag </a:t>
            </a:r>
          </a:p>
          <a:p>
            <a:r>
              <a:rPr lang="en-US" altLang="ja-JP" dirty="0"/>
              <a:t>      is evaluated. Model importers try to load them from the source file, so</a:t>
            </a:r>
          </a:p>
          <a:p>
            <a:r>
              <a:rPr lang="en-US" altLang="ja-JP" dirty="0"/>
              <a:t>      they're usually already there. </a:t>
            </a:r>
          </a:p>
          <a:p>
            <a:endParaRPr lang="en-US" altLang="ja-JP" dirty="0"/>
          </a:p>
          <a:p>
            <a:r>
              <a:rPr lang="en-US" altLang="ja-JP" dirty="0"/>
              <a:t>      This flag may not be specified together with </a:t>
            </a:r>
          </a:p>
          <a:p>
            <a:r>
              <a:rPr lang="en-US" altLang="ja-JP" dirty="0"/>
              <a:t>      #</a:t>
            </a:r>
            <a:r>
              <a:rPr lang="en-US" altLang="ja-JP" dirty="0" err="1"/>
              <a:t>aiProcess_GenNormals</a:t>
            </a:r>
            <a:r>
              <a:rPr lang="en-US" altLang="ja-JP" dirty="0"/>
              <a:t>. There's a configuration option, </a:t>
            </a:r>
          </a:p>
          <a:p>
            <a:r>
              <a:rPr lang="en-US" altLang="ja-JP" dirty="0"/>
              <a:t>      &lt;</a:t>
            </a:r>
            <a:r>
              <a:rPr lang="en-US" altLang="ja-JP" dirty="0" err="1"/>
              <a:t>tt</a:t>
            </a:r>
            <a:r>
              <a:rPr lang="en-US" altLang="ja-JP" dirty="0"/>
              <a:t>&gt;#AI_CONFIG_PP_GSN_MAX_SMOOTHING_ANGLE&lt;/</a:t>
            </a:r>
            <a:r>
              <a:rPr lang="en-US" altLang="ja-JP" dirty="0" err="1"/>
              <a:t>tt</a:t>
            </a:r>
            <a:r>
              <a:rPr lang="en-US" altLang="ja-JP" dirty="0"/>
              <a:t>&gt; which allows you to specify</a:t>
            </a:r>
          </a:p>
          <a:p>
            <a:r>
              <a:rPr lang="en-US" altLang="ja-JP" dirty="0"/>
              <a:t>      an angle maximum for the normal smoothing algorithm. </a:t>
            </a:r>
            <a:r>
              <a:rPr lang="en-US" altLang="ja-JP" dirty="0" err="1"/>
              <a:t>Normals</a:t>
            </a:r>
            <a:r>
              <a:rPr lang="en-US" altLang="ja-JP" dirty="0"/>
              <a:t> exceeding</a:t>
            </a:r>
          </a:p>
          <a:p>
            <a:r>
              <a:rPr lang="en-US" altLang="ja-JP" dirty="0"/>
              <a:t>      this limit are not smoothed, resulting in a 'hard' seam between two faces.</a:t>
            </a:r>
          </a:p>
          <a:p>
            <a:r>
              <a:rPr lang="en-US" altLang="ja-JP" dirty="0"/>
              <a:t>      Using a decent angle here (e.g. 80 degrees) results in very good visual</a:t>
            </a:r>
          </a:p>
          <a:p>
            <a:r>
              <a:rPr lang="en-US" altLang="ja-JP" dirty="0"/>
              <a:t>      appearance.</a:t>
            </a:r>
            <a:endParaRPr lang="ja-JP" altLang="en-US" dirty="0"/>
          </a:p>
        </p:txBody>
      </p:sp>
      <p:sp>
        <p:nvSpPr>
          <p:cNvPr id="4" name="正方形/長方形 3"/>
          <p:cNvSpPr/>
          <p:nvPr/>
        </p:nvSpPr>
        <p:spPr>
          <a:xfrm>
            <a:off x="864973" y="4760772"/>
            <a:ext cx="10972800" cy="2031325"/>
          </a:xfrm>
          <a:prstGeom prst="rect">
            <a:avLst/>
          </a:prstGeom>
        </p:spPr>
        <p:txBody>
          <a:bodyPr wrap="square">
            <a:spAutoFit/>
          </a:bodyPr>
          <a:lstStyle/>
          <a:p>
            <a:r>
              <a:rPr lang="ja-JP" altLang="en-US" dirty="0"/>
              <a:t>メッシュ内のすべての頂点に対して滑らかな法線を生成します。このフラグが評価される時点で法線が既に存在する場合、これは無視されます。モデルインポーターはソースファイルからそれらをロードしようとしますが、彼らは通常すでにそこにいます。このフラグは、＃</a:t>
            </a:r>
            <a:r>
              <a:rPr lang="en-US" altLang="ja-JP" dirty="0" err="1"/>
              <a:t>aiProcess_GenNormals</a:t>
            </a:r>
            <a:r>
              <a:rPr lang="ja-JP" altLang="en-US" dirty="0"/>
              <a:t>と一緒に指定することはできません。 設定オプションがあります</a:t>
            </a:r>
            <a:r>
              <a:rPr lang="en-US" altLang="ja-JP" dirty="0"/>
              <a:t>#AI_CONFIG_PP_GSN_MAX_SMOOTHING_ANGLE</a:t>
            </a:r>
            <a:r>
              <a:rPr lang="ja-JP" altLang="en-US" dirty="0"/>
              <a:t>で指定できます      通常の平滑化アルゴリズムの最大角度。この制限を超える法線は平滑化されないため、</a:t>
            </a:r>
            <a:r>
              <a:rPr lang="en-US" altLang="ja-JP" dirty="0"/>
              <a:t>2</a:t>
            </a:r>
            <a:r>
              <a:rPr lang="ja-JP" altLang="en-US" dirty="0" err="1"/>
              <a:t>つの</a:t>
            </a:r>
            <a:r>
              <a:rPr lang="ja-JP" altLang="en-US" dirty="0"/>
              <a:t>面の間に「硬い」継ぎ目が生じます。ここで適切な角度を使用すると、非常に良好な視覚的外観が得られます。</a:t>
            </a:r>
          </a:p>
        </p:txBody>
      </p:sp>
    </p:spTree>
    <p:extLst>
      <p:ext uri="{BB962C8B-B14F-4D97-AF65-F5344CB8AC3E}">
        <p14:creationId xmlns:p14="http://schemas.microsoft.com/office/powerpoint/2010/main" val="21584556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634313" y="218356"/>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aiProcess_JoinIdenticalVertices</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634313" y="968243"/>
            <a:ext cx="10107827" cy="2031325"/>
          </a:xfrm>
          <a:prstGeom prst="rect">
            <a:avLst/>
          </a:prstGeom>
        </p:spPr>
        <p:txBody>
          <a:bodyPr wrap="square">
            <a:spAutoFit/>
          </a:bodyPr>
          <a:lstStyle/>
          <a:p>
            <a:r>
              <a:rPr lang="en-US" altLang="ja-JP" dirty="0"/>
              <a:t>Identifies and joins identical vertex data sets within all imported meshes.</a:t>
            </a:r>
          </a:p>
          <a:p>
            <a:endParaRPr lang="en-US" altLang="ja-JP" dirty="0"/>
          </a:p>
          <a:p>
            <a:r>
              <a:rPr lang="en-US" altLang="ja-JP" dirty="0"/>
              <a:t>After this step is run, each mesh contains unique vertices, so a vertex may be used by multiple faces. You usually want to use this post processing step. If your application deals with indexed geometry, this step is compulsory or you'll just waste rendering time. If this flag is not specified, no vertices are referenced by more than one face and no index buffer is required for rendering.</a:t>
            </a:r>
            <a:endParaRPr lang="ja-JP" altLang="en-US" dirty="0"/>
          </a:p>
        </p:txBody>
      </p:sp>
      <p:sp>
        <p:nvSpPr>
          <p:cNvPr id="4" name="正方形/長方形 3"/>
          <p:cNvSpPr/>
          <p:nvPr/>
        </p:nvSpPr>
        <p:spPr>
          <a:xfrm>
            <a:off x="568411" y="3483907"/>
            <a:ext cx="10972800" cy="1477328"/>
          </a:xfrm>
          <a:prstGeom prst="rect">
            <a:avLst/>
          </a:prstGeom>
        </p:spPr>
        <p:txBody>
          <a:bodyPr wrap="square">
            <a:spAutoFit/>
          </a:bodyPr>
          <a:lstStyle/>
          <a:p>
            <a:r>
              <a:rPr lang="ja-JP" altLang="en-US" dirty="0"/>
              <a:t>インポートされたすべてのメッシュ内で同一の頂点データセットを識別して結合します。このステップの実行後、各メッシュには一意の頂点が含まれるため、頂点を複数の面で使用できます。 通常、この後処理ステップを使用します。 アプリケーションがインデックス付きジオメトリを扱う場合、この手順は必須であるか、レンダリング時間を浪費するだけです。 このフラグが指定されていない場合、頂点は複数の面によって参照されず、レンダリングにインデックスバッファは必要ありません。</a:t>
            </a:r>
          </a:p>
        </p:txBody>
      </p:sp>
    </p:spTree>
    <p:extLst>
      <p:ext uri="{BB962C8B-B14F-4D97-AF65-F5344CB8AC3E}">
        <p14:creationId xmlns:p14="http://schemas.microsoft.com/office/powerpoint/2010/main" val="39139480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634313" y="218356"/>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aiProcess_JoinIdenticalVertices</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634313" y="968243"/>
            <a:ext cx="11178746" cy="2308324"/>
          </a:xfrm>
          <a:prstGeom prst="rect">
            <a:avLst/>
          </a:prstGeom>
        </p:spPr>
        <p:txBody>
          <a:bodyPr wrap="square">
            <a:spAutoFit/>
          </a:bodyPr>
          <a:lstStyle/>
          <a:p>
            <a:r>
              <a:rPr lang="en-US" altLang="ja-JP" dirty="0"/>
              <a:t>Reorders triangles for better vertex cache locality. </a:t>
            </a:r>
          </a:p>
          <a:p>
            <a:endParaRPr lang="en-US" altLang="ja-JP" dirty="0"/>
          </a:p>
          <a:p>
            <a:r>
              <a:rPr lang="en-US" altLang="ja-JP" dirty="0"/>
              <a:t>The step tries to improve the ACMR (average post-transform vertex cache  miss ratio) for all</a:t>
            </a:r>
            <a:r>
              <a:rPr lang="ja-JP" altLang="en-US" dirty="0"/>
              <a:t>　</a:t>
            </a:r>
            <a:r>
              <a:rPr lang="en-US" altLang="ja-JP" dirty="0"/>
              <a:t>meshes. The implementation runs in O(n) and is roughly based on the '</a:t>
            </a:r>
            <a:r>
              <a:rPr lang="en-US" altLang="ja-JP" dirty="0" err="1"/>
              <a:t>tipsify</a:t>
            </a:r>
            <a:r>
              <a:rPr lang="en-US" altLang="ja-JP" dirty="0"/>
              <a:t>' algorithm </a:t>
            </a:r>
          </a:p>
          <a:p>
            <a:r>
              <a:rPr lang="en-US" altLang="ja-JP" dirty="0"/>
              <a:t>(see </a:t>
            </a:r>
            <a:r>
              <a:rPr lang="en-US" altLang="ja-JP" dirty="0">
                <a:hlinkClick r:id="rId2"/>
              </a:rPr>
              <a:t>http://www.cs.princeton.edu/gfx/pubs/Sander_2007_%3ETR/tipsy.pdf</a:t>
            </a:r>
            <a:r>
              <a:rPr lang="en-US" altLang="ja-JP" dirty="0"/>
              <a:t>“&gt;</a:t>
            </a:r>
            <a:r>
              <a:rPr lang="ja-JP" altLang="en-US" dirty="0"/>
              <a:t>　</a:t>
            </a:r>
            <a:r>
              <a:rPr lang="en-US" altLang="ja-JP" dirty="0"/>
              <a:t>paper).</a:t>
            </a:r>
          </a:p>
          <a:p>
            <a:endParaRPr lang="en-US" altLang="ja-JP" dirty="0"/>
          </a:p>
          <a:p>
            <a:r>
              <a:rPr lang="en-US" altLang="ja-JP" dirty="0"/>
              <a:t>If you intend to render huge models in hardware, this step might</a:t>
            </a:r>
            <a:r>
              <a:rPr lang="ja-JP" altLang="en-US" dirty="0"/>
              <a:t>　</a:t>
            </a:r>
            <a:r>
              <a:rPr lang="en-US" altLang="ja-JP" dirty="0"/>
              <a:t>be of interest to you. The #AI_CONFIG_PP_ICL_PTCACHE_SIZE</a:t>
            </a:r>
            <a:r>
              <a:rPr lang="ja-JP" altLang="en-US" dirty="0"/>
              <a:t>　</a:t>
            </a:r>
            <a:r>
              <a:rPr lang="en-US" altLang="ja-JP" dirty="0" err="1"/>
              <a:t>config</a:t>
            </a:r>
            <a:r>
              <a:rPr lang="ja-JP" altLang="en-US" dirty="0"/>
              <a:t>　</a:t>
            </a:r>
            <a:r>
              <a:rPr lang="en-US" altLang="ja-JP" dirty="0"/>
              <a:t>setting can be used to fine-tune the cache optimization.</a:t>
            </a:r>
            <a:endParaRPr lang="ja-JP" altLang="en-US" dirty="0"/>
          </a:p>
        </p:txBody>
      </p:sp>
      <p:sp>
        <p:nvSpPr>
          <p:cNvPr id="4" name="正方形/長方形 3"/>
          <p:cNvSpPr/>
          <p:nvPr/>
        </p:nvSpPr>
        <p:spPr>
          <a:xfrm>
            <a:off x="634313" y="3969939"/>
            <a:ext cx="11434119" cy="1477328"/>
          </a:xfrm>
          <a:prstGeom prst="rect">
            <a:avLst/>
          </a:prstGeom>
        </p:spPr>
        <p:txBody>
          <a:bodyPr wrap="square">
            <a:spAutoFit/>
          </a:bodyPr>
          <a:lstStyle/>
          <a:p>
            <a:r>
              <a:rPr lang="ja-JP" altLang="en-US" dirty="0"/>
              <a:t>頂点キャッシュの局所性を高めるために三角形を並べ替えます。  ステップは</a:t>
            </a:r>
            <a:r>
              <a:rPr lang="en-US" altLang="ja-JP" dirty="0"/>
              <a:t>ACMR</a:t>
            </a:r>
            <a:r>
              <a:rPr lang="ja-JP" altLang="en-US" dirty="0"/>
              <a:t>を改善しようとします（すべてのメッシュの平均変換後頂点キャッシュミス率）。実装は</a:t>
            </a:r>
            <a:r>
              <a:rPr lang="en-US" altLang="ja-JP" dirty="0"/>
              <a:t>O</a:t>
            </a:r>
            <a:r>
              <a:rPr lang="ja-JP" altLang="en-US" dirty="0"/>
              <a:t>（</a:t>
            </a:r>
            <a:r>
              <a:rPr lang="en-US" altLang="ja-JP" dirty="0"/>
              <a:t>n</a:t>
            </a:r>
            <a:r>
              <a:rPr lang="ja-JP" altLang="en-US" dirty="0"/>
              <a:t>）で実行され、おおよそ </a:t>
            </a:r>
            <a:r>
              <a:rPr lang="en-US" altLang="ja-JP" dirty="0"/>
              <a:t>'</a:t>
            </a:r>
            <a:r>
              <a:rPr lang="en-US" altLang="ja-JP" dirty="0" err="1"/>
              <a:t>tipsify</a:t>
            </a:r>
            <a:r>
              <a:rPr lang="en-US" altLang="ja-JP" dirty="0"/>
              <a:t>'</a:t>
            </a:r>
            <a:r>
              <a:rPr lang="ja-JP" altLang="en-US" dirty="0"/>
              <a:t>アルゴリズムに基づいています。ハードウェアで巨大なモデルをレンダリングする場合は、このステップは興味があるかもしれません。</a:t>
            </a:r>
            <a:r>
              <a:rPr lang="en-US" altLang="ja-JP" dirty="0"/>
              <a:t>#AI_CONFIG_PP_ICL_PTCACHE_SIZE</a:t>
            </a:r>
            <a:r>
              <a:rPr lang="ja-JP" altLang="en-US" dirty="0"/>
              <a:t>構成設定を使用して、キャッシュの最適化を微調整できます。</a:t>
            </a:r>
          </a:p>
        </p:txBody>
      </p:sp>
    </p:spTree>
    <p:extLst>
      <p:ext uri="{BB962C8B-B14F-4D97-AF65-F5344CB8AC3E}">
        <p14:creationId xmlns:p14="http://schemas.microsoft.com/office/powerpoint/2010/main" val="40097415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634313" y="218356"/>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aiProcess_LimitBoneWeights</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634313" y="1240091"/>
            <a:ext cx="11178746" cy="2031325"/>
          </a:xfrm>
          <a:prstGeom prst="rect">
            <a:avLst/>
          </a:prstGeom>
        </p:spPr>
        <p:txBody>
          <a:bodyPr wrap="square">
            <a:spAutoFit/>
          </a:bodyPr>
          <a:lstStyle/>
          <a:p>
            <a:r>
              <a:rPr lang="en-US" altLang="ja-JP" dirty="0"/>
              <a:t>Limits the number of bones simultaneously affecting a single vertex to a maximum value.</a:t>
            </a:r>
          </a:p>
          <a:p>
            <a:endParaRPr lang="en-US" altLang="ja-JP" dirty="0"/>
          </a:p>
          <a:p>
            <a:r>
              <a:rPr lang="en-US" altLang="ja-JP" dirty="0"/>
              <a:t>If any vertex is affected by more than the maximum number of bones, the least important vertex weights are removed and the remaining vertex weights are renormalized so that the weights still sum up to 1. The default bone weight limit is 4 (defined as AI_LMW_MAX_WEIGHTS in </a:t>
            </a:r>
            <a:r>
              <a:rPr lang="en-US" altLang="ja-JP" dirty="0" err="1"/>
              <a:t>config.h</a:t>
            </a:r>
            <a:r>
              <a:rPr lang="en-US" altLang="ja-JP" dirty="0"/>
              <a:t>), but you can use the AI_CONFIG_PP_LBW_MAX_WEIGHTS setting to supply your own limit to the post processing step.</a:t>
            </a:r>
          </a:p>
          <a:p>
            <a:r>
              <a:rPr lang="en-US" altLang="ja-JP" dirty="0"/>
              <a:t>If you intend to perform the skinning in hardware, this post processing step might be of interest to you. .</a:t>
            </a:r>
            <a:endParaRPr lang="ja-JP" altLang="en-US" dirty="0"/>
          </a:p>
        </p:txBody>
      </p:sp>
      <p:sp>
        <p:nvSpPr>
          <p:cNvPr id="4" name="正方形/長方形 3"/>
          <p:cNvSpPr/>
          <p:nvPr/>
        </p:nvSpPr>
        <p:spPr>
          <a:xfrm>
            <a:off x="634313" y="3969939"/>
            <a:ext cx="11434119" cy="1477328"/>
          </a:xfrm>
          <a:prstGeom prst="rect">
            <a:avLst/>
          </a:prstGeom>
        </p:spPr>
        <p:txBody>
          <a:bodyPr wrap="square">
            <a:spAutoFit/>
          </a:bodyPr>
          <a:lstStyle/>
          <a:p>
            <a:r>
              <a:rPr lang="ja-JP" altLang="en-US" dirty="0"/>
              <a:t>単一の頂点に同時に影響するボーンの数を最大値に制限します。頂点が最大数を超えるボーンの影響を受ける場合、重要度が最も低い頂点の重みが削除され、残りの頂点の重みが再正規化され、重みの合計は</a:t>
            </a:r>
            <a:r>
              <a:rPr lang="en-US" altLang="ja-JP" dirty="0"/>
              <a:t>1</a:t>
            </a:r>
            <a:r>
              <a:rPr lang="ja-JP" altLang="en-US" dirty="0"/>
              <a:t>になります。デフォルトのボーンの重みの制限は</a:t>
            </a:r>
            <a:r>
              <a:rPr lang="en-US" altLang="ja-JP" dirty="0"/>
              <a:t>4</a:t>
            </a:r>
            <a:r>
              <a:rPr lang="ja-JP" altLang="en-US" dirty="0"/>
              <a:t>です（</a:t>
            </a:r>
            <a:r>
              <a:rPr lang="en-US" altLang="ja-JP" dirty="0"/>
              <a:t>AI_LMW_MAX_WEIGHTS </a:t>
            </a:r>
            <a:r>
              <a:rPr lang="en-US" altLang="ja-JP" dirty="0" err="1"/>
              <a:t>config.h</a:t>
            </a:r>
            <a:r>
              <a:rPr lang="ja-JP" altLang="en-US" dirty="0"/>
              <a:t>）。ただし、</a:t>
            </a:r>
            <a:r>
              <a:rPr lang="en-US" altLang="ja-JP" dirty="0"/>
              <a:t>AI_CONFIG_PP_LBW_MAX_WEIGHTS</a:t>
            </a:r>
            <a:r>
              <a:rPr lang="ja-JP" altLang="en-US" dirty="0"/>
              <a:t>設定を使用して、後処理ステップに独自の制限を指定できます。ハードウェアでスキニングを実行する場合は、この後処理手順が役立つ場合があります。</a:t>
            </a:r>
          </a:p>
        </p:txBody>
      </p:sp>
    </p:spTree>
    <p:extLst>
      <p:ext uri="{BB962C8B-B14F-4D97-AF65-F5344CB8AC3E}">
        <p14:creationId xmlns:p14="http://schemas.microsoft.com/office/powerpoint/2010/main" val="8242662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68875" y="16190"/>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aiProcess_RemoveRedundantMaterials</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94735" y="675799"/>
            <a:ext cx="11990173" cy="3416320"/>
          </a:xfrm>
          <a:prstGeom prst="rect">
            <a:avLst/>
          </a:prstGeom>
        </p:spPr>
        <p:txBody>
          <a:bodyPr wrap="square">
            <a:spAutoFit/>
          </a:bodyPr>
          <a:lstStyle/>
          <a:p>
            <a:r>
              <a:rPr lang="en-US" altLang="ja-JP" dirty="0"/>
              <a:t>Searches for redundant/unreferenced materials and removes them. </a:t>
            </a:r>
          </a:p>
          <a:p>
            <a:r>
              <a:rPr lang="en-US" altLang="ja-JP" dirty="0"/>
              <a:t>       This is especially useful in combination with the </a:t>
            </a:r>
          </a:p>
          <a:p>
            <a:r>
              <a:rPr lang="en-US" altLang="ja-JP" dirty="0"/>
              <a:t>       #</a:t>
            </a:r>
            <a:r>
              <a:rPr lang="en-US" altLang="ja-JP" dirty="0" err="1"/>
              <a:t>aiProcess_PretransformVertices</a:t>
            </a:r>
            <a:r>
              <a:rPr lang="en-US" altLang="ja-JP" dirty="0"/>
              <a:t> and #</a:t>
            </a:r>
            <a:r>
              <a:rPr lang="en-US" altLang="ja-JP" dirty="0" err="1"/>
              <a:t>aiProcess_OptimizeMeshes</a:t>
            </a:r>
            <a:r>
              <a:rPr lang="en-US" altLang="ja-JP" dirty="0"/>
              <a:t> flags. Both join small meshes with</a:t>
            </a:r>
          </a:p>
          <a:p>
            <a:r>
              <a:rPr lang="ja-JP" altLang="en-US" dirty="0"/>
              <a:t>　　</a:t>
            </a:r>
            <a:r>
              <a:rPr lang="en-US" altLang="ja-JP" dirty="0"/>
              <a:t>equal characteristics, but they can't do their work if two meshes have different materials. Because several</a:t>
            </a:r>
          </a:p>
          <a:p>
            <a:r>
              <a:rPr lang="en-US" altLang="ja-JP" dirty="0"/>
              <a:t>       material settings are lost during </a:t>
            </a:r>
            <a:r>
              <a:rPr lang="en-US" altLang="ja-JP" dirty="0" err="1"/>
              <a:t>Assimp's</a:t>
            </a:r>
            <a:r>
              <a:rPr lang="en-US" altLang="ja-JP" dirty="0"/>
              <a:t> import filters,(and because many exporters don't check for</a:t>
            </a:r>
          </a:p>
          <a:p>
            <a:r>
              <a:rPr lang="ja-JP" altLang="en-US" dirty="0"/>
              <a:t>　　</a:t>
            </a:r>
            <a:r>
              <a:rPr lang="en-US" altLang="ja-JP" dirty="0"/>
              <a:t>redundant materials), huge models often have materials which are </a:t>
            </a:r>
            <a:r>
              <a:rPr lang="en-US" altLang="ja-JP" dirty="0" err="1"/>
              <a:t>are</a:t>
            </a:r>
            <a:r>
              <a:rPr lang="en-US" altLang="ja-JP" dirty="0"/>
              <a:t> defined several times with</a:t>
            </a:r>
          </a:p>
          <a:p>
            <a:r>
              <a:rPr lang="en-US" altLang="ja-JP" dirty="0"/>
              <a:t>       exactly the same settings</a:t>
            </a:r>
          </a:p>
          <a:p>
            <a:r>
              <a:rPr lang="en-US" altLang="ja-JP" dirty="0"/>
              <a:t>       Several material settings not contributing to the final appearance of</a:t>
            </a:r>
            <a:r>
              <a:rPr lang="ja-JP" altLang="en-US" dirty="0"/>
              <a:t>　</a:t>
            </a:r>
            <a:r>
              <a:rPr lang="en-US" altLang="ja-JP" dirty="0"/>
              <a:t>a surface are ignored in all</a:t>
            </a:r>
          </a:p>
          <a:p>
            <a:r>
              <a:rPr lang="ja-JP" altLang="en-US" dirty="0"/>
              <a:t>　　</a:t>
            </a:r>
            <a:r>
              <a:rPr lang="en-US" altLang="ja-JP" dirty="0"/>
              <a:t>comparisons (e.g. the material name).  So, if you‘re passing additional information through the</a:t>
            </a:r>
            <a:r>
              <a:rPr lang="ja-JP" altLang="en-US" dirty="0"/>
              <a:t> </a:t>
            </a:r>
            <a:r>
              <a:rPr lang="en-US" altLang="ja-JP" dirty="0"/>
              <a:t>content</a:t>
            </a:r>
          </a:p>
          <a:p>
            <a:r>
              <a:rPr lang="en-US" altLang="ja-JP" dirty="0"/>
              <a:t>       pipeline (probably using *magic* material names), don‘t specify this flag. Alternatively take a look at the</a:t>
            </a:r>
          </a:p>
          <a:p>
            <a:r>
              <a:rPr lang="ja-JP" altLang="en-US" dirty="0"/>
              <a:t>　</a:t>
            </a:r>
            <a:r>
              <a:rPr lang="en-US" altLang="ja-JP" dirty="0"/>
              <a:t>   #AI_CONFIG_PP_RRM_EXCLUDE_LIST setting.  </a:t>
            </a:r>
          </a:p>
          <a:p>
            <a:endParaRPr lang="ja-JP" altLang="en-US" dirty="0"/>
          </a:p>
        </p:txBody>
      </p:sp>
      <p:sp>
        <p:nvSpPr>
          <p:cNvPr id="4" name="正方形/長方形 3"/>
          <p:cNvSpPr/>
          <p:nvPr/>
        </p:nvSpPr>
        <p:spPr>
          <a:xfrm>
            <a:off x="271849" y="4166953"/>
            <a:ext cx="11434119" cy="2308324"/>
          </a:xfrm>
          <a:prstGeom prst="rect">
            <a:avLst/>
          </a:prstGeom>
        </p:spPr>
        <p:txBody>
          <a:bodyPr wrap="square">
            <a:spAutoFit/>
          </a:bodyPr>
          <a:lstStyle/>
          <a:p>
            <a:r>
              <a:rPr lang="ja-JP" altLang="en-US" dirty="0"/>
              <a:t>冗長</a:t>
            </a:r>
            <a:r>
              <a:rPr lang="en-US" altLang="ja-JP" dirty="0"/>
              <a:t>/</a:t>
            </a:r>
            <a:r>
              <a:rPr lang="ja-JP" altLang="en-US" dirty="0"/>
              <a:t>参照されていない資料を検索して削除します。これは特に組み合わせて便利です</a:t>
            </a:r>
            <a:r>
              <a:rPr lang="en-US" altLang="ja-JP" dirty="0"/>
              <a:t>#</a:t>
            </a:r>
            <a:r>
              <a:rPr lang="en-US" altLang="ja-JP" dirty="0" err="1"/>
              <a:t>aiProcess_PretransformVertices</a:t>
            </a:r>
            <a:r>
              <a:rPr lang="ja-JP" altLang="en-US" dirty="0"/>
              <a:t>および</a:t>
            </a:r>
            <a:r>
              <a:rPr lang="en-US" altLang="ja-JP" dirty="0"/>
              <a:t>#</a:t>
            </a:r>
            <a:r>
              <a:rPr lang="en-US" altLang="ja-JP" dirty="0" err="1"/>
              <a:t>aiProcess_OptimizeMeshes</a:t>
            </a:r>
            <a:r>
              <a:rPr lang="en-US" altLang="ja-JP" dirty="0"/>
              <a:t> </a:t>
            </a:r>
            <a:r>
              <a:rPr lang="ja-JP" altLang="en-US" dirty="0"/>
              <a:t>どちらも同じ特性を持つ小さなメッシュを結合し、ただし、</a:t>
            </a:r>
            <a:r>
              <a:rPr lang="en-US" altLang="ja-JP" dirty="0"/>
              <a:t>2</a:t>
            </a:r>
            <a:r>
              <a:rPr lang="ja-JP" altLang="en-US" dirty="0" err="1"/>
              <a:t>つの</a:t>
            </a:r>
            <a:r>
              <a:rPr lang="ja-JP" altLang="en-US" dirty="0"/>
              <a:t>メッシュのマテリアルが異なる場合、作業を行うことはできません。</a:t>
            </a:r>
            <a:r>
              <a:rPr lang="en-US" altLang="ja-JP" dirty="0" err="1"/>
              <a:t>Assimp</a:t>
            </a:r>
            <a:r>
              <a:rPr lang="ja-JP" altLang="en-US" dirty="0"/>
              <a:t>のインポートフィルター中にいくつかのマテリアル設定が失われるため、巨大なモデルには、多くの場合、まったく同じ設定で複数回定義されたマテリアルがあります。いくつかのマテリアル設定は、最終的な外観に寄与しませんサーフェスはすべての比較で無視されます（例：材料名）。そのため、コンテンツパイプラインを通じて（おそらく*マジック*マテリアル名を使用して）追加情報を渡す場合は、このフラグを指定しないでください。 または、</a:t>
            </a:r>
            <a:r>
              <a:rPr lang="en-US" altLang="ja-JP" dirty="0"/>
              <a:t>#AI_CONFIG_PP_RRM_EXCLUDE_LIST</a:t>
            </a:r>
            <a:r>
              <a:rPr lang="ja-JP" altLang="en-US" dirty="0"/>
              <a:t>設定。</a:t>
            </a:r>
          </a:p>
        </p:txBody>
      </p:sp>
    </p:spTree>
    <p:extLst>
      <p:ext uri="{BB962C8B-B14F-4D97-AF65-F5344CB8AC3E}">
        <p14:creationId xmlns:p14="http://schemas.microsoft.com/office/powerpoint/2010/main" val="37925311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68875" y="16190"/>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aiProcess_SplitLargeMeshes</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94735" y="675799"/>
            <a:ext cx="11990173" cy="369332"/>
          </a:xfrm>
          <a:prstGeom prst="rect">
            <a:avLst/>
          </a:prstGeom>
        </p:spPr>
        <p:txBody>
          <a:bodyPr wrap="square">
            <a:spAutoFit/>
          </a:bodyPr>
          <a:lstStyle/>
          <a:p>
            <a:endParaRPr lang="ja-JP" altLang="en-US" dirty="0"/>
          </a:p>
        </p:txBody>
      </p:sp>
      <p:sp>
        <p:nvSpPr>
          <p:cNvPr id="4" name="正方形/長方形 3"/>
          <p:cNvSpPr/>
          <p:nvPr/>
        </p:nvSpPr>
        <p:spPr>
          <a:xfrm>
            <a:off x="372761" y="3812725"/>
            <a:ext cx="11434119" cy="2308324"/>
          </a:xfrm>
          <a:prstGeom prst="rect">
            <a:avLst/>
          </a:prstGeom>
        </p:spPr>
        <p:txBody>
          <a:bodyPr wrap="square">
            <a:spAutoFit/>
          </a:bodyPr>
          <a:lstStyle/>
          <a:p>
            <a:r>
              <a:rPr lang="ja-JP" altLang="en-US" dirty="0"/>
              <a:t>大きなメッシュを小さなサブメッシュに分割します。       これは、</a:t>
            </a:r>
            <a:r>
              <a:rPr lang="en-US" altLang="ja-JP" dirty="0"/>
              <a:t>1</a:t>
            </a:r>
            <a:r>
              <a:rPr lang="ja-JP" altLang="en-US" dirty="0"/>
              <a:t>回の描画呼び出しで最大限に処理できる三角形の数がビデオドライバー</a:t>
            </a:r>
            <a:r>
              <a:rPr lang="en-US" altLang="ja-JP" dirty="0"/>
              <a:t>/</a:t>
            </a:r>
            <a:r>
              <a:rPr lang="ja-JP" altLang="en-US" dirty="0"/>
              <a:t>ハードウェアによって制限されるリアルタイムレンダリングに非常に役立ちます。通常、最大頂点バッファーも制限されています。このステップで両方の要件を満たすことができます。単一のメッシュに三角形と頂点の両方の制限を指定できます。  分割制限は、</a:t>
            </a:r>
            <a:r>
              <a:rPr lang="en-US" altLang="ja-JP" dirty="0"/>
              <a:t>&lt;</a:t>
            </a:r>
            <a:r>
              <a:rPr lang="en-US" altLang="ja-JP" dirty="0" err="1"/>
              <a:t>tt</a:t>
            </a:r>
            <a:r>
              <a:rPr lang="en-US" altLang="ja-JP" dirty="0"/>
              <a:t>&gt; #AI_CONFIG_PP_SLM_VERTEX_LIMIT &lt;/ </a:t>
            </a:r>
            <a:r>
              <a:rPr lang="en-US" altLang="ja-JP" dirty="0" err="1"/>
              <a:t>tt</a:t>
            </a:r>
            <a:r>
              <a:rPr lang="en-US" altLang="ja-JP" dirty="0"/>
              <a:t>&gt;</a:t>
            </a:r>
            <a:r>
              <a:rPr lang="ja-JP" altLang="en-US" dirty="0"/>
              <a:t>および</a:t>
            </a:r>
            <a:r>
              <a:rPr lang="en-US" altLang="ja-JP" dirty="0"/>
              <a:t>&lt;</a:t>
            </a:r>
            <a:r>
              <a:rPr lang="en-US" altLang="ja-JP" dirty="0" err="1"/>
              <a:t>tt</a:t>
            </a:r>
            <a:r>
              <a:rPr lang="en-US" altLang="ja-JP" dirty="0"/>
              <a:t>&gt; #AI_CONFIG_PP_SLM_TRIANGLE_LIMIT &lt;/ </a:t>
            </a:r>
            <a:r>
              <a:rPr lang="en-US" altLang="ja-JP" dirty="0" err="1"/>
              <a:t>tt</a:t>
            </a:r>
            <a:r>
              <a:rPr lang="en-US" altLang="ja-JP" dirty="0"/>
              <a:t>&gt;</a:t>
            </a:r>
            <a:r>
              <a:rPr lang="ja-JP" altLang="en-US" dirty="0"/>
              <a:t>を使用して設定できます       設定。デフォルト値は、</a:t>
            </a:r>
            <a:r>
              <a:rPr lang="en-US" altLang="ja-JP" dirty="0"/>
              <a:t>&lt;</a:t>
            </a:r>
            <a:r>
              <a:rPr lang="en-US" altLang="ja-JP" dirty="0" err="1"/>
              <a:t>tt</a:t>
            </a:r>
            <a:r>
              <a:rPr lang="en-US" altLang="ja-JP" dirty="0"/>
              <a:t>&gt; #AI_SLM_DEFAULT_MAX_VERTICES &lt;/ </a:t>
            </a:r>
            <a:r>
              <a:rPr lang="en-US" altLang="ja-JP" dirty="0" err="1"/>
              <a:t>tt</a:t>
            </a:r>
            <a:r>
              <a:rPr lang="en-US" altLang="ja-JP" dirty="0"/>
              <a:t>&gt;</a:t>
            </a:r>
            <a:r>
              <a:rPr lang="ja-JP" altLang="en-US" dirty="0"/>
              <a:t>および</a:t>
            </a:r>
            <a:r>
              <a:rPr lang="en-US" altLang="ja-JP" dirty="0"/>
              <a:t>&lt;</a:t>
            </a:r>
            <a:r>
              <a:rPr lang="en-US" altLang="ja-JP" dirty="0" err="1"/>
              <a:t>tt</a:t>
            </a:r>
            <a:r>
              <a:rPr lang="en-US" altLang="ja-JP" dirty="0"/>
              <a:t>&gt; #AI_SLM_DEFAULT_MAX_TRIANGLES &lt;/ </a:t>
            </a:r>
            <a:r>
              <a:rPr lang="en-US" altLang="ja-JP" dirty="0" err="1"/>
              <a:t>tt</a:t>
            </a:r>
            <a:r>
              <a:rPr lang="en-US" altLang="ja-JP" dirty="0"/>
              <a:t>&gt;</a:t>
            </a:r>
            <a:r>
              <a:rPr lang="ja-JP" altLang="en-US" dirty="0"/>
              <a:t>です。分割は一般に時間のかかるタスクですが、分割するものがある場合のみです。このステップの使用は、ほとんどのユーザーに推奨されます。</a:t>
            </a:r>
          </a:p>
        </p:txBody>
      </p:sp>
      <p:sp>
        <p:nvSpPr>
          <p:cNvPr id="5" name="正方形/長方形 4"/>
          <p:cNvSpPr/>
          <p:nvPr/>
        </p:nvSpPr>
        <p:spPr>
          <a:xfrm>
            <a:off x="271849" y="612845"/>
            <a:ext cx="11434119" cy="2862322"/>
          </a:xfrm>
          <a:prstGeom prst="rect">
            <a:avLst/>
          </a:prstGeom>
        </p:spPr>
        <p:txBody>
          <a:bodyPr wrap="square">
            <a:spAutoFit/>
          </a:bodyPr>
          <a:lstStyle/>
          <a:p>
            <a:r>
              <a:rPr lang="ja-JP" altLang="en-US" dirty="0"/>
              <a:t>Splits large meshes into smaller sub-meshes. </a:t>
            </a:r>
          </a:p>
          <a:p>
            <a:r>
              <a:rPr lang="ja-JP" altLang="en-US" dirty="0"/>
              <a:t>      This is quite useful for real-time rendering, where the number of triangles which can be maximally</a:t>
            </a:r>
            <a:endParaRPr lang="en-US" altLang="ja-JP" dirty="0"/>
          </a:p>
          <a:p>
            <a:r>
              <a:rPr lang="en-US" altLang="ja-JP" dirty="0"/>
              <a:t>     </a:t>
            </a:r>
            <a:r>
              <a:rPr lang="ja-JP" altLang="en-US" dirty="0"/>
              <a:t> processed in a single draw-call is limited by the video driver/hardware. The maximum vertex buffer is</a:t>
            </a:r>
            <a:endParaRPr lang="en-US" altLang="ja-JP" dirty="0"/>
          </a:p>
          <a:p>
            <a:r>
              <a:rPr lang="en-US" altLang="ja-JP" dirty="0"/>
              <a:t>  </a:t>
            </a:r>
            <a:r>
              <a:rPr lang="ja-JP" altLang="en-US" dirty="0"/>
              <a:t>    usually limited too. Both requirements can be met with this step: you may specify both a  triangle and</a:t>
            </a:r>
            <a:endParaRPr lang="en-US" altLang="ja-JP" dirty="0"/>
          </a:p>
          <a:p>
            <a:r>
              <a:rPr lang="en-US" altLang="ja-JP" dirty="0"/>
              <a:t>     </a:t>
            </a:r>
            <a:r>
              <a:rPr lang="ja-JP" altLang="en-US" dirty="0"/>
              <a:t> vertex limit for a single mesh.</a:t>
            </a:r>
          </a:p>
          <a:p>
            <a:r>
              <a:rPr lang="ja-JP" altLang="en-US" dirty="0"/>
              <a:t>      The split limits can (and should!) be set through the &lt;tt&gt;#AI_CONFIG_PP_SLM_VERTEX_LIMIT&lt;/tt&gt;</a:t>
            </a:r>
            <a:endParaRPr lang="en-US" altLang="ja-JP" dirty="0"/>
          </a:p>
          <a:p>
            <a:r>
              <a:rPr lang="ja-JP" altLang="en-US" dirty="0"/>
              <a:t>      and &lt;tt&gt;#AI_CONFIG_PP_SLM_TRIANGLE_LIMIT&lt;/tt&gt;  settings. The default values are</a:t>
            </a:r>
            <a:endParaRPr lang="en-US" altLang="ja-JP" dirty="0"/>
          </a:p>
          <a:p>
            <a:r>
              <a:rPr lang="en-US" altLang="ja-JP" dirty="0"/>
              <a:t>      </a:t>
            </a:r>
            <a:r>
              <a:rPr lang="ja-JP" altLang="en-US" dirty="0"/>
              <a:t>&lt;tt&gt;#AI_SLM_DEFAULT_MAX_VERTICES&lt;/tt&gt; and &lt;tt&gt;#AI_SLM_DEFAULT_MAX_TRIANGLES&lt;/tt&gt;. </a:t>
            </a:r>
          </a:p>
          <a:p>
            <a:r>
              <a:rPr lang="ja-JP" altLang="en-US" dirty="0"/>
              <a:t>      Note that splitting is generally a time-consuming task, but only if there's something to split. The use </a:t>
            </a:r>
            <a:endParaRPr lang="en-US" altLang="ja-JP" dirty="0"/>
          </a:p>
          <a:p>
            <a:r>
              <a:rPr lang="en-US" altLang="ja-JP" dirty="0"/>
              <a:t>      </a:t>
            </a:r>
            <a:r>
              <a:rPr lang="ja-JP" altLang="en-US" dirty="0"/>
              <a:t>of this step is recommended for most users.</a:t>
            </a:r>
          </a:p>
        </p:txBody>
      </p:sp>
    </p:spTree>
    <p:extLst>
      <p:ext uri="{BB962C8B-B14F-4D97-AF65-F5344CB8AC3E}">
        <p14:creationId xmlns:p14="http://schemas.microsoft.com/office/powerpoint/2010/main" val="37205709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68875" y="16190"/>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aiProcess_Triangulate</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94735" y="675799"/>
            <a:ext cx="11990173" cy="369332"/>
          </a:xfrm>
          <a:prstGeom prst="rect">
            <a:avLst/>
          </a:prstGeom>
        </p:spPr>
        <p:txBody>
          <a:bodyPr wrap="square">
            <a:spAutoFit/>
          </a:bodyPr>
          <a:lstStyle/>
          <a:p>
            <a:endParaRPr lang="ja-JP" altLang="en-US" dirty="0"/>
          </a:p>
        </p:txBody>
      </p:sp>
      <p:sp>
        <p:nvSpPr>
          <p:cNvPr id="4" name="正方形/長方形 3"/>
          <p:cNvSpPr/>
          <p:nvPr/>
        </p:nvSpPr>
        <p:spPr>
          <a:xfrm>
            <a:off x="354228" y="3952768"/>
            <a:ext cx="11730680" cy="1754326"/>
          </a:xfrm>
          <a:prstGeom prst="rect">
            <a:avLst/>
          </a:prstGeom>
        </p:spPr>
        <p:txBody>
          <a:bodyPr wrap="square">
            <a:spAutoFit/>
          </a:bodyPr>
          <a:lstStyle/>
          <a:p>
            <a:r>
              <a:rPr lang="ja-JP" altLang="en-US" dirty="0"/>
              <a:t>すべてのメッシュのすべての面を三角形化します。デフォルトでは、インポートされたメッシュデータには</a:t>
            </a:r>
            <a:r>
              <a:rPr lang="en-US" altLang="ja-JP" dirty="0"/>
              <a:t>3</a:t>
            </a:r>
            <a:r>
              <a:rPr lang="ja-JP" altLang="en-US" dirty="0"/>
              <a:t>つ以上のインデックスを持つ面が含まれる場合があります。通常、レンダリングでは、すべての面を三角形にする必要があります。この後処理ステップでは、</a:t>
            </a:r>
            <a:r>
              <a:rPr lang="en-US" altLang="ja-JP" dirty="0"/>
              <a:t>3</a:t>
            </a:r>
            <a:r>
              <a:rPr lang="ja-JP" altLang="en-US" dirty="0"/>
              <a:t>つ以上のインデックスを持つ顔を三角形に分割します。線と点のプリミティブは*変更*されていません！他の種類のプリミティブのない「三角形のみ」が必要な場合は、次の解決策を試してください。</a:t>
            </a:r>
            <a:r>
              <a:rPr lang="en-US" altLang="ja-JP" dirty="0"/>
              <a:t>#</a:t>
            </a:r>
            <a:r>
              <a:rPr lang="en-US" altLang="ja-JP" dirty="0" err="1"/>
              <a:t>aiProcess_Triangulate</a:t>
            </a:r>
            <a:r>
              <a:rPr lang="ja-JP" altLang="en-US"/>
              <a:t>と</a:t>
            </a:r>
            <a:r>
              <a:rPr lang="en-US" altLang="ja-JP"/>
              <a:t>#</a:t>
            </a:r>
            <a:r>
              <a:rPr lang="en-US" altLang="ja-JP" dirty="0" err="1"/>
              <a:t>aiProcess_SortByPTypeassimp</a:t>
            </a:r>
            <a:r>
              <a:rPr lang="ja-JP" altLang="en-US" dirty="0"/>
              <a:t>の出力を処理するときに、すべてのポイントメッシュとラインメッシュを無視する</a:t>
            </a:r>
          </a:p>
        </p:txBody>
      </p:sp>
      <p:sp>
        <p:nvSpPr>
          <p:cNvPr id="5" name="正方形/長方形 4"/>
          <p:cNvSpPr/>
          <p:nvPr/>
        </p:nvSpPr>
        <p:spPr>
          <a:xfrm>
            <a:off x="774357" y="751344"/>
            <a:ext cx="10099589" cy="2862322"/>
          </a:xfrm>
          <a:prstGeom prst="rect">
            <a:avLst/>
          </a:prstGeom>
        </p:spPr>
        <p:txBody>
          <a:bodyPr wrap="square">
            <a:spAutoFit/>
          </a:bodyPr>
          <a:lstStyle/>
          <a:p>
            <a:r>
              <a:rPr lang="ja-JP" altLang="en-US" dirty="0"/>
              <a:t>Triangulates all faces of all meshes. </a:t>
            </a:r>
          </a:p>
          <a:p>
            <a:endParaRPr lang="ja-JP" altLang="en-US" dirty="0"/>
          </a:p>
          <a:p>
            <a:r>
              <a:rPr lang="ja-JP" altLang="en-US" dirty="0"/>
              <a:t>       By default the imported mesh data might contain faces with more than 3 indices. </a:t>
            </a:r>
            <a:endParaRPr lang="en-US" altLang="ja-JP" dirty="0"/>
          </a:p>
          <a:p>
            <a:r>
              <a:rPr lang="en-US" altLang="ja-JP" dirty="0"/>
              <a:t>       </a:t>
            </a:r>
            <a:r>
              <a:rPr lang="ja-JP" altLang="en-US" dirty="0"/>
              <a:t>For rendering you'll usually want all faces to be triangles. </a:t>
            </a:r>
          </a:p>
          <a:p>
            <a:r>
              <a:rPr lang="ja-JP" altLang="en-US" dirty="0"/>
              <a:t>       This post processing step splits up faces with more than 3 indices into triangles. </a:t>
            </a:r>
            <a:endParaRPr lang="en-US" altLang="ja-JP" dirty="0"/>
          </a:p>
          <a:p>
            <a:r>
              <a:rPr lang="en-US" altLang="ja-JP" dirty="0"/>
              <a:t>       </a:t>
            </a:r>
            <a:r>
              <a:rPr lang="ja-JP" altLang="en-US" dirty="0"/>
              <a:t>Line and point primitives are *not* modified! </a:t>
            </a:r>
            <a:endParaRPr lang="en-US" altLang="ja-JP" dirty="0"/>
          </a:p>
          <a:p>
            <a:r>
              <a:rPr lang="en-US" altLang="ja-JP" dirty="0"/>
              <a:t>       </a:t>
            </a:r>
            <a:r>
              <a:rPr lang="ja-JP" altLang="en-US" dirty="0"/>
              <a:t>If you want ‘triangles only’ with no other kinds of primitives, try the following solution:</a:t>
            </a:r>
            <a:endParaRPr lang="en-US" altLang="ja-JP" dirty="0"/>
          </a:p>
          <a:p>
            <a:endParaRPr lang="ja-JP" altLang="en-US" dirty="0"/>
          </a:p>
          <a:p>
            <a:r>
              <a:rPr lang="ja-JP" altLang="en-US" dirty="0"/>
              <a:t>       Specify both #aiProcess_Triangulate and #aiProcess_SortByPType</a:t>
            </a:r>
            <a:endParaRPr lang="en-US" altLang="ja-JP" dirty="0"/>
          </a:p>
          <a:p>
            <a:r>
              <a:rPr lang="ja-JP" altLang="en-US" dirty="0"/>
              <a:t>       Ignore all point and line meshes when you process assimp's output</a:t>
            </a:r>
          </a:p>
        </p:txBody>
      </p:sp>
    </p:spTree>
    <p:extLst>
      <p:ext uri="{BB962C8B-B14F-4D97-AF65-F5344CB8AC3E}">
        <p14:creationId xmlns:p14="http://schemas.microsoft.com/office/powerpoint/2010/main" val="2564848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94735" y="173507"/>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aiProcess_GenUVCoords</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94735" y="675799"/>
            <a:ext cx="11990173" cy="369332"/>
          </a:xfrm>
          <a:prstGeom prst="rect">
            <a:avLst/>
          </a:prstGeom>
        </p:spPr>
        <p:txBody>
          <a:bodyPr wrap="square">
            <a:spAutoFit/>
          </a:bodyPr>
          <a:lstStyle/>
          <a:p>
            <a:endParaRPr lang="ja-JP" altLang="en-US" dirty="0"/>
          </a:p>
        </p:txBody>
      </p:sp>
      <p:sp>
        <p:nvSpPr>
          <p:cNvPr id="4" name="正方形/長方形 3"/>
          <p:cNvSpPr/>
          <p:nvPr/>
        </p:nvSpPr>
        <p:spPr>
          <a:xfrm>
            <a:off x="452050" y="4397611"/>
            <a:ext cx="11275542" cy="2031325"/>
          </a:xfrm>
          <a:prstGeom prst="rect">
            <a:avLst/>
          </a:prstGeom>
        </p:spPr>
        <p:txBody>
          <a:bodyPr wrap="square">
            <a:spAutoFit/>
          </a:bodyPr>
          <a:lstStyle/>
          <a:p>
            <a:r>
              <a:rPr lang="ja-JP" altLang="en-US" dirty="0"/>
              <a:t>この手順では、非</a:t>
            </a:r>
            <a:r>
              <a:rPr lang="en-US" altLang="ja-JP" dirty="0"/>
              <a:t>UV</a:t>
            </a:r>
            <a:r>
              <a:rPr lang="ja-JP" altLang="en-US" dirty="0"/>
              <a:t>マッピング（球面マッピングまたは円筒マッピングなど）を適切なテクスチャ座標チャネルに変換します。ほとんどのアプリケーションは</a:t>
            </a:r>
            <a:r>
              <a:rPr lang="en-US" altLang="ja-JP" dirty="0"/>
              <a:t>UV</a:t>
            </a:r>
            <a:r>
              <a:rPr lang="ja-JP" altLang="en-US" dirty="0"/>
              <a:t>マッピングのみをサポートするため、すべての場合にこのステップを指定することをお勧めします。 </a:t>
            </a:r>
            <a:r>
              <a:rPr lang="en-US" altLang="ja-JP" dirty="0" err="1"/>
              <a:t>Assimp</a:t>
            </a:r>
            <a:r>
              <a:rPr lang="ja-JP" altLang="en-US" dirty="0"/>
              <a:t>は、モデルを完全に生成した</a:t>
            </a:r>
            <a:r>
              <a:rPr lang="en-US" altLang="ja-JP" dirty="0"/>
              <a:t>3D</a:t>
            </a:r>
            <a:r>
              <a:rPr lang="ja-JP" altLang="en-US" dirty="0"/>
              <a:t>アプリの元のマッピング実装と常に一致するとは限らないことに注意してください。 モデリングアプリに</a:t>
            </a:r>
            <a:r>
              <a:rPr lang="en-US" altLang="ja-JP" dirty="0"/>
              <a:t>UV</a:t>
            </a:r>
            <a:r>
              <a:rPr lang="ja-JP" altLang="en-US" dirty="0"/>
              <a:t>チャンネルを計算させるのが常に良いです。たとえば、</a:t>
            </a:r>
            <a:r>
              <a:rPr lang="en-US" altLang="ja-JP" dirty="0"/>
              <a:t>3ds max</a:t>
            </a:r>
            <a:r>
              <a:rPr lang="ja-JP" altLang="en-US" dirty="0" err="1"/>
              <a:t>、</a:t>
            </a:r>
            <a:r>
              <a:rPr lang="en-US" altLang="ja-JP" dirty="0"/>
              <a:t>Maya</a:t>
            </a:r>
            <a:r>
              <a:rPr lang="ja-JP" altLang="en-US" dirty="0" err="1"/>
              <a:t>、</a:t>
            </a:r>
            <a:r>
              <a:rPr lang="en-US" altLang="ja-JP" dirty="0"/>
              <a:t>Blender</a:t>
            </a:r>
            <a:r>
              <a:rPr lang="ja-JP" altLang="en-US" dirty="0" err="1"/>
              <a:t>、</a:t>
            </a:r>
            <a:r>
              <a:rPr lang="en-US" altLang="ja-JP" dirty="0" err="1"/>
              <a:t>LightWave</a:t>
            </a:r>
            <a:r>
              <a:rPr lang="ja-JP" altLang="en-US" dirty="0" err="1"/>
              <a:t>、</a:t>
            </a:r>
            <a:r>
              <a:rPr lang="ja-JP" altLang="en-US" dirty="0"/>
              <a:t>および</a:t>
            </a:r>
            <a:r>
              <a:rPr lang="en-US" altLang="ja-JP" dirty="0" err="1"/>
              <a:t>Modo</a:t>
            </a:r>
            <a:r>
              <a:rPr lang="ja-JP" altLang="en-US" dirty="0"/>
              <a:t>がこれを行います。注意：このステップが要求されない場合、すべてのアセットを適切に表示するために</a:t>
            </a:r>
            <a:r>
              <a:rPr lang="en-US" altLang="ja-JP" dirty="0"/>
              <a:t>AI_MATKEY_MAPPING</a:t>
            </a:r>
            <a:r>
              <a:rPr lang="ja-JP" altLang="en-US" dirty="0"/>
              <a:t>マテリアルプロパティを処理する必要があります。</a:t>
            </a:r>
          </a:p>
        </p:txBody>
      </p:sp>
      <p:sp>
        <p:nvSpPr>
          <p:cNvPr id="5" name="正方形/長方形 4"/>
          <p:cNvSpPr/>
          <p:nvPr/>
        </p:nvSpPr>
        <p:spPr>
          <a:xfrm>
            <a:off x="526706" y="860465"/>
            <a:ext cx="11126230" cy="3139321"/>
          </a:xfrm>
          <a:prstGeom prst="rect">
            <a:avLst/>
          </a:prstGeom>
        </p:spPr>
        <p:txBody>
          <a:bodyPr wrap="square">
            <a:spAutoFit/>
          </a:bodyPr>
          <a:lstStyle/>
          <a:p>
            <a:endParaRPr lang="ja-JP" altLang="en-US" dirty="0"/>
          </a:p>
          <a:p>
            <a:r>
              <a:rPr lang="ja-JP" altLang="en-US" dirty="0"/>
              <a:t>This step converts non-UV mappings (such as spherical or cylindrical mapping) to proper texture coordinate channels.</a:t>
            </a:r>
          </a:p>
          <a:p>
            <a:endParaRPr lang="ja-JP" altLang="en-US" dirty="0"/>
          </a:p>
          <a:p>
            <a:r>
              <a:rPr lang="ja-JP" altLang="en-US" dirty="0"/>
              <a:t>Most applications will support UV mapping only, so you will probably want to specify this step in every case. Note that Assimp is not always able to match the original mapping implementation of the 3D app which produced a model perfectly. It's always better to let the modelling app compute the UV channels - 3ds max, Maya, Blender, LightWave, and Modo do this for example.</a:t>
            </a:r>
          </a:p>
          <a:p>
            <a:r>
              <a:rPr lang="ja-JP" altLang="en-US" dirty="0"/>
              <a:t>Note:</a:t>
            </a:r>
          </a:p>
          <a:p>
            <a:r>
              <a:rPr lang="ja-JP" altLang="en-US" dirty="0"/>
              <a:t>If this step is not requested, you'll need to process the AI_MATKEY_MAPPING material property in order to display all assets properly. </a:t>
            </a:r>
          </a:p>
        </p:txBody>
      </p:sp>
    </p:spTree>
    <p:extLst>
      <p:ext uri="{BB962C8B-B14F-4D97-AF65-F5344CB8AC3E}">
        <p14:creationId xmlns:p14="http://schemas.microsoft.com/office/powerpoint/2010/main" val="21849902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68875" y="16190"/>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aiProcess_SortByPType</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94735" y="675799"/>
            <a:ext cx="11990173" cy="369332"/>
          </a:xfrm>
          <a:prstGeom prst="rect">
            <a:avLst/>
          </a:prstGeom>
        </p:spPr>
        <p:txBody>
          <a:bodyPr wrap="square">
            <a:spAutoFit/>
          </a:bodyPr>
          <a:lstStyle/>
          <a:p>
            <a:endParaRPr lang="ja-JP" altLang="en-US" dirty="0"/>
          </a:p>
        </p:txBody>
      </p:sp>
      <p:sp>
        <p:nvSpPr>
          <p:cNvPr id="5" name="正方形/長方形 4"/>
          <p:cNvSpPr/>
          <p:nvPr/>
        </p:nvSpPr>
        <p:spPr>
          <a:xfrm>
            <a:off x="286264" y="4396594"/>
            <a:ext cx="11705968" cy="1754326"/>
          </a:xfrm>
          <a:prstGeom prst="rect">
            <a:avLst/>
          </a:prstGeom>
        </p:spPr>
        <p:txBody>
          <a:bodyPr wrap="square">
            <a:spAutoFit/>
          </a:bodyPr>
          <a:lstStyle/>
          <a:p>
            <a:r>
              <a:rPr lang="ja-JP" altLang="en-US" dirty="0"/>
              <a:t>このステップでは、複数のプリミティブタイプを持つメッシュを同種のサブメッシュに分割します。このステップは、三角形分割ステップの後に実行されます。 ステップが戻った後、aiMesh :: mPrimitiveTypesに1ビットだけが設定されます。 これは、ポイントプリミティブとラインプリミティブがしばしば無視されるか、別々にレンダリングされるリアルタイムレンダリングに特に役立ちます。 AI_CONFIG_PP_SBP_REMOVEオプションを使用して、必要なプリミティブタイプを指定できます。 これを使用して、ほとんど使用されないラインとポイントをインポートから簡単に除外できます。</a:t>
            </a:r>
          </a:p>
        </p:txBody>
      </p:sp>
      <p:sp>
        <p:nvSpPr>
          <p:cNvPr id="7" name="正方形/長方形 6"/>
          <p:cNvSpPr/>
          <p:nvPr/>
        </p:nvSpPr>
        <p:spPr>
          <a:xfrm>
            <a:off x="286264" y="649318"/>
            <a:ext cx="11607114" cy="3139321"/>
          </a:xfrm>
          <a:prstGeom prst="rect">
            <a:avLst/>
          </a:prstGeom>
        </p:spPr>
        <p:txBody>
          <a:bodyPr wrap="square">
            <a:spAutoFit/>
          </a:bodyPr>
          <a:lstStyle/>
          <a:p>
            <a:endParaRPr lang="ja-JP" altLang="en-US" dirty="0"/>
          </a:p>
          <a:p>
            <a:r>
              <a:rPr lang="ja-JP" altLang="en-US" dirty="0"/>
              <a:t>This step converts non-UV mappings (such as spherical or cylindrical mapping) to proper texture coordinate channels.</a:t>
            </a:r>
          </a:p>
          <a:p>
            <a:endParaRPr lang="ja-JP" altLang="en-US" dirty="0"/>
          </a:p>
          <a:p>
            <a:r>
              <a:rPr lang="ja-JP" altLang="en-US" dirty="0"/>
              <a:t>Most applications will support UV mapping only, so you will probably want to specify this step in every case. Note that Assimp is not always able to match the original mapping implementation of the 3D app which produced a model perfectly. It's always better to let the modelling app compute the UV channels - 3ds max, Maya, Blender, LightWave, and Modo do this for example.</a:t>
            </a:r>
          </a:p>
          <a:p>
            <a:r>
              <a:rPr lang="ja-JP" altLang="en-US" dirty="0"/>
              <a:t>Note:</a:t>
            </a:r>
          </a:p>
          <a:p>
            <a:r>
              <a:rPr lang="ja-JP" altLang="en-US" dirty="0"/>
              <a:t>If this step is not requested, you'll need to process the AI_MATKEY_MAPPING material property in order to display all assets properly. </a:t>
            </a:r>
          </a:p>
        </p:txBody>
      </p:sp>
    </p:spTree>
    <p:extLst>
      <p:ext uri="{BB962C8B-B14F-4D97-AF65-F5344CB8AC3E}">
        <p14:creationId xmlns:p14="http://schemas.microsoft.com/office/powerpoint/2010/main" val="1927992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68875" y="16190"/>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aiProcess_FindDegenerates</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94735" y="675799"/>
            <a:ext cx="11990173" cy="369332"/>
          </a:xfrm>
          <a:prstGeom prst="rect">
            <a:avLst/>
          </a:prstGeom>
        </p:spPr>
        <p:txBody>
          <a:bodyPr wrap="square">
            <a:spAutoFit/>
          </a:bodyPr>
          <a:lstStyle/>
          <a:p>
            <a:endParaRPr lang="ja-JP" altLang="en-US" dirty="0"/>
          </a:p>
        </p:txBody>
      </p:sp>
      <p:sp>
        <p:nvSpPr>
          <p:cNvPr id="5" name="正方形/長方形 4"/>
          <p:cNvSpPr/>
          <p:nvPr/>
        </p:nvSpPr>
        <p:spPr>
          <a:xfrm>
            <a:off x="168875" y="1231707"/>
            <a:ext cx="11813059" cy="3693319"/>
          </a:xfrm>
          <a:prstGeom prst="rect">
            <a:avLst/>
          </a:prstGeom>
        </p:spPr>
        <p:txBody>
          <a:bodyPr wrap="square">
            <a:spAutoFit/>
          </a:bodyPr>
          <a:lstStyle/>
          <a:p>
            <a:r>
              <a:rPr lang="ja-JP" altLang="en-US" dirty="0"/>
              <a:t>このステップでは、すべてのメッシュで縮退プリミティブを検索し、適切なラインまたはポイントに変換します。1つ以上のポイントが同一である場合、顔は「縮退」しています。縮退したものを検出して折りたたむだけでなく削除するには、次のいずれかの手順を試してください。1.（レンダリングのためにラインとポイントをサポートしているが、縮退させたくない場合）aiProcess_FindDegeneratesフラグを指定します。AI_CONFIG_PP_FD_REMOVEオプションを1に設定します。これにより、ステップが検出されるとすぐに、劣化した三角形をインポートから削除します。彼らはそれ以上パイプラインのステップを渡しません。2.（線と点をまったくサポートしない場合）aiProcess_FindDegeneratesフラグを指定します。aiProcess_SortByPTypeフラグを指定します。これにより、ラインプリミティブとポイントプリミティブが別々のメッシュに移動します。AI_CONFIG_PP_SBP_REMOVEオプションを設定します aiPrimitiveType_POINTS | aiPrimitiveType_LINESSortByPTypeがシーンからのポイントおよびラインメッシュを拒否するようにします。注意：縮退したポリゴンは必ずしも悪ではないため、デフォルトでは削除されません。線や点をサポートしないファイル形式がいくつかあり、一部のエクスポーターは形式仕様をバイパスして、代わりに縮退三角形として書き込みます。</a:t>
            </a:r>
          </a:p>
        </p:txBody>
      </p:sp>
    </p:spTree>
    <p:extLst>
      <p:ext uri="{BB962C8B-B14F-4D97-AF65-F5344CB8AC3E}">
        <p14:creationId xmlns:p14="http://schemas.microsoft.com/office/powerpoint/2010/main" val="22330644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168875" y="16190"/>
            <a:ext cx="8600302" cy="584775"/>
          </a:xfrm>
          <a:prstGeom prst="rect">
            <a:avLst/>
          </a:prstGeom>
        </p:spPr>
        <p:txBody>
          <a:bodyPr wrap="square">
            <a:spAutoFit/>
          </a:bodyPr>
          <a:lstStyle/>
          <a:p>
            <a:r>
              <a:rPr lang="en-US" altLang="ja-JP" sz="3200" dirty="0" err="1">
                <a:solidFill>
                  <a:srgbClr val="000000"/>
                </a:solidFill>
                <a:latin typeface="Courier New" panose="02070309020205020404" pitchFamily="49" charset="0"/>
              </a:rPr>
              <a:t>aiProcess_FindInvalidData</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94735" y="675799"/>
            <a:ext cx="11990173" cy="369332"/>
          </a:xfrm>
          <a:prstGeom prst="rect">
            <a:avLst/>
          </a:prstGeom>
        </p:spPr>
        <p:txBody>
          <a:bodyPr wrap="square">
            <a:spAutoFit/>
          </a:bodyPr>
          <a:lstStyle/>
          <a:p>
            <a:endParaRPr lang="ja-JP" altLang="en-US" dirty="0"/>
          </a:p>
        </p:txBody>
      </p:sp>
      <p:sp>
        <p:nvSpPr>
          <p:cNvPr id="4" name="正方形/長方形 3"/>
          <p:cNvSpPr/>
          <p:nvPr/>
        </p:nvSpPr>
        <p:spPr>
          <a:xfrm>
            <a:off x="364524" y="1588508"/>
            <a:ext cx="10896601" cy="2031325"/>
          </a:xfrm>
          <a:prstGeom prst="rect">
            <a:avLst/>
          </a:prstGeom>
        </p:spPr>
        <p:txBody>
          <a:bodyPr wrap="square">
            <a:spAutoFit/>
          </a:bodyPr>
          <a:lstStyle/>
          <a:p>
            <a:r>
              <a:rPr lang="ja-JP" altLang="en-US" dirty="0"/>
              <a:t>この手順は、ゼロ化された法線ベクトルや無効な</a:t>
            </a:r>
            <a:r>
              <a:rPr lang="en-US" altLang="ja-JP" dirty="0"/>
              <a:t>UV</a:t>
            </a:r>
            <a:r>
              <a:rPr lang="ja-JP" altLang="en-US" dirty="0"/>
              <a:t>座標などの無効なデータのすべてのメッシュを検索し、それらを削除</a:t>
            </a:r>
            <a:r>
              <a:rPr lang="en-US" altLang="ja-JP" dirty="0"/>
              <a:t>/</a:t>
            </a:r>
            <a:r>
              <a:rPr lang="ja-JP" altLang="en-US" dirty="0"/>
              <a:t>修正します。 これは、いくつかの一般的なエクスポーターエラーを取り除くことを目的としています。これは特に法線に役立ちます。 それらが無効であり、ステップがこれを認識する場合、それらは削除され、後で再計算できます。つまり、</a:t>
            </a:r>
            <a:r>
              <a:rPr lang="en-US" altLang="ja-JP" dirty="0" err="1"/>
              <a:t>aiProcess_GenSmoothNormals</a:t>
            </a:r>
            <a:r>
              <a:rPr lang="ja-JP" altLang="en-US" dirty="0"/>
              <a:t>フラグによって。また、このステップは、無限に小さいメッシュを削除し、単一のキーに対する冗長キーの場合、数百からなるアニメーショントラックを削減します。 </a:t>
            </a:r>
            <a:r>
              <a:rPr lang="en-US" altLang="ja-JP" dirty="0"/>
              <a:t>AI_CONFIG_PP_FID_ANIM_ACCURACY</a:t>
            </a:r>
            <a:r>
              <a:rPr lang="ja-JP" altLang="en-US" dirty="0"/>
              <a:t>構成プロパティは、重複するアニメーショントラックのチェックの精度を決定します。</a:t>
            </a:r>
          </a:p>
        </p:txBody>
      </p:sp>
    </p:spTree>
    <p:extLst>
      <p:ext uri="{BB962C8B-B14F-4D97-AF65-F5344CB8AC3E}">
        <p14:creationId xmlns:p14="http://schemas.microsoft.com/office/powerpoint/2010/main" val="4084437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33631" y="275690"/>
            <a:ext cx="3480488" cy="584775"/>
          </a:xfrm>
          <a:prstGeom prst="rect">
            <a:avLst/>
          </a:prstGeom>
        </p:spPr>
        <p:txBody>
          <a:bodyPr wrap="square">
            <a:spAutoFit/>
          </a:bodyPr>
          <a:lstStyle/>
          <a:p>
            <a:r>
              <a:rPr lang="ja-JP" altLang="en-US" sz="3200" dirty="0">
                <a:solidFill>
                  <a:srgbClr val="000000"/>
                </a:solidFill>
                <a:latin typeface="Courier New" panose="02070309020205020404" pitchFamily="49" charset="0"/>
              </a:rPr>
              <a:t>縮退ポリゴンとは</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94735" y="675799"/>
            <a:ext cx="11990173" cy="369332"/>
          </a:xfrm>
          <a:prstGeom prst="rect">
            <a:avLst/>
          </a:prstGeom>
        </p:spPr>
        <p:txBody>
          <a:bodyPr wrap="square">
            <a:spAutoFit/>
          </a:bodyPr>
          <a:lstStyle/>
          <a:p>
            <a:endParaRPr lang="ja-JP" altLang="en-US" dirty="0"/>
          </a:p>
        </p:txBody>
      </p:sp>
      <p:sp>
        <p:nvSpPr>
          <p:cNvPr id="5" name="二等辺三角形 4"/>
          <p:cNvSpPr/>
          <p:nvPr/>
        </p:nvSpPr>
        <p:spPr>
          <a:xfrm>
            <a:off x="1894703" y="2133599"/>
            <a:ext cx="2718486" cy="257844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p:cNvSpPr/>
          <p:nvPr/>
        </p:nvSpPr>
        <p:spPr>
          <a:xfrm>
            <a:off x="1960604" y="5222511"/>
            <a:ext cx="3072715" cy="584775"/>
          </a:xfrm>
          <a:prstGeom prst="rect">
            <a:avLst/>
          </a:prstGeom>
        </p:spPr>
        <p:txBody>
          <a:bodyPr wrap="square">
            <a:spAutoFit/>
          </a:bodyPr>
          <a:lstStyle/>
          <a:p>
            <a:r>
              <a:rPr lang="ja-JP" altLang="en-US" sz="3200" dirty="0">
                <a:solidFill>
                  <a:srgbClr val="000000"/>
                </a:solidFill>
                <a:latin typeface="Courier New" panose="02070309020205020404" pitchFamily="49" charset="0"/>
              </a:rPr>
              <a:t>正常なポリゴン</a:t>
            </a:r>
            <a:endParaRPr lang="en-US" altLang="ja-JP" sz="3200" dirty="0">
              <a:solidFill>
                <a:srgbClr val="000000"/>
              </a:solidFill>
              <a:latin typeface="Courier New" panose="02070309020205020404" pitchFamily="49" charset="0"/>
            </a:endParaRPr>
          </a:p>
        </p:txBody>
      </p:sp>
      <p:sp>
        <p:nvSpPr>
          <p:cNvPr id="8" name="正方形/長方形 7"/>
          <p:cNvSpPr/>
          <p:nvPr/>
        </p:nvSpPr>
        <p:spPr>
          <a:xfrm>
            <a:off x="7143474" y="5434592"/>
            <a:ext cx="3072715" cy="584775"/>
          </a:xfrm>
          <a:prstGeom prst="rect">
            <a:avLst/>
          </a:prstGeom>
        </p:spPr>
        <p:txBody>
          <a:bodyPr wrap="square">
            <a:spAutoFit/>
          </a:bodyPr>
          <a:lstStyle/>
          <a:p>
            <a:r>
              <a:rPr lang="ja-JP" altLang="en-US" sz="3200" dirty="0">
                <a:solidFill>
                  <a:srgbClr val="000000"/>
                </a:solidFill>
                <a:latin typeface="Courier New" panose="02070309020205020404" pitchFamily="49" charset="0"/>
              </a:rPr>
              <a:t>縮退ポリゴン</a:t>
            </a:r>
            <a:endParaRPr lang="en-US" altLang="ja-JP" sz="3200" dirty="0">
              <a:solidFill>
                <a:srgbClr val="000000"/>
              </a:solidFill>
              <a:latin typeface="Courier New" panose="02070309020205020404" pitchFamily="49" charset="0"/>
            </a:endParaRPr>
          </a:p>
        </p:txBody>
      </p:sp>
      <p:sp>
        <p:nvSpPr>
          <p:cNvPr id="9" name="テキスト ボックス 8"/>
          <p:cNvSpPr txBox="1"/>
          <p:nvPr/>
        </p:nvSpPr>
        <p:spPr>
          <a:xfrm>
            <a:off x="3105665" y="1627676"/>
            <a:ext cx="345989" cy="369332"/>
          </a:xfrm>
          <a:prstGeom prst="rect">
            <a:avLst/>
          </a:prstGeom>
          <a:noFill/>
        </p:spPr>
        <p:txBody>
          <a:bodyPr wrap="square" rtlCol="0">
            <a:spAutoFit/>
          </a:bodyPr>
          <a:lstStyle/>
          <a:p>
            <a:r>
              <a:rPr lang="en-US" altLang="ja-JP" dirty="0"/>
              <a:t>A</a:t>
            </a:r>
            <a:endParaRPr kumimoji="1" lang="ja-JP" altLang="en-US" dirty="0"/>
          </a:p>
        </p:txBody>
      </p:sp>
      <p:sp>
        <p:nvSpPr>
          <p:cNvPr id="10" name="テキスト ボックス 9"/>
          <p:cNvSpPr txBox="1"/>
          <p:nvPr/>
        </p:nvSpPr>
        <p:spPr>
          <a:xfrm>
            <a:off x="4735486" y="4527377"/>
            <a:ext cx="345989" cy="369332"/>
          </a:xfrm>
          <a:prstGeom prst="rect">
            <a:avLst/>
          </a:prstGeom>
          <a:noFill/>
        </p:spPr>
        <p:txBody>
          <a:bodyPr wrap="square" rtlCol="0">
            <a:spAutoFit/>
          </a:bodyPr>
          <a:lstStyle/>
          <a:p>
            <a:r>
              <a:rPr lang="en-US" altLang="ja-JP" dirty="0"/>
              <a:t>B</a:t>
            </a:r>
            <a:endParaRPr kumimoji="1" lang="ja-JP" altLang="en-US" dirty="0"/>
          </a:p>
        </p:txBody>
      </p:sp>
      <p:sp>
        <p:nvSpPr>
          <p:cNvPr id="11" name="テキスト ボックス 10"/>
          <p:cNvSpPr txBox="1"/>
          <p:nvPr/>
        </p:nvSpPr>
        <p:spPr>
          <a:xfrm>
            <a:off x="1511643" y="4527377"/>
            <a:ext cx="345989" cy="369332"/>
          </a:xfrm>
          <a:prstGeom prst="rect">
            <a:avLst/>
          </a:prstGeom>
          <a:noFill/>
        </p:spPr>
        <p:txBody>
          <a:bodyPr wrap="square" rtlCol="0">
            <a:spAutoFit/>
          </a:bodyPr>
          <a:lstStyle/>
          <a:p>
            <a:r>
              <a:rPr kumimoji="1" lang="en-US" altLang="ja-JP" dirty="0"/>
              <a:t>C</a:t>
            </a:r>
          </a:p>
        </p:txBody>
      </p:sp>
      <p:sp>
        <p:nvSpPr>
          <p:cNvPr id="12" name="テキスト ボックス 11"/>
          <p:cNvSpPr txBox="1"/>
          <p:nvPr/>
        </p:nvSpPr>
        <p:spPr>
          <a:xfrm>
            <a:off x="5769815" y="1273472"/>
            <a:ext cx="345989" cy="369332"/>
          </a:xfrm>
          <a:prstGeom prst="rect">
            <a:avLst/>
          </a:prstGeom>
          <a:noFill/>
        </p:spPr>
        <p:txBody>
          <a:bodyPr wrap="square" rtlCol="0">
            <a:spAutoFit/>
          </a:bodyPr>
          <a:lstStyle/>
          <a:p>
            <a:r>
              <a:rPr lang="en-US" altLang="ja-JP" dirty="0"/>
              <a:t>B</a:t>
            </a:r>
            <a:endParaRPr kumimoji="1" lang="ja-JP" altLang="en-US" dirty="0"/>
          </a:p>
        </p:txBody>
      </p:sp>
      <p:sp>
        <p:nvSpPr>
          <p:cNvPr id="13" name="テキスト ボックス 12"/>
          <p:cNvSpPr txBox="1"/>
          <p:nvPr/>
        </p:nvSpPr>
        <p:spPr>
          <a:xfrm>
            <a:off x="6065108" y="1258344"/>
            <a:ext cx="345989" cy="369332"/>
          </a:xfrm>
          <a:prstGeom prst="rect">
            <a:avLst/>
          </a:prstGeom>
          <a:noFill/>
        </p:spPr>
        <p:txBody>
          <a:bodyPr wrap="square" rtlCol="0">
            <a:spAutoFit/>
          </a:bodyPr>
          <a:lstStyle/>
          <a:p>
            <a:r>
              <a:rPr kumimoji="1" lang="en-US" altLang="ja-JP" dirty="0"/>
              <a:t>C</a:t>
            </a:r>
          </a:p>
        </p:txBody>
      </p:sp>
      <p:sp>
        <p:nvSpPr>
          <p:cNvPr id="14" name="テキスト ボックス 13"/>
          <p:cNvSpPr txBox="1"/>
          <p:nvPr/>
        </p:nvSpPr>
        <p:spPr>
          <a:xfrm>
            <a:off x="6411097" y="1272356"/>
            <a:ext cx="4300152" cy="369332"/>
          </a:xfrm>
          <a:prstGeom prst="rect">
            <a:avLst/>
          </a:prstGeom>
          <a:noFill/>
        </p:spPr>
        <p:txBody>
          <a:bodyPr wrap="square" rtlCol="0">
            <a:spAutoFit/>
          </a:bodyPr>
          <a:lstStyle/>
          <a:p>
            <a:r>
              <a:rPr lang="ja-JP" altLang="en-US" dirty="0"/>
              <a:t>が重なりポリゴンが線になってしまう</a:t>
            </a:r>
            <a:endParaRPr kumimoji="1" lang="en-US" altLang="ja-JP" dirty="0"/>
          </a:p>
        </p:txBody>
      </p:sp>
      <p:cxnSp>
        <p:nvCxnSpPr>
          <p:cNvPr id="16" name="直線コネクタ 15"/>
          <p:cNvCxnSpPr/>
          <p:nvPr/>
        </p:nvCxnSpPr>
        <p:spPr>
          <a:xfrm>
            <a:off x="6238102" y="1935892"/>
            <a:ext cx="43248" cy="2776151"/>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6296202" y="4697284"/>
            <a:ext cx="345989" cy="369332"/>
          </a:xfrm>
          <a:prstGeom prst="rect">
            <a:avLst/>
          </a:prstGeom>
          <a:noFill/>
        </p:spPr>
        <p:txBody>
          <a:bodyPr wrap="square" rtlCol="0">
            <a:spAutoFit/>
          </a:bodyPr>
          <a:lstStyle/>
          <a:p>
            <a:r>
              <a:rPr lang="en-US" altLang="ja-JP" dirty="0"/>
              <a:t>B</a:t>
            </a:r>
            <a:endParaRPr kumimoji="1" lang="ja-JP" altLang="en-US" dirty="0"/>
          </a:p>
        </p:txBody>
      </p:sp>
      <p:sp>
        <p:nvSpPr>
          <p:cNvPr id="19" name="テキスト ボックス 18"/>
          <p:cNvSpPr txBox="1"/>
          <p:nvPr/>
        </p:nvSpPr>
        <p:spPr>
          <a:xfrm>
            <a:off x="5942810" y="4697284"/>
            <a:ext cx="345989" cy="369332"/>
          </a:xfrm>
          <a:prstGeom prst="rect">
            <a:avLst/>
          </a:prstGeom>
          <a:noFill/>
        </p:spPr>
        <p:txBody>
          <a:bodyPr wrap="square" rtlCol="0">
            <a:spAutoFit/>
          </a:bodyPr>
          <a:lstStyle/>
          <a:p>
            <a:r>
              <a:rPr kumimoji="1" lang="en-US" altLang="ja-JP" dirty="0"/>
              <a:t>C</a:t>
            </a:r>
          </a:p>
        </p:txBody>
      </p:sp>
      <p:sp>
        <p:nvSpPr>
          <p:cNvPr id="20" name="テキスト ボックス 19"/>
          <p:cNvSpPr txBox="1"/>
          <p:nvPr/>
        </p:nvSpPr>
        <p:spPr>
          <a:xfrm>
            <a:off x="8687521" y="3205584"/>
            <a:ext cx="345989" cy="369332"/>
          </a:xfrm>
          <a:prstGeom prst="rect">
            <a:avLst/>
          </a:prstGeom>
          <a:noFill/>
        </p:spPr>
        <p:txBody>
          <a:bodyPr wrap="square" rtlCol="0">
            <a:spAutoFit/>
          </a:bodyPr>
          <a:lstStyle/>
          <a:p>
            <a:r>
              <a:rPr lang="en-US" altLang="ja-JP" dirty="0"/>
              <a:t>B</a:t>
            </a:r>
            <a:endParaRPr kumimoji="1" lang="ja-JP" altLang="en-US" dirty="0"/>
          </a:p>
        </p:txBody>
      </p:sp>
      <p:sp>
        <p:nvSpPr>
          <p:cNvPr id="21" name="テキスト ボックス 20"/>
          <p:cNvSpPr txBox="1"/>
          <p:nvPr/>
        </p:nvSpPr>
        <p:spPr>
          <a:xfrm>
            <a:off x="8986864" y="3173233"/>
            <a:ext cx="345989" cy="369332"/>
          </a:xfrm>
          <a:prstGeom prst="rect">
            <a:avLst/>
          </a:prstGeom>
          <a:noFill/>
        </p:spPr>
        <p:txBody>
          <a:bodyPr wrap="square" rtlCol="0">
            <a:spAutoFit/>
          </a:bodyPr>
          <a:lstStyle/>
          <a:p>
            <a:r>
              <a:rPr kumimoji="1" lang="en-US" altLang="ja-JP" dirty="0"/>
              <a:t>C</a:t>
            </a:r>
          </a:p>
        </p:txBody>
      </p:sp>
      <p:sp>
        <p:nvSpPr>
          <p:cNvPr id="22" name="テキスト ボックス 21"/>
          <p:cNvSpPr txBox="1"/>
          <p:nvPr/>
        </p:nvSpPr>
        <p:spPr>
          <a:xfrm>
            <a:off x="7784756" y="2238970"/>
            <a:ext cx="4300152" cy="369332"/>
          </a:xfrm>
          <a:prstGeom prst="rect">
            <a:avLst/>
          </a:prstGeom>
          <a:noFill/>
        </p:spPr>
        <p:txBody>
          <a:bodyPr wrap="square" rtlCol="0">
            <a:spAutoFit/>
          </a:bodyPr>
          <a:lstStyle/>
          <a:p>
            <a:r>
              <a:rPr lang="ja-JP" altLang="en-US" dirty="0"/>
              <a:t>が重なりポリゴンが点になってしまう</a:t>
            </a:r>
            <a:endParaRPr kumimoji="1" lang="en-US" altLang="ja-JP" dirty="0"/>
          </a:p>
        </p:txBody>
      </p:sp>
      <p:sp>
        <p:nvSpPr>
          <p:cNvPr id="26" name="テキスト ボックス 25"/>
          <p:cNvSpPr txBox="1"/>
          <p:nvPr/>
        </p:nvSpPr>
        <p:spPr>
          <a:xfrm>
            <a:off x="6065107" y="1641688"/>
            <a:ext cx="345989" cy="369332"/>
          </a:xfrm>
          <a:prstGeom prst="rect">
            <a:avLst/>
          </a:prstGeom>
          <a:noFill/>
        </p:spPr>
        <p:txBody>
          <a:bodyPr wrap="square" rtlCol="0">
            <a:spAutoFit/>
          </a:bodyPr>
          <a:lstStyle/>
          <a:p>
            <a:r>
              <a:rPr lang="en-US" altLang="ja-JP" dirty="0"/>
              <a:t>A</a:t>
            </a:r>
            <a:endParaRPr kumimoji="1" lang="ja-JP" altLang="en-US" dirty="0"/>
          </a:p>
        </p:txBody>
      </p:sp>
      <p:sp>
        <p:nvSpPr>
          <p:cNvPr id="27" name="テキスト ボックス 26"/>
          <p:cNvSpPr txBox="1"/>
          <p:nvPr/>
        </p:nvSpPr>
        <p:spPr>
          <a:xfrm>
            <a:off x="8388178" y="3190143"/>
            <a:ext cx="345989" cy="369332"/>
          </a:xfrm>
          <a:prstGeom prst="rect">
            <a:avLst/>
          </a:prstGeom>
          <a:noFill/>
        </p:spPr>
        <p:txBody>
          <a:bodyPr wrap="square" rtlCol="0">
            <a:spAutoFit/>
          </a:bodyPr>
          <a:lstStyle/>
          <a:p>
            <a:r>
              <a:rPr lang="en-US" altLang="ja-JP" dirty="0"/>
              <a:t>A</a:t>
            </a:r>
            <a:endParaRPr kumimoji="1" lang="ja-JP" altLang="en-US" dirty="0"/>
          </a:p>
        </p:txBody>
      </p:sp>
      <p:cxnSp>
        <p:nvCxnSpPr>
          <p:cNvPr id="28" name="直線コネクタ 27"/>
          <p:cNvCxnSpPr/>
          <p:nvPr/>
        </p:nvCxnSpPr>
        <p:spPr>
          <a:xfrm flipH="1">
            <a:off x="8806291" y="3004027"/>
            <a:ext cx="8167" cy="163074"/>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31" name="テキスト ボックス 30"/>
          <p:cNvSpPr txBox="1"/>
          <p:nvPr/>
        </p:nvSpPr>
        <p:spPr>
          <a:xfrm>
            <a:off x="7264982" y="2256698"/>
            <a:ext cx="345989" cy="369332"/>
          </a:xfrm>
          <a:prstGeom prst="rect">
            <a:avLst/>
          </a:prstGeom>
          <a:noFill/>
        </p:spPr>
        <p:txBody>
          <a:bodyPr wrap="square" rtlCol="0">
            <a:spAutoFit/>
          </a:bodyPr>
          <a:lstStyle/>
          <a:p>
            <a:r>
              <a:rPr lang="en-US" altLang="ja-JP" dirty="0"/>
              <a:t>B</a:t>
            </a:r>
            <a:endParaRPr kumimoji="1" lang="ja-JP" altLang="en-US" dirty="0"/>
          </a:p>
        </p:txBody>
      </p:sp>
      <p:sp>
        <p:nvSpPr>
          <p:cNvPr id="32" name="テキスト ボックス 31"/>
          <p:cNvSpPr txBox="1"/>
          <p:nvPr/>
        </p:nvSpPr>
        <p:spPr>
          <a:xfrm>
            <a:off x="7579290" y="2251191"/>
            <a:ext cx="345989" cy="369332"/>
          </a:xfrm>
          <a:prstGeom prst="rect">
            <a:avLst/>
          </a:prstGeom>
          <a:noFill/>
        </p:spPr>
        <p:txBody>
          <a:bodyPr wrap="square" rtlCol="0">
            <a:spAutoFit/>
          </a:bodyPr>
          <a:lstStyle/>
          <a:p>
            <a:r>
              <a:rPr kumimoji="1" lang="en-US" altLang="ja-JP" dirty="0"/>
              <a:t>C</a:t>
            </a:r>
          </a:p>
        </p:txBody>
      </p:sp>
      <p:sp>
        <p:nvSpPr>
          <p:cNvPr id="33" name="テキスト ボックス 32"/>
          <p:cNvSpPr txBox="1"/>
          <p:nvPr/>
        </p:nvSpPr>
        <p:spPr>
          <a:xfrm>
            <a:off x="7001895" y="2251191"/>
            <a:ext cx="345989" cy="369332"/>
          </a:xfrm>
          <a:prstGeom prst="rect">
            <a:avLst/>
          </a:prstGeom>
          <a:noFill/>
        </p:spPr>
        <p:txBody>
          <a:bodyPr wrap="square" rtlCol="0">
            <a:spAutoFit/>
          </a:bodyPr>
          <a:lstStyle/>
          <a:p>
            <a:r>
              <a:rPr lang="en-US" altLang="ja-JP" dirty="0"/>
              <a:t>A</a:t>
            </a:r>
            <a:endParaRPr kumimoji="1" lang="ja-JP" altLang="en-US" dirty="0"/>
          </a:p>
        </p:txBody>
      </p:sp>
    </p:spTree>
    <p:extLst>
      <p:ext uri="{BB962C8B-B14F-4D97-AF65-F5344CB8AC3E}">
        <p14:creationId xmlns:p14="http://schemas.microsoft.com/office/powerpoint/2010/main" val="11682108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p:cNvSpPr/>
          <p:nvPr/>
        </p:nvSpPr>
        <p:spPr>
          <a:xfrm>
            <a:off x="333631" y="275690"/>
            <a:ext cx="3480488" cy="584775"/>
          </a:xfrm>
          <a:prstGeom prst="rect">
            <a:avLst/>
          </a:prstGeom>
        </p:spPr>
        <p:txBody>
          <a:bodyPr wrap="square">
            <a:spAutoFit/>
          </a:bodyPr>
          <a:lstStyle/>
          <a:p>
            <a:r>
              <a:rPr lang="ja-JP" altLang="en-US" sz="3200" dirty="0">
                <a:solidFill>
                  <a:srgbClr val="000000"/>
                </a:solidFill>
                <a:latin typeface="Courier New" panose="02070309020205020404" pitchFamily="49" charset="0"/>
              </a:rPr>
              <a:t>マテリアルとは</a:t>
            </a:r>
            <a:endParaRPr lang="en-US" altLang="ja-JP" sz="3200" dirty="0">
              <a:solidFill>
                <a:srgbClr val="000000"/>
              </a:solidFill>
              <a:latin typeface="Courier New" panose="02070309020205020404" pitchFamily="49" charset="0"/>
            </a:endParaRPr>
          </a:p>
        </p:txBody>
      </p:sp>
      <p:sp>
        <p:nvSpPr>
          <p:cNvPr id="2" name="正方形/長方形 1"/>
          <p:cNvSpPr/>
          <p:nvPr/>
        </p:nvSpPr>
        <p:spPr>
          <a:xfrm>
            <a:off x="94735" y="675799"/>
            <a:ext cx="11990173" cy="369332"/>
          </a:xfrm>
          <a:prstGeom prst="rect">
            <a:avLst/>
          </a:prstGeom>
        </p:spPr>
        <p:txBody>
          <a:bodyPr wrap="square">
            <a:spAutoFit/>
          </a:bodyPr>
          <a:lstStyle/>
          <a:p>
            <a:endParaRPr lang="ja-JP" altLang="en-US" dirty="0"/>
          </a:p>
        </p:txBody>
      </p:sp>
      <p:sp>
        <p:nvSpPr>
          <p:cNvPr id="25" name="正方形/長方形 24"/>
          <p:cNvSpPr/>
          <p:nvPr/>
        </p:nvSpPr>
        <p:spPr>
          <a:xfrm>
            <a:off x="1108601" y="1255118"/>
            <a:ext cx="7140454" cy="584775"/>
          </a:xfrm>
          <a:prstGeom prst="rect">
            <a:avLst/>
          </a:prstGeom>
        </p:spPr>
        <p:txBody>
          <a:bodyPr wrap="square">
            <a:spAutoFit/>
          </a:bodyPr>
          <a:lstStyle/>
          <a:p>
            <a:r>
              <a:rPr lang="ja-JP" altLang="en-US" sz="3200" dirty="0">
                <a:solidFill>
                  <a:srgbClr val="000000"/>
                </a:solidFill>
                <a:latin typeface="Courier New" panose="02070309020205020404" pitchFamily="49" charset="0"/>
              </a:rPr>
              <a:t>モデルの質感を表すためのデータ</a:t>
            </a:r>
            <a:endParaRPr lang="en-US" altLang="ja-JP" sz="3200" dirty="0">
              <a:solidFill>
                <a:srgbClr val="000000"/>
              </a:solidFill>
              <a:latin typeface="Courier New" panose="02070309020205020404" pitchFamily="49" charset="0"/>
            </a:endParaRPr>
          </a:p>
        </p:txBody>
      </p:sp>
      <p:sp>
        <p:nvSpPr>
          <p:cNvPr id="29" name="正方形/長方形 28"/>
          <p:cNvSpPr/>
          <p:nvPr/>
        </p:nvSpPr>
        <p:spPr>
          <a:xfrm>
            <a:off x="1212361" y="2341374"/>
            <a:ext cx="4537650" cy="1077218"/>
          </a:xfrm>
          <a:prstGeom prst="rect">
            <a:avLst/>
          </a:prstGeom>
        </p:spPr>
        <p:txBody>
          <a:bodyPr wrap="square">
            <a:spAutoFit/>
          </a:bodyPr>
          <a:lstStyle/>
          <a:p>
            <a:r>
              <a:rPr lang="ja-JP" altLang="en-US" sz="3200" dirty="0">
                <a:solidFill>
                  <a:srgbClr val="000000"/>
                </a:solidFill>
                <a:latin typeface="Courier New" panose="02070309020205020404" pitchFamily="49" charset="0"/>
              </a:rPr>
              <a:t>拡散反射</a:t>
            </a:r>
            <a:endParaRPr lang="en-US" altLang="ja-JP" sz="3200" dirty="0">
              <a:solidFill>
                <a:srgbClr val="000000"/>
              </a:solidFill>
              <a:latin typeface="Courier New" panose="02070309020205020404" pitchFamily="49" charset="0"/>
            </a:endParaRPr>
          </a:p>
          <a:p>
            <a:r>
              <a:rPr lang="ja-JP" altLang="en-US" sz="3200" dirty="0">
                <a:solidFill>
                  <a:srgbClr val="000000"/>
                </a:solidFill>
                <a:latin typeface="Courier New" panose="02070309020205020404" pitchFamily="49" charset="0"/>
              </a:rPr>
              <a:t>（ランバート余弦則）</a:t>
            </a:r>
            <a:endParaRPr lang="en-US" altLang="ja-JP" sz="3200" dirty="0">
              <a:solidFill>
                <a:srgbClr val="000000"/>
              </a:solidFill>
              <a:latin typeface="Courier New" panose="02070309020205020404" pitchFamily="49" charset="0"/>
            </a:endParaRPr>
          </a:p>
        </p:txBody>
      </p:sp>
      <p:sp>
        <p:nvSpPr>
          <p:cNvPr id="6" name="正方形/長方形 5"/>
          <p:cNvSpPr/>
          <p:nvPr/>
        </p:nvSpPr>
        <p:spPr>
          <a:xfrm>
            <a:off x="6089821" y="2257634"/>
            <a:ext cx="4808838" cy="1569660"/>
          </a:xfrm>
          <a:prstGeom prst="rect">
            <a:avLst/>
          </a:prstGeom>
        </p:spPr>
        <p:txBody>
          <a:bodyPr wrap="square">
            <a:spAutoFit/>
          </a:bodyPr>
          <a:lstStyle/>
          <a:p>
            <a:r>
              <a:rPr lang="ja-JP" altLang="en-US" sz="3200" dirty="0">
                <a:solidFill>
                  <a:srgbClr val="000000"/>
                </a:solidFill>
                <a:latin typeface="Courier New" panose="02070309020205020404" pitchFamily="49" charset="0"/>
              </a:rPr>
              <a:t>鏡面反射</a:t>
            </a:r>
            <a:endParaRPr lang="en-US" altLang="ja-JP" sz="3200" dirty="0">
              <a:solidFill>
                <a:srgbClr val="000000"/>
              </a:solidFill>
              <a:latin typeface="Courier New" panose="02070309020205020404" pitchFamily="49" charset="0"/>
            </a:endParaRPr>
          </a:p>
          <a:p>
            <a:r>
              <a:rPr lang="ja-JP" altLang="en-US" sz="3200" dirty="0">
                <a:solidFill>
                  <a:srgbClr val="000000"/>
                </a:solidFill>
                <a:latin typeface="Courier New" panose="02070309020205020404" pitchFamily="49" charset="0"/>
              </a:rPr>
              <a:t>（ブリンフォン）</a:t>
            </a:r>
            <a:endParaRPr lang="en-US" altLang="ja-JP" sz="3200" dirty="0">
              <a:solidFill>
                <a:srgbClr val="000000"/>
              </a:solidFill>
              <a:latin typeface="Courier New" panose="02070309020205020404" pitchFamily="49" charset="0"/>
            </a:endParaRPr>
          </a:p>
          <a:p>
            <a:endParaRPr lang="en-US" altLang="ja-JP" sz="3200" dirty="0">
              <a:solidFill>
                <a:srgbClr val="000000"/>
              </a:solidFill>
              <a:latin typeface="Courier New" panose="02070309020205020404" pitchFamily="49" charset="0"/>
            </a:endParaRPr>
          </a:p>
        </p:txBody>
      </p:sp>
      <p:sp>
        <p:nvSpPr>
          <p:cNvPr id="7" name="正方形/長方形 6"/>
          <p:cNvSpPr/>
          <p:nvPr/>
        </p:nvSpPr>
        <p:spPr>
          <a:xfrm>
            <a:off x="1916697" y="3329131"/>
            <a:ext cx="3540870" cy="584775"/>
          </a:xfrm>
          <a:prstGeom prst="rect">
            <a:avLst/>
          </a:prstGeom>
        </p:spPr>
        <p:txBody>
          <a:bodyPr wrap="square">
            <a:spAutoFit/>
          </a:bodyPr>
          <a:lstStyle/>
          <a:p>
            <a:r>
              <a:rPr lang="en-US" altLang="ja-JP" sz="3200" dirty="0">
                <a:solidFill>
                  <a:srgbClr val="000000"/>
                </a:solidFill>
                <a:latin typeface="Courier New" panose="02070309020205020404" pitchFamily="49" charset="0"/>
              </a:rPr>
              <a:t>R:</a:t>
            </a:r>
            <a:r>
              <a:rPr lang="ja-JP" altLang="en-US" sz="3200" dirty="0">
                <a:solidFill>
                  <a:srgbClr val="000000"/>
                </a:solidFill>
                <a:latin typeface="Courier New" panose="02070309020205020404" pitchFamily="49" charset="0"/>
              </a:rPr>
              <a:t>赤の反射率</a:t>
            </a:r>
            <a:endParaRPr lang="en-US" altLang="ja-JP" sz="3200" dirty="0">
              <a:solidFill>
                <a:srgbClr val="000000"/>
              </a:solidFill>
              <a:latin typeface="Courier New" panose="02070309020205020404" pitchFamily="49" charset="0"/>
            </a:endParaRPr>
          </a:p>
        </p:txBody>
      </p:sp>
      <p:sp>
        <p:nvSpPr>
          <p:cNvPr id="8" name="正方形/長方形 7"/>
          <p:cNvSpPr/>
          <p:nvPr/>
        </p:nvSpPr>
        <p:spPr>
          <a:xfrm>
            <a:off x="1916697" y="3920073"/>
            <a:ext cx="3540870" cy="584775"/>
          </a:xfrm>
          <a:prstGeom prst="rect">
            <a:avLst/>
          </a:prstGeom>
        </p:spPr>
        <p:txBody>
          <a:bodyPr wrap="square">
            <a:spAutoFit/>
          </a:bodyPr>
          <a:lstStyle/>
          <a:p>
            <a:r>
              <a:rPr lang="en-US" altLang="ja-JP" sz="3200" dirty="0">
                <a:solidFill>
                  <a:srgbClr val="000000"/>
                </a:solidFill>
                <a:latin typeface="Courier New" panose="02070309020205020404" pitchFamily="49" charset="0"/>
              </a:rPr>
              <a:t>G:</a:t>
            </a:r>
            <a:r>
              <a:rPr lang="ja-JP" altLang="en-US" sz="3200" dirty="0">
                <a:solidFill>
                  <a:srgbClr val="000000"/>
                </a:solidFill>
                <a:latin typeface="Courier New" panose="02070309020205020404" pitchFamily="49" charset="0"/>
              </a:rPr>
              <a:t>緑の反射率</a:t>
            </a:r>
            <a:endParaRPr lang="en-US" altLang="ja-JP" sz="3200" dirty="0">
              <a:solidFill>
                <a:srgbClr val="000000"/>
              </a:solidFill>
              <a:latin typeface="Courier New" panose="02070309020205020404" pitchFamily="49" charset="0"/>
            </a:endParaRPr>
          </a:p>
        </p:txBody>
      </p:sp>
      <p:sp>
        <p:nvSpPr>
          <p:cNvPr id="9" name="正方形/長方形 8"/>
          <p:cNvSpPr/>
          <p:nvPr/>
        </p:nvSpPr>
        <p:spPr>
          <a:xfrm>
            <a:off x="1916697" y="4548219"/>
            <a:ext cx="3540870" cy="584775"/>
          </a:xfrm>
          <a:prstGeom prst="rect">
            <a:avLst/>
          </a:prstGeom>
        </p:spPr>
        <p:txBody>
          <a:bodyPr wrap="square">
            <a:spAutoFit/>
          </a:bodyPr>
          <a:lstStyle/>
          <a:p>
            <a:r>
              <a:rPr lang="en-US" altLang="ja-JP" sz="3200" dirty="0">
                <a:solidFill>
                  <a:srgbClr val="000000"/>
                </a:solidFill>
                <a:latin typeface="Courier New" panose="02070309020205020404" pitchFamily="49" charset="0"/>
              </a:rPr>
              <a:t>B:</a:t>
            </a:r>
            <a:r>
              <a:rPr lang="ja-JP" altLang="en-US" sz="3200" dirty="0">
                <a:solidFill>
                  <a:srgbClr val="000000"/>
                </a:solidFill>
                <a:latin typeface="Courier New" panose="02070309020205020404" pitchFamily="49" charset="0"/>
              </a:rPr>
              <a:t>青の反射率</a:t>
            </a:r>
            <a:endParaRPr lang="en-US" altLang="ja-JP" sz="3200" dirty="0">
              <a:solidFill>
                <a:srgbClr val="000000"/>
              </a:solidFill>
              <a:latin typeface="Courier New" panose="02070309020205020404" pitchFamily="49" charset="0"/>
            </a:endParaRPr>
          </a:p>
        </p:txBody>
      </p:sp>
      <p:sp>
        <p:nvSpPr>
          <p:cNvPr id="10" name="正方形/長方形 9"/>
          <p:cNvSpPr/>
          <p:nvPr/>
        </p:nvSpPr>
        <p:spPr>
          <a:xfrm>
            <a:off x="6583432" y="3462685"/>
            <a:ext cx="3540870" cy="584775"/>
          </a:xfrm>
          <a:prstGeom prst="rect">
            <a:avLst/>
          </a:prstGeom>
        </p:spPr>
        <p:txBody>
          <a:bodyPr wrap="square">
            <a:spAutoFit/>
          </a:bodyPr>
          <a:lstStyle/>
          <a:p>
            <a:r>
              <a:rPr lang="en-US" altLang="ja-JP" sz="3200" dirty="0">
                <a:solidFill>
                  <a:srgbClr val="000000"/>
                </a:solidFill>
                <a:latin typeface="Courier New" panose="02070309020205020404" pitchFamily="49" charset="0"/>
              </a:rPr>
              <a:t>R:</a:t>
            </a:r>
            <a:r>
              <a:rPr lang="ja-JP" altLang="en-US" sz="3200" dirty="0">
                <a:solidFill>
                  <a:srgbClr val="000000"/>
                </a:solidFill>
                <a:latin typeface="Courier New" panose="02070309020205020404" pitchFamily="49" charset="0"/>
              </a:rPr>
              <a:t>赤の反射率</a:t>
            </a:r>
            <a:endParaRPr lang="en-US" altLang="ja-JP" sz="3200" dirty="0">
              <a:solidFill>
                <a:srgbClr val="000000"/>
              </a:solidFill>
              <a:latin typeface="Courier New" panose="02070309020205020404" pitchFamily="49" charset="0"/>
            </a:endParaRPr>
          </a:p>
        </p:txBody>
      </p:sp>
      <p:sp>
        <p:nvSpPr>
          <p:cNvPr id="11" name="正方形/長方形 10"/>
          <p:cNvSpPr/>
          <p:nvPr/>
        </p:nvSpPr>
        <p:spPr>
          <a:xfrm>
            <a:off x="6583432" y="3999108"/>
            <a:ext cx="3540870" cy="584775"/>
          </a:xfrm>
          <a:prstGeom prst="rect">
            <a:avLst/>
          </a:prstGeom>
        </p:spPr>
        <p:txBody>
          <a:bodyPr wrap="square">
            <a:spAutoFit/>
          </a:bodyPr>
          <a:lstStyle/>
          <a:p>
            <a:r>
              <a:rPr lang="en-US" altLang="ja-JP" sz="3200" dirty="0">
                <a:solidFill>
                  <a:srgbClr val="000000"/>
                </a:solidFill>
                <a:latin typeface="Courier New" panose="02070309020205020404" pitchFamily="49" charset="0"/>
              </a:rPr>
              <a:t>G:</a:t>
            </a:r>
            <a:r>
              <a:rPr lang="ja-JP" altLang="en-US" sz="3200" dirty="0">
                <a:solidFill>
                  <a:srgbClr val="000000"/>
                </a:solidFill>
                <a:latin typeface="Courier New" panose="02070309020205020404" pitchFamily="49" charset="0"/>
              </a:rPr>
              <a:t>緑の反射率</a:t>
            </a:r>
            <a:endParaRPr lang="en-US" altLang="ja-JP" sz="3200" dirty="0">
              <a:solidFill>
                <a:srgbClr val="000000"/>
              </a:solidFill>
              <a:latin typeface="Courier New" panose="02070309020205020404" pitchFamily="49" charset="0"/>
            </a:endParaRPr>
          </a:p>
        </p:txBody>
      </p:sp>
      <p:sp>
        <p:nvSpPr>
          <p:cNvPr id="12" name="正方形/長方形 11"/>
          <p:cNvSpPr/>
          <p:nvPr/>
        </p:nvSpPr>
        <p:spPr>
          <a:xfrm>
            <a:off x="6583432" y="4535531"/>
            <a:ext cx="3540870" cy="584775"/>
          </a:xfrm>
          <a:prstGeom prst="rect">
            <a:avLst/>
          </a:prstGeom>
        </p:spPr>
        <p:txBody>
          <a:bodyPr wrap="square">
            <a:spAutoFit/>
          </a:bodyPr>
          <a:lstStyle/>
          <a:p>
            <a:r>
              <a:rPr lang="en-US" altLang="ja-JP" sz="3200" dirty="0">
                <a:solidFill>
                  <a:srgbClr val="000000"/>
                </a:solidFill>
                <a:latin typeface="Courier New" panose="02070309020205020404" pitchFamily="49" charset="0"/>
              </a:rPr>
              <a:t>B:</a:t>
            </a:r>
            <a:r>
              <a:rPr lang="ja-JP" altLang="en-US" sz="3200" dirty="0">
                <a:solidFill>
                  <a:srgbClr val="000000"/>
                </a:solidFill>
                <a:latin typeface="Courier New" panose="02070309020205020404" pitchFamily="49" charset="0"/>
              </a:rPr>
              <a:t>青の反射率</a:t>
            </a:r>
            <a:endParaRPr lang="en-US" altLang="ja-JP" sz="32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1723494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1664" y="1484785"/>
            <a:ext cx="5688632" cy="4104456"/>
          </a:xfrm>
          <a:prstGeom prst="rect">
            <a:avLst/>
          </a:prstGeom>
        </p:spPr>
      </p:pic>
      <p:sp>
        <p:nvSpPr>
          <p:cNvPr id="5" name="タイトル 1"/>
          <p:cNvSpPr txBox="1">
            <a:spLocks/>
          </p:cNvSpPr>
          <p:nvPr/>
        </p:nvSpPr>
        <p:spPr>
          <a:xfrm>
            <a:off x="1991544" y="44624"/>
            <a:ext cx="8229600" cy="490066"/>
          </a:xfrm>
          <a:prstGeom prst="rect">
            <a:avLst/>
          </a:prstGeom>
        </p:spPr>
        <p:txBody>
          <a:bodyPr vert="horz" lIns="91440" tIns="45720" rIns="91440" bIns="45720" rtlCol="0" anchor="ctr">
            <a:normAutofit fontScale="70000" lnSpcReduction="20000"/>
          </a:bodyPr>
          <a:lstStyle>
            <a:lvl1pPr algn="ctr" defTabSz="914400" rtl="0" eaLnBrk="1" latinLnBrk="0" hangingPunct="1">
              <a:spcBef>
                <a:spcPct val="0"/>
              </a:spcBef>
              <a:buNone/>
              <a:defRPr kumimoji="1" sz="4400" kern="1200">
                <a:solidFill>
                  <a:schemeClr val="tx1"/>
                </a:solidFill>
                <a:latin typeface="HGP明朝E" pitchFamily="18" charset="-128"/>
                <a:ea typeface="HGP明朝E" pitchFamily="18" charset="-128"/>
                <a:cs typeface="+mj-cs"/>
              </a:defRPr>
            </a:lvl1pPr>
          </a:lstStyle>
          <a:p>
            <a:r>
              <a:rPr lang="ja-JP" altLang="en-US"/>
              <a:t>２．ディフューズ光の計算</a:t>
            </a:r>
            <a:endParaRPr lang="ja-JP" altLang="en-US" dirty="0"/>
          </a:p>
        </p:txBody>
      </p:sp>
    </p:spTree>
    <p:extLst>
      <p:ext uri="{BB962C8B-B14F-4D97-AF65-F5344CB8AC3E}">
        <p14:creationId xmlns:p14="http://schemas.microsoft.com/office/powerpoint/2010/main" val="5988311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txBox="1">
            <a:spLocks/>
          </p:cNvSpPr>
          <p:nvPr/>
        </p:nvSpPr>
        <p:spPr>
          <a:xfrm>
            <a:off x="1703512" y="836712"/>
            <a:ext cx="8856984" cy="511256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kumimoji="1" sz="3200" kern="1200">
                <a:solidFill>
                  <a:schemeClr val="tx1">
                    <a:tint val="75000"/>
                  </a:schemeClr>
                </a:solidFill>
                <a:latin typeface="HGP明朝E" pitchFamily="18" charset="-128"/>
                <a:ea typeface="HGP明朝E" pitchFamily="18" charset="-128"/>
                <a:cs typeface="+mn-cs"/>
              </a:defRPr>
            </a:lvl1pPr>
            <a:lvl2pPr marL="457200" indent="0" algn="ctr" defTabSz="914400" rtl="0" eaLnBrk="1" latinLnBrk="0" hangingPunct="1">
              <a:spcBef>
                <a:spcPct val="20000"/>
              </a:spcBef>
              <a:buFont typeface="Arial" pitchFamily="34" charset="0"/>
              <a:buNone/>
              <a:defRPr kumimoji="1" sz="2800" kern="1200">
                <a:solidFill>
                  <a:schemeClr val="tx1">
                    <a:tint val="75000"/>
                  </a:schemeClr>
                </a:solidFill>
                <a:latin typeface="HGP明朝E" pitchFamily="18" charset="-128"/>
                <a:ea typeface="HGP明朝E" pitchFamily="18" charset="-128"/>
                <a:cs typeface="+mn-cs"/>
              </a:defRPr>
            </a:lvl2pPr>
            <a:lvl3pPr marL="914400" indent="0" algn="ctr" defTabSz="914400" rtl="0" eaLnBrk="1" latinLnBrk="0" hangingPunct="1">
              <a:spcBef>
                <a:spcPct val="20000"/>
              </a:spcBef>
              <a:buFont typeface="Arial" pitchFamily="34" charset="0"/>
              <a:buNone/>
              <a:defRPr kumimoji="1" sz="2400" kern="1200">
                <a:solidFill>
                  <a:schemeClr val="tx1">
                    <a:tint val="75000"/>
                  </a:schemeClr>
                </a:solidFill>
                <a:latin typeface="HGP明朝E" pitchFamily="18" charset="-128"/>
                <a:ea typeface="HGP明朝E" pitchFamily="18" charset="-128"/>
                <a:cs typeface="+mn-cs"/>
              </a:defRPr>
            </a:lvl3pPr>
            <a:lvl4pPr marL="1371600" indent="0" algn="ctr" defTabSz="914400" rtl="0" eaLnBrk="1" latinLnBrk="0" hangingPunct="1">
              <a:spcBef>
                <a:spcPct val="20000"/>
              </a:spcBef>
              <a:buFont typeface="Arial" pitchFamily="34" charset="0"/>
              <a:buNone/>
              <a:defRPr kumimoji="1" sz="2000" kern="1200">
                <a:solidFill>
                  <a:schemeClr val="tx1">
                    <a:tint val="75000"/>
                  </a:schemeClr>
                </a:solidFill>
                <a:latin typeface="HGP明朝E" pitchFamily="18" charset="-128"/>
                <a:ea typeface="HGP明朝E" pitchFamily="18" charset="-128"/>
                <a:cs typeface="+mn-cs"/>
              </a:defRPr>
            </a:lvl4pPr>
            <a:lvl5pPr marL="1828800" indent="0" algn="ctr" defTabSz="914400" rtl="0" eaLnBrk="1" latinLnBrk="0" hangingPunct="1">
              <a:spcBef>
                <a:spcPct val="20000"/>
              </a:spcBef>
              <a:buFont typeface="Arial" pitchFamily="34" charset="0"/>
              <a:buNone/>
              <a:defRPr kumimoji="1" sz="2000" kern="1200">
                <a:solidFill>
                  <a:schemeClr val="tx1">
                    <a:tint val="75000"/>
                  </a:schemeClr>
                </a:solidFill>
                <a:latin typeface="HGP明朝E" pitchFamily="18" charset="-128"/>
                <a:ea typeface="HGP明朝E" pitchFamily="18" charset="-128"/>
                <a:cs typeface="+mn-cs"/>
              </a:defRPr>
            </a:lvl5pPr>
            <a:lvl6pPr marL="22860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kumimoji="1" sz="2000" kern="1200">
                <a:solidFill>
                  <a:schemeClr val="tx1">
                    <a:tint val="75000"/>
                  </a:schemeClr>
                </a:solidFill>
                <a:latin typeface="+mn-lt"/>
                <a:ea typeface="+mn-ea"/>
                <a:cs typeface="+mn-cs"/>
              </a:defRPr>
            </a:lvl9pPr>
          </a:lstStyle>
          <a:p>
            <a:pPr algn="l"/>
            <a:r>
              <a:rPr lang="ja-JP" altLang="en-US" sz="3600">
                <a:solidFill>
                  <a:schemeClr val="tx1"/>
                </a:solidFill>
              </a:rPr>
              <a:t>Ｉ＝ｋｄ</a:t>
            </a:r>
            <a:r>
              <a:rPr lang="en-US" altLang="ja-JP" sz="3600">
                <a:solidFill>
                  <a:schemeClr val="tx1"/>
                </a:solidFill>
              </a:rPr>
              <a:t>×</a:t>
            </a:r>
            <a:r>
              <a:rPr lang="ja-JP" altLang="en-US" sz="3600">
                <a:solidFill>
                  <a:schemeClr val="tx1"/>
                </a:solidFill>
              </a:rPr>
              <a:t>Ｉｉ</a:t>
            </a:r>
            <a:r>
              <a:rPr lang="en-US" altLang="ja-JP" sz="3600">
                <a:solidFill>
                  <a:schemeClr val="tx1"/>
                </a:solidFill>
              </a:rPr>
              <a:t>×cosα</a:t>
            </a:r>
          </a:p>
          <a:p>
            <a:pPr algn="l"/>
            <a:r>
              <a:rPr lang="ja-JP" altLang="en-US" sz="3600">
                <a:solidFill>
                  <a:schemeClr val="tx1"/>
                </a:solidFill>
              </a:rPr>
              <a:t> ＝ｋｄ</a:t>
            </a:r>
            <a:r>
              <a:rPr lang="en-US" altLang="ja-JP" sz="3600">
                <a:solidFill>
                  <a:schemeClr val="tx1"/>
                </a:solidFill>
              </a:rPr>
              <a:t>×</a:t>
            </a:r>
            <a:r>
              <a:rPr lang="ja-JP" altLang="en-US" sz="3600">
                <a:solidFill>
                  <a:schemeClr val="tx1"/>
                </a:solidFill>
              </a:rPr>
              <a:t>Ｉｉ</a:t>
            </a:r>
            <a:r>
              <a:rPr lang="en-US" altLang="ja-JP" sz="3600">
                <a:solidFill>
                  <a:schemeClr val="tx1"/>
                </a:solidFill>
              </a:rPr>
              <a:t>×</a:t>
            </a:r>
            <a:r>
              <a:rPr lang="ja-JP" altLang="en-US" sz="3600">
                <a:solidFill>
                  <a:schemeClr val="tx1"/>
                </a:solidFill>
              </a:rPr>
              <a:t>（</a:t>
            </a:r>
            <a:r>
              <a:rPr lang="en-US" altLang="ja-JP" sz="3600">
                <a:solidFill>
                  <a:schemeClr val="tx1"/>
                </a:solidFill>
              </a:rPr>
              <a:t>N</a:t>
            </a:r>
            <a:r>
              <a:rPr lang="ja-JP" altLang="en-US" sz="3600">
                <a:solidFill>
                  <a:schemeClr val="tx1"/>
                </a:solidFill>
              </a:rPr>
              <a:t>・Ｌ）</a:t>
            </a:r>
            <a:endParaRPr lang="en-US" altLang="ja-JP" sz="3600">
              <a:solidFill>
                <a:schemeClr val="tx1"/>
              </a:solidFill>
            </a:endParaRPr>
          </a:p>
          <a:p>
            <a:pPr algn="l"/>
            <a:endParaRPr lang="en-US" altLang="ja-JP" sz="3600">
              <a:solidFill>
                <a:schemeClr val="tx1"/>
              </a:solidFill>
            </a:endParaRPr>
          </a:p>
          <a:p>
            <a:pPr algn="l"/>
            <a:r>
              <a:rPr lang="ja-JP" altLang="en-US" sz="3600">
                <a:solidFill>
                  <a:schemeClr val="tx1"/>
                </a:solidFill>
              </a:rPr>
              <a:t>Ｉ＝拡散反射光の強さ</a:t>
            </a:r>
            <a:endParaRPr lang="en-US" altLang="ja-JP" sz="3600">
              <a:solidFill>
                <a:schemeClr val="tx1"/>
              </a:solidFill>
            </a:endParaRPr>
          </a:p>
          <a:p>
            <a:pPr algn="l"/>
            <a:r>
              <a:rPr lang="ja-JP" altLang="en-US" sz="3600">
                <a:solidFill>
                  <a:schemeClr val="tx1"/>
                </a:solidFill>
              </a:rPr>
              <a:t>Ｋｄ＝拡散反射率（マテリアル値）</a:t>
            </a:r>
            <a:endParaRPr lang="en-US" altLang="ja-JP" sz="3600">
              <a:solidFill>
                <a:schemeClr val="tx1"/>
              </a:solidFill>
            </a:endParaRPr>
          </a:p>
          <a:p>
            <a:pPr algn="l"/>
            <a:r>
              <a:rPr lang="en-US" altLang="ja-JP" sz="3600">
                <a:solidFill>
                  <a:schemeClr val="tx1"/>
                </a:solidFill>
              </a:rPr>
              <a:t>li</a:t>
            </a:r>
            <a:r>
              <a:rPr lang="ja-JP" altLang="en-US" sz="3600">
                <a:solidFill>
                  <a:schemeClr val="tx1"/>
                </a:solidFill>
              </a:rPr>
              <a:t>＝入射光の強さ</a:t>
            </a:r>
            <a:endParaRPr lang="en-US" altLang="ja-JP" sz="3600">
              <a:solidFill>
                <a:schemeClr val="tx1"/>
              </a:solidFill>
            </a:endParaRPr>
          </a:p>
          <a:p>
            <a:pPr algn="l"/>
            <a:r>
              <a:rPr lang="ja-JP" altLang="en-US" sz="3600">
                <a:solidFill>
                  <a:schemeClr val="tx1"/>
                </a:solidFill>
              </a:rPr>
              <a:t>Ｎ＝法線ベクトル（正規化済み）</a:t>
            </a:r>
            <a:endParaRPr lang="en-US" altLang="ja-JP" sz="3600">
              <a:solidFill>
                <a:schemeClr val="tx1"/>
              </a:solidFill>
            </a:endParaRPr>
          </a:p>
          <a:p>
            <a:pPr algn="l"/>
            <a:r>
              <a:rPr lang="ja-JP" altLang="en-US" sz="3600">
                <a:solidFill>
                  <a:schemeClr val="tx1"/>
                </a:solidFill>
              </a:rPr>
              <a:t>Ｌ＝光の方向ベクトル（正規化済み）</a:t>
            </a:r>
            <a:endParaRPr lang="en-US" altLang="ja-JP" sz="3600">
              <a:solidFill>
                <a:schemeClr val="tx1"/>
              </a:solidFill>
            </a:endParaRPr>
          </a:p>
          <a:p>
            <a:pPr algn="l"/>
            <a:endParaRPr lang="en-US" altLang="ja-JP" dirty="0"/>
          </a:p>
        </p:txBody>
      </p:sp>
    </p:spTree>
    <p:extLst>
      <p:ext uri="{BB962C8B-B14F-4D97-AF65-F5344CB8AC3E}">
        <p14:creationId xmlns:p14="http://schemas.microsoft.com/office/powerpoint/2010/main" val="20032277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1584" y="1268761"/>
            <a:ext cx="7379162" cy="4427497"/>
          </a:xfrm>
          <a:prstGeom prst="rect">
            <a:avLst/>
          </a:prstGeom>
        </p:spPr>
      </p:pic>
    </p:spTree>
    <p:extLst>
      <p:ext uri="{BB962C8B-B14F-4D97-AF65-F5344CB8AC3E}">
        <p14:creationId xmlns:p14="http://schemas.microsoft.com/office/powerpoint/2010/main" val="9876744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2491409" y="1856749"/>
            <a:ext cx="1101148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ja-JP" altLang="en-US"/>
          </a:p>
        </p:txBody>
      </p:sp>
      <p:sp>
        <p:nvSpPr>
          <p:cNvPr id="9" name="タイトル 3"/>
          <p:cNvSpPr>
            <a:spLocks noGrp="1"/>
          </p:cNvSpPr>
          <p:nvPr>
            <p:ph type="ctrTitle"/>
          </p:nvPr>
        </p:nvSpPr>
        <p:spPr>
          <a:xfrm>
            <a:off x="510746" y="1046206"/>
            <a:ext cx="11302313" cy="4940497"/>
          </a:xfrm>
        </p:spPr>
        <p:txBody>
          <a:bodyPr>
            <a:noAutofit/>
          </a:bodyPr>
          <a:lstStyle/>
          <a:p>
            <a:pPr algn="l"/>
            <a:r>
              <a:rPr lang="ja-JP" altLang="en-US" sz="3600" b="1" dirty="0"/>
              <a:t>Ｉ＝ｋｓ</a:t>
            </a:r>
            <a:r>
              <a:rPr lang="en-US" altLang="ja-JP" sz="3600" b="1" dirty="0"/>
              <a:t>×</a:t>
            </a:r>
            <a:r>
              <a:rPr lang="ja-JP" altLang="en-US" sz="3600" b="1" dirty="0"/>
              <a:t>Ｉｉ</a:t>
            </a:r>
            <a:r>
              <a:rPr lang="en-US" altLang="ja-JP" sz="3600" b="1" dirty="0"/>
              <a:t>×(</a:t>
            </a:r>
            <a:r>
              <a:rPr lang="ja-JP" altLang="en-US" sz="3600" b="1" dirty="0"/>
              <a:t>（</a:t>
            </a:r>
            <a:r>
              <a:rPr lang="en-US" altLang="ja-JP" sz="3600" b="1" dirty="0" err="1"/>
              <a:t>cosφ</a:t>
            </a:r>
            <a:r>
              <a:rPr lang="ja-JP" altLang="en-US" sz="3600" b="1" dirty="0"/>
              <a:t>）の</a:t>
            </a:r>
            <a:r>
              <a:rPr lang="en-US" altLang="ja-JP" sz="3600" b="1" dirty="0"/>
              <a:t>n</a:t>
            </a:r>
            <a:r>
              <a:rPr lang="ja-JP" altLang="en-US" sz="3600" b="1" dirty="0"/>
              <a:t>乗</a:t>
            </a:r>
            <a:r>
              <a:rPr lang="en-US" altLang="ja-JP" sz="3600" b="1" dirty="0"/>
              <a:t>)</a:t>
            </a:r>
            <a:br>
              <a:rPr lang="en-US" altLang="ja-JP" sz="3600" b="1" dirty="0"/>
            </a:br>
            <a:r>
              <a:rPr lang="en-US" altLang="ja-JP" sz="3600" b="1" dirty="0"/>
              <a:t> </a:t>
            </a:r>
            <a:r>
              <a:rPr lang="ja-JP" altLang="en-US" sz="3600" b="1" dirty="0"/>
              <a:t>＝ｋｓ</a:t>
            </a:r>
            <a:r>
              <a:rPr lang="en-US" altLang="ja-JP" sz="3600" b="1" dirty="0"/>
              <a:t>×</a:t>
            </a:r>
            <a:r>
              <a:rPr lang="ja-JP" altLang="en-US" sz="3600" b="1" dirty="0"/>
              <a:t>Ｉｉ</a:t>
            </a:r>
            <a:r>
              <a:rPr lang="en-US" altLang="ja-JP" sz="3600" b="1" dirty="0"/>
              <a:t>×(</a:t>
            </a:r>
            <a:r>
              <a:rPr lang="ja-JP" altLang="en-US" sz="3600" b="1" dirty="0"/>
              <a:t>（</a:t>
            </a:r>
            <a:r>
              <a:rPr lang="en-US" altLang="ja-JP" sz="3600" b="1" dirty="0"/>
              <a:t>H</a:t>
            </a:r>
            <a:r>
              <a:rPr lang="ja-JP" altLang="en-US" sz="3600" b="1" dirty="0"/>
              <a:t>・</a:t>
            </a:r>
            <a:r>
              <a:rPr lang="en-US" altLang="ja-JP" sz="3600" b="1" dirty="0"/>
              <a:t>N</a:t>
            </a:r>
            <a:r>
              <a:rPr lang="ja-JP" altLang="en-US" sz="3600" b="1" dirty="0"/>
              <a:t>）の</a:t>
            </a:r>
            <a:r>
              <a:rPr lang="en-US" altLang="ja-JP" sz="3600" b="1" dirty="0"/>
              <a:t>n</a:t>
            </a:r>
            <a:r>
              <a:rPr lang="ja-JP" altLang="en-US" sz="3600" b="1" dirty="0"/>
              <a:t>乗</a:t>
            </a:r>
            <a:r>
              <a:rPr lang="en-US" altLang="ja-JP" sz="3600" b="1" dirty="0"/>
              <a:t>)</a:t>
            </a:r>
            <a:br>
              <a:rPr lang="en-US" altLang="ja-JP" sz="3600" b="1" dirty="0"/>
            </a:br>
            <a:br>
              <a:rPr lang="en-US" altLang="ja-JP" sz="3600" b="1" dirty="0"/>
            </a:br>
            <a:r>
              <a:rPr lang="ja-JP" altLang="en-US" sz="3600" b="1" dirty="0"/>
              <a:t>Ｉ＝鏡面反射光の強さ</a:t>
            </a:r>
            <a:br>
              <a:rPr lang="en-US" altLang="ja-JP" sz="3600" b="1" dirty="0"/>
            </a:br>
            <a:r>
              <a:rPr lang="ja-JP" altLang="en-US" sz="3600" b="1" dirty="0"/>
              <a:t>Ｋ</a:t>
            </a:r>
            <a:r>
              <a:rPr lang="en-US" altLang="ja-JP" sz="3600" b="1" dirty="0"/>
              <a:t>s</a:t>
            </a:r>
            <a:r>
              <a:rPr lang="ja-JP" altLang="en-US" sz="3600" b="1" dirty="0"/>
              <a:t>＝鏡面反射率（マテリアル値）</a:t>
            </a:r>
            <a:br>
              <a:rPr lang="en-US" altLang="ja-JP" sz="3600" b="1" dirty="0"/>
            </a:br>
            <a:r>
              <a:rPr lang="en-US" altLang="ja-JP" sz="3600" b="1" dirty="0"/>
              <a:t>li</a:t>
            </a:r>
            <a:r>
              <a:rPr lang="ja-JP" altLang="en-US" sz="3600" b="1" dirty="0"/>
              <a:t>＝入射光の強さ</a:t>
            </a:r>
            <a:br>
              <a:rPr lang="en-US" altLang="ja-JP" sz="3600" b="1" dirty="0"/>
            </a:br>
            <a:r>
              <a:rPr lang="en-US" altLang="ja-JP" sz="3600" b="1" dirty="0"/>
              <a:t>N</a:t>
            </a:r>
            <a:r>
              <a:rPr lang="ja-JP" altLang="en-US" sz="3600" b="1" dirty="0"/>
              <a:t>＝法線ベクトル</a:t>
            </a:r>
            <a:br>
              <a:rPr lang="en-US" altLang="ja-JP" sz="3600" b="1" dirty="0"/>
            </a:br>
            <a:r>
              <a:rPr lang="en-US" altLang="ja-JP" sz="3600" b="1" dirty="0"/>
              <a:t>H</a:t>
            </a:r>
            <a:r>
              <a:rPr lang="ja-JP" altLang="en-US" sz="3600" b="1" dirty="0"/>
              <a:t>＝光の方向ベクトルと視線ベクルのハーフベクトル</a:t>
            </a:r>
            <a:endParaRPr lang="en-US" altLang="ja-JP" sz="3600" b="1" dirty="0"/>
          </a:p>
        </p:txBody>
      </p:sp>
    </p:spTree>
    <p:extLst>
      <p:ext uri="{BB962C8B-B14F-4D97-AF65-F5344CB8AC3E}">
        <p14:creationId xmlns:p14="http://schemas.microsoft.com/office/powerpoint/2010/main" val="403989681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1531</TotalTime>
  <Words>5882</Words>
  <Application>Microsoft Office PowerPoint</Application>
  <PresentationFormat>ワイド画面</PresentationFormat>
  <Paragraphs>431</Paragraphs>
  <Slides>72</Slides>
  <Notes>4</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72</vt:i4>
      </vt:variant>
    </vt:vector>
  </HeadingPairs>
  <TitlesOfParts>
    <vt:vector size="82" baseType="lpstr">
      <vt:lpstr>-apple-system</vt:lpstr>
      <vt:lpstr>Lucida Grande</vt:lpstr>
      <vt:lpstr>ＭＳ ゴシック</vt:lpstr>
      <vt:lpstr>ヒラギノ角ゴPro W3</vt:lpstr>
      <vt:lpstr>游ゴシック</vt:lpstr>
      <vt:lpstr>游ゴシック Light</vt:lpstr>
      <vt:lpstr>Arial</vt:lpstr>
      <vt:lpstr>Courier New</vt:lpstr>
      <vt:lpstr>Roboto</vt:lpstr>
      <vt:lpstr>Office テーマ</vt:lpstr>
      <vt:lpstr>assimpでモデルを読み込む</vt:lpstr>
      <vt:lpstr>assimpとは</vt:lpstr>
      <vt:lpstr>PowerPoint プレゼンテーション</vt:lpstr>
      <vt:lpstr>PowerPoint プレゼンテーション</vt:lpstr>
      <vt:lpstr>assimp使用環境を整える</vt:lpstr>
      <vt:lpstr>FBXSDKをインストールする</vt:lpstr>
      <vt:lpstr>PowerPoint プレゼンテーション</vt:lpstr>
      <vt:lpstr>assimpをdownloadする</vt:lpstr>
      <vt:lpstr>asimpをdownloadする</vt:lpstr>
      <vt:lpstr>assimp-master.zipを展開 </vt:lpstr>
      <vt:lpstr>assimpをビルドしてライブラリを作成する</vt:lpstr>
      <vt:lpstr>cmakeとは</vt:lpstr>
      <vt:lpstr>PowerPoint プレゼンテーション</vt:lpstr>
      <vt:lpstr>PowerPoint プレゼンテーション</vt:lpstr>
      <vt:lpstr>Cmakeインストール</vt:lpstr>
      <vt:lpstr>PowerPoint プレゼンテーション</vt:lpstr>
      <vt:lpstr>assimpのライブラリを作成する</vt:lpstr>
      <vt:lpstr>cmake-guiを起動</vt:lpstr>
      <vt:lpstr>PowerPoint プレゼンテーション</vt:lpstr>
      <vt:lpstr>configureボタンを押下</vt:lpstr>
      <vt:lpstr>yesボタンを押下</vt:lpstr>
      <vt:lpstr>PowerPoint プレゼンテーション</vt:lpstr>
      <vt:lpstr>ライブラリファイルを出力するディレクトリを設定する</vt:lpstr>
      <vt:lpstr>PowerPoint プレゼンテーション</vt:lpstr>
      <vt:lpstr>generateボタンを押下</vt:lpstr>
      <vt:lpstr>PowerPoint プレゼンテーション</vt:lpstr>
      <vt:lpstr>open projectボタンを押下</vt:lpstr>
      <vt:lpstr>VISUAL STUDIOのプロパティ設定で必要なライブラリを生成する</vt:lpstr>
      <vt:lpstr>PowerPoint プレゼンテーション</vt:lpstr>
      <vt:lpstr>ビルドを行う</vt:lpstr>
      <vt:lpstr>指定フォルダにインストールする</vt:lpstr>
      <vt:lpstr>インストールフォルダ確認</vt:lpstr>
      <vt:lpstr>ライブラリファイルを出力するディレクトリを設定する</vt:lpstr>
      <vt:lpstr>ライブラリ</vt:lpstr>
      <vt:lpstr>万能ではないですが、スタティックメッシュのデータをほぼ取り出せます。</vt:lpstr>
      <vt:lpstr>リンクする必要 のあるライブラリ</vt:lpstr>
      <vt:lpstr>PowerPoint プレゼンテーション</vt:lpstr>
      <vt:lpstr>インクルードするヘッダー</vt:lpstr>
      <vt:lpstr>PowerPoint プレゼンテーション</vt:lpstr>
      <vt:lpstr>初期処理</vt:lpstr>
      <vt:lpstr>PowerPoint プレゼンテーション</vt:lpstr>
      <vt:lpstr>終了処理</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Ｉ＝ｋｓ×Ｉｉ×(（cosφ）のn乗)  ＝ｋｓ×Ｉｉ×(（H・N）のn乗)  Ｉ＝鏡面反射光の強さ Ｋs＝鏡面反射率（マテリアル値） li＝入射光の強さ N＝法線ベクトル H＝光の方向ベクトルと視線ベクルのハーフベクトル</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asimpを使用する</dc:title>
  <dc:creator>鈴木 智喜</dc:creator>
  <cp:lastModifiedBy>OH-STAFF 鈴木智喜</cp:lastModifiedBy>
  <cp:revision>43</cp:revision>
  <dcterms:created xsi:type="dcterms:W3CDTF">2019-05-28T07:49:29Z</dcterms:created>
  <dcterms:modified xsi:type="dcterms:W3CDTF">2024-09-10T03:04:59Z</dcterms:modified>
</cp:coreProperties>
</file>